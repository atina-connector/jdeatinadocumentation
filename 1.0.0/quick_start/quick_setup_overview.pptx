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handoutMasterIdLst>
    <p:handoutMasterId r:id="rId33"/>
  </p:handoutMasterIdLst>
  <p:sldIdLst>
    <p:sldId id="256" r:id="rId2"/>
    <p:sldId id="291" r:id="rId3"/>
    <p:sldId id="265" r:id="rId4"/>
    <p:sldId id="294" r:id="rId5"/>
    <p:sldId id="288" r:id="rId6"/>
    <p:sldId id="270" r:id="rId7"/>
    <p:sldId id="271" r:id="rId8"/>
    <p:sldId id="295" r:id="rId9"/>
    <p:sldId id="289" r:id="rId10"/>
    <p:sldId id="298" r:id="rId11"/>
    <p:sldId id="278" r:id="rId12"/>
    <p:sldId id="279" r:id="rId13"/>
    <p:sldId id="273" r:id="rId14"/>
    <p:sldId id="274" r:id="rId15"/>
    <p:sldId id="292" r:id="rId16"/>
    <p:sldId id="275" r:id="rId17"/>
    <p:sldId id="276" r:id="rId18"/>
    <p:sldId id="296" r:id="rId19"/>
    <p:sldId id="290" r:id="rId20"/>
    <p:sldId id="299" r:id="rId21"/>
    <p:sldId id="280" r:id="rId22"/>
    <p:sldId id="281" r:id="rId23"/>
    <p:sldId id="293" r:id="rId24"/>
    <p:sldId id="282" r:id="rId25"/>
    <p:sldId id="283" r:id="rId26"/>
    <p:sldId id="284" r:id="rId27"/>
    <p:sldId id="297" r:id="rId28"/>
    <p:sldId id="258" r:id="rId29"/>
    <p:sldId id="259" r:id="rId30"/>
    <p:sldId id="260"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76"/>
    <p:restoredTop sz="86324"/>
  </p:normalViewPr>
  <p:slideViewPr>
    <p:cSldViewPr snapToGrid="0" snapToObjects="1">
      <p:cViewPr varScale="1">
        <p:scale>
          <a:sx n="124" d="100"/>
          <a:sy n="124" d="100"/>
        </p:scale>
        <p:origin x="872" y="4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snapToGrid="0" snapToObjects="1">
      <p:cViewPr varScale="1">
        <p:scale>
          <a:sx n="168" d="100"/>
          <a:sy n="168" d="100"/>
        </p:scale>
        <p:origin x="5232"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chemeClr val="bg1"/>
              </a:solidFill>
            </a:rPr>
            <a:t>GENERATE INI FILES</a:t>
          </a:r>
          <a:endParaRPr lang="en-US" dirty="0">
            <a:solidFill>
              <a:schemeClr val="bg1"/>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custScaleX="139877" custScaleY="135570">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rgbClr val="FFFF00"/>
              </a:solidFill>
            </a:rPr>
            <a:t>JDE INI FGENERATEILES</a:t>
          </a:r>
          <a:endParaRPr lang="en-US" dirty="0">
            <a:solidFill>
              <a:srgbClr val="FFFF00"/>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chemeClr val="bg1"/>
              </a:solidFill>
            </a:rPr>
            <a:t>GENERATE INI FILES</a:t>
          </a:r>
          <a:endParaRPr lang="en-US" dirty="0">
            <a:solidFill>
              <a:schemeClr val="bg1"/>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custScaleX="148757" custScaleY="196726">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solidFill>
                <a:srgbClr val="FFFF00"/>
              </a:solidFill>
            </a:rPr>
            <a:t>GENERATE </a:t>
          </a:r>
        </a:p>
        <a:p>
          <a:r>
            <a:rPr lang="en-US" b="1" dirty="0">
              <a:solidFill>
                <a:srgbClr val="FFFF00"/>
              </a:solidFill>
            </a:rPr>
            <a:t>JDE JARS LIBRARIES</a:t>
          </a:r>
          <a:endParaRPr lang="en-US" dirty="0">
            <a:solidFill>
              <a:srgbClr val="FFFF00"/>
            </a:solidFill>
          </a:endParaRPr>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custLinFactNeighborX="1765" custLinFactNeighborY="25790">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solidFill>
                <a:srgbClr val="FFFF00"/>
              </a:solidFill>
            </a:rPr>
            <a:t>GENERATE </a:t>
          </a:r>
        </a:p>
        <a:p>
          <a:r>
            <a:rPr lang="en-US" b="1" dirty="0">
              <a:solidFill>
                <a:srgbClr val="FFFF00"/>
              </a:solidFill>
            </a:rPr>
            <a:t>JDE JARS LIBRARIES</a:t>
          </a:r>
          <a:endParaRPr lang="en-US" dirty="0">
            <a:solidFill>
              <a:srgbClr val="FFFF00"/>
            </a:solidFill>
          </a:endParaRPr>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custLinFactNeighborX="1765" custLinFactNeighborY="25790">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chemeClr val="bg1"/>
              </a:solidFill>
            </a:rPr>
            <a:t>GENERATE INI FILES</a:t>
          </a:r>
          <a:endParaRPr lang="en-US" dirty="0">
            <a:solidFill>
              <a:schemeClr val="bg1"/>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custScaleX="139839" custScaleY="162022">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solidFill>
                <a:srgbClr val="FFFF00"/>
              </a:solidFill>
            </a:rPr>
            <a:t>MICROSERVER INSTALLATION</a:t>
          </a:r>
          <a:endParaRPr lang="en-US" dirty="0">
            <a:solidFill>
              <a:srgbClr val="FFFF00"/>
            </a:solidFill>
          </a:endParaRPr>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B3B025AE-4B83-C047-A533-2AEF0AFC4B67}" type="sibTrans" cxnId="{AD3C568A-0102-8B44-A98F-FEBB2A35CAE6}">
      <dgm:prSet/>
      <dgm:spPr/>
      <dgm:t>
        <a:bodyPr/>
        <a:lstStyle/>
        <a:p>
          <a:endParaRPr lang="en-US"/>
        </a:p>
      </dgm:t>
    </dgm:pt>
    <dgm:pt modelId="{DDEF38C8-10FB-744B-9137-2B42F261D5C4}" type="par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solidFill>
                <a:srgbClr val="FFFF00"/>
              </a:solidFill>
            </a:rPr>
            <a:t>MICROSERVER INSTALLATION</a:t>
          </a:r>
          <a:endParaRPr lang="en-US" dirty="0">
            <a:solidFill>
              <a:srgbClr val="FFFF00"/>
            </a:solidFill>
          </a:endParaRPr>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B3B025AE-4B83-C047-A533-2AEF0AFC4B67}" type="sibTrans" cxnId="{AD3C568A-0102-8B44-A98F-FEBB2A35CAE6}">
      <dgm:prSet/>
      <dgm:spPr/>
      <dgm:t>
        <a:bodyPr/>
        <a:lstStyle/>
        <a:p>
          <a:endParaRPr lang="en-US"/>
        </a:p>
      </dgm:t>
    </dgm:pt>
    <dgm:pt modelId="{DDEF38C8-10FB-744B-9137-2B42F261D5C4}" type="par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chemeClr val="bg1"/>
              </a:solidFill>
            </a:rPr>
            <a:t>GENERATE INI FILES</a:t>
          </a:r>
          <a:endParaRPr lang="en-US" dirty="0">
            <a:solidFill>
              <a:schemeClr val="bg1"/>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custScaleX="139201" custScaleY="161801">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3411" y="706734"/>
          <a:ext cx="1491426" cy="894855"/>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i="0" kern="1200" dirty="0"/>
            <a:t>GENERATE JDE INI FILES</a:t>
          </a:r>
          <a:endParaRPr lang="en-US" sz="1500" kern="1200" dirty="0"/>
        </a:p>
      </dsp:txBody>
      <dsp:txXfrm>
        <a:off x="29620" y="732943"/>
        <a:ext cx="1439008" cy="842437"/>
      </dsp:txXfrm>
    </dsp:sp>
    <dsp:sp modelId="{B8704254-4B9D-8E42-A562-DEDA4DE5C60C}">
      <dsp:nvSpPr>
        <dsp:cNvPr id="0" name=""/>
        <dsp:cNvSpPr/>
      </dsp:nvSpPr>
      <dsp:spPr>
        <a:xfrm>
          <a:off x="1626083" y="969225"/>
          <a:ext cx="316182" cy="369873"/>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626083" y="1043200"/>
        <a:ext cx="221327" cy="221923"/>
      </dsp:txXfrm>
    </dsp:sp>
    <dsp:sp modelId="{07EAD883-43B5-5A49-AD08-43DAE8A4E34B}">
      <dsp:nvSpPr>
        <dsp:cNvPr id="0" name=""/>
        <dsp:cNvSpPr/>
      </dsp:nvSpPr>
      <dsp:spPr>
        <a:xfrm>
          <a:off x="2091408" y="706734"/>
          <a:ext cx="1491426" cy="894855"/>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GENERATE </a:t>
          </a:r>
        </a:p>
        <a:p>
          <a:pPr marL="0" lvl="0" indent="0" algn="ctr" defTabSz="666750">
            <a:lnSpc>
              <a:spcPct val="90000"/>
            </a:lnSpc>
            <a:spcBef>
              <a:spcPct val="0"/>
            </a:spcBef>
            <a:spcAft>
              <a:spcPct val="35000"/>
            </a:spcAft>
            <a:buNone/>
          </a:pPr>
          <a:r>
            <a:rPr lang="en-US" sz="1500" b="1" kern="1200" dirty="0"/>
            <a:t>JDE JARS LIBRARIES</a:t>
          </a:r>
          <a:endParaRPr lang="en-US" sz="1500" kern="1200" dirty="0"/>
        </a:p>
      </dsp:txBody>
      <dsp:txXfrm>
        <a:off x="2117617" y="732943"/>
        <a:ext cx="1439008" cy="842437"/>
      </dsp:txXfrm>
    </dsp:sp>
    <dsp:sp modelId="{F578B04D-5591-4F4B-9DC9-7123B5E1CB4F}">
      <dsp:nvSpPr>
        <dsp:cNvPr id="0" name=""/>
        <dsp:cNvSpPr/>
      </dsp:nvSpPr>
      <dsp:spPr>
        <a:xfrm>
          <a:off x="3714080" y="969225"/>
          <a:ext cx="316182" cy="369873"/>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714080" y="1043200"/>
        <a:ext cx="221327" cy="221923"/>
      </dsp:txXfrm>
    </dsp:sp>
    <dsp:sp modelId="{2EFD3548-CD20-AD4A-94C5-F8D2A44EDDF3}">
      <dsp:nvSpPr>
        <dsp:cNvPr id="0" name=""/>
        <dsp:cNvSpPr/>
      </dsp:nvSpPr>
      <dsp:spPr>
        <a:xfrm>
          <a:off x="4179405" y="706734"/>
          <a:ext cx="1491426" cy="894855"/>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MICROSERVER INSTALLATION</a:t>
          </a:r>
          <a:endParaRPr lang="en-US" sz="1500" kern="1200" dirty="0"/>
        </a:p>
      </dsp:txBody>
      <dsp:txXfrm>
        <a:off x="4205614" y="732943"/>
        <a:ext cx="1439008" cy="842437"/>
      </dsp:txXfrm>
    </dsp:sp>
    <dsp:sp modelId="{9C93C017-557A-3D49-B70F-73A31621BCB0}">
      <dsp:nvSpPr>
        <dsp:cNvPr id="0" name=""/>
        <dsp:cNvSpPr/>
      </dsp:nvSpPr>
      <dsp:spPr>
        <a:xfrm>
          <a:off x="5802077" y="969225"/>
          <a:ext cx="316182" cy="369873"/>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5802077" y="1043200"/>
        <a:ext cx="221327" cy="221923"/>
      </dsp:txXfrm>
    </dsp:sp>
    <dsp:sp modelId="{18A330F4-986E-9A49-9FA2-9E2E79EE8217}">
      <dsp:nvSpPr>
        <dsp:cNvPr id="0" name=""/>
        <dsp:cNvSpPr/>
      </dsp:nvSpPr>
      <dsp:spPr>
        <a:xfrm>
          <a:off x="6267402" y="706734"/>
          <a:ext cx="1491426" cy="894855"/>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INSTALL MULE JDE CONNECTOR</a:t>
          </a:r>
          <a:endParaRPr lang="en-US" sz="1500" kern="1200" dirty="0"/>
        </a:p>
      </dsp:txBody>
      <dsp:txXfrm>
        <a:off x="6293611" y="732943"/>
        <a:ext cx="1439008" cy="8424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2921" y="286364"/>
          <a:ext cx="1810937" cy="1053105"/>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dirty="0">
              <a:solidFill>
                <a:schemeClr val="bg1"/>
              </a:solidFill>
            </a:rPr>
            <a:t>GENERATE INI FILES</a:t>
          </a:r>
          <a:endParaRPr lang="en-US" sz="1300" kern="1200" dirty="0">
            <a:solidFill>
              <a:schemeClr val="bg1"/>
            </a:solidFill>
          </a:endParaRPr>
        </a:p>
      </dsp:txBody>
      <dsp:txXfrm>
        <a:off x="33765" y="317208"/>
        <a:ext cx="1749249" cy="991417"/>
      </dsp:txXfrm>
    </dsp:sp>
    <dsp:sp modelId="{B8704254-4B9D-8E42-A562-DEDA4DE5C60C}">
      <dsp:nvSpPr>
        <dsp:cNvPr id="0" name=""/>
        <dsp:cNvSpPr/>
      </dsp:nvSpPr>
      <dsp:spPr>
        <a:xfrm>
          <a:off x="1927789" y="652379"/>
          <a:ext cx="274468" cy="321076"/>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927789" y="716594"/>
        <a:ext cx="192128" cy="192646"/>
      </dsp:txXfrm>
    </dsp:sp>
    <dsp:sp modelId="{07EAD883-43B5-5A49-AD08-43DAE8A4E34B}">
      <dsp:nvSpPr>
        <dsp:cNvPr id="0" name=""/>
        <dsp:cNvSpPr/>
      </dsp:nvSpPr>
      <dsp:spPr>
        <a:xfrm>
          <a:off x="2331724" y="424518"/>
          <a:ext cx="1294663" cy="776798"/>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GENERATE </a:t>
          </a:r>
        </a:p>
        <a:p>
          <a:pPr marL="0" lvl="0" indent="0" algn="ctr" defTabSz="577850">
            <a:lnSpc>
              <a:spcPct val="90000"/>
            </a:lnSpc>
            <a:spcBef>
              <a:spcPct val="0"/>
            </a:spcBef>
            <a:spcAft>
              <a:spcPct val="35000"/>
            </a:spcAft>
            <a:buNone/>
          </a:pPr>
          <a:r>
            <a:rPr lang="en-US" sz="1300" b="1" kern="1200" dirty="0"/>
            <a:t>JDE JARS LIBRARIES</a:t>
          </a:r>
          <a:endParaRPr lang="en-US" sz="1300" kern="1200" dirty="0"/>
        </a:p>
      </dsp:txBody>
      <dsp:txXfrm>
        <a:off x="2354476" y="447270"/>
        <a:ext cx="1249159" cy="731294"/>
      </dsp:txXfrm>
    </dsp:sp>
    <dsp:sp modelId="{F578B04D-5591-4F4B-9DC9-7123B5E1CB4F}">
      <dsp:nvSpPr>
        <dsp:cNvPr id="0" name=""/>
        <dsp:cNvSpPr/>
      </dsp:nvSpPr>
      <dsp:spPr>
        <a:xfrm>
          <a:off x="3740318" y="652379"/>
          <a:ext cx="274468" cy="321076"/>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740318" y="716594"/>
        <a:ext cx="192128" cy="192646"/>
      </dsp:txXfrm>
    </dsp:sp>
    <dsp:sp modelId="{2EFD3548-CD20-AD4A-94C5-F8D2A44EDDF3}">
      <dsp:nvSpPr>
        <dsp:cNvPr id="0" name=""/>
        <dsp:cNvSpPr/>
      </dsp:nvSpPr>
      <dsp:spPr>
        <a:xfrm>
          <a:off x="4144253" y="424518"/>
          <a:ext cx="1294663" cy="776798"/>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MICROSERVER INSTALLATION</a:t>
          </a:r>
          <a:endParaRPr lang="en-US" sz="1300" kern="1200" dirty="0"/>
        </a:p>
      </dsp:txBody>
      <dsp:txXfrm>
        <a:off x="4167005" y="447270"/>
        <a:ext cx="1249159" cy="731294"/>
      </dsp:txXfrm>
    </dsp:sp>
    <dsp:sp modelId="{9C93C017-557A-3D49-B70F-73A31621BCB0}">
      <dsp:nvSpPr>
        <dsp:cNvPr id="0" name=""/>
        <dsp:cNvSpPr/>
      </dsp:nvSpPr>
      <dsp:spPr>
        <a:xfrm>
          <a:off x="5552848" y="652379"/>
          <a:ext cx="274468" cy="321076"/>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552848" y="716594"/>
        <a:ext cx="192128" cy="192646"/>
      </dsp:txXfrm>
    </dsp:sp>
    <dsp:sp modelId="{18A330F4-986E-9A49-9FA2-9E2E79EE8217}">
      <dsp:nvSpPr>
        <dsp:cNvPr id="0" name=""/>
        <dsp:cNvSpPr/>
      </dsp:nvSpPr>
      <dsp:spPr>
        <a:xfrm>
          <a:off x="5956783" y="424518"/>
          <a:ext cx="1294663" cy="776798"/>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INSTALL MULE JDE CONNECTOR</a:t>
          </a:r>
          <a:endParaRPr lang="en-US" sz="1300" kern="1200" dirty="0"/>
        </a:p>
      </dsp:txBody>
      <dsp:txXfrm>
        <a:off x="5979535" y="447270"/>
        <a:ext cx="1249159" cy="7312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solidFill>
                <a:srgbClr val="FFFF00"/>
              </a:solidFill>
            </a:rPr>
            <a:t>JDE INI FGENERATEILES</a:t>
          </a:r>
          <a:endParaRPr lang="en-US" sz="500" kern="1200" dirty="0">
            <a:solidFill>
              <a:srgbClr val="FFFF00"/>
            </a:solidFill>
          </a:endParaRPr>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GENERATE </a:t>
          </a:r>
        </a:p>
        <a:p>
          <a:pPr marL="0" lvl="0" indent="0" algn="ctr" defTabSz="222250">
            <a:lnSpc>
              <a:spcPct val="90000"/>
            </a:lnSpc>
            <a:spcBef>
              <a:spcPct val="0"/>
            </a:spcBef>
            <a:spcAft>
              <a:spcPct val="35000"/>
            </a:spcAft>
            <a:buNone/>
          </a:pPr>
          <a:r>
            <a:rPr lang="en-US" sz="500" b="1" kern="1200" dirty="0"/>
            <a:t>JDE JARS LIBRARIES</a:t>
          </a:r>
          <a:endParaRPr lang="en-US" sz="500" kern="1200" dirty="0"/>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MICROSERVER INSTALLATION</a:t>
          </a:r>
          <a:endParaRPr lang="en-US" sz="500" kern="1200" dirty="0"/>
        </a:p>
      </dsp:txBody>
      <dsp:txXfrm>
        <a:off x="1641522" y="20257"/>
        <a:ext cx="561669" cy="328817"/>
      </dsp:txXfrm>
    </dsp:sp>
    <dsp:sp modelId="{9C93C017-557A-3D49-B70F-73A31621BCB0}">
      <dsp:nvSpPr>
        <dsp:cNvPr id="0" name=""/>
        <dsp:cNvSpPr/>
      </dsp:nvSpPr>
      <dsp:spPr>
        <a:xfrm>
          <a:off x="2264649" y="112481"/>
          <a:ext cx="123411"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649" y="141355"/>
        <a:ext cx="86388" cy="86620"/>
      </dsp:txXfrm>
    </dsp:sp>
    <dsp:sp modelId="{18A330F4-986E-9A49-9FA2-9E2E79EE8217}">
      <dsp:nvSpPr>
        <dsp:cNvPr id="0" name=""/>
        <dsp:cNvSpPr/>
      </dsp:nvSpPr>
      <dsp:spPr>
        <a:xfrm>
          <a:off x="2446273" y="10027"/>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6503" y="20257"/>
        <a:ext cx="561669" cy="3288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840" y="430362"/>
          <a:ext cx="1275182" cy="765109"/>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bg1"/>
              </a:solidFill>
            </a:rPr>
            <a:t>GENERATE INI FILES</a:t>
          </a:r>
          <a:endParaRPr lang="en-US" sz="1400" kern="1200" dirty="0">
            <a:solidFill>
              <a:schemeClr val="bg1"/>
            </a:solidFill>
          </a:endParaRPr>
        </a:p>
      </dsp:txBody>
      <dsp:txXfrm>
        <a:off x="23249" y="452771"/>
        <a:ext cx="1230364" cy="720291"/>
      </dsp:txXfrm>
    </dsp:sp>
    <dsp:sp modelId="{B8704254-4B9D-8E42-A562-DEDA4DE5C60C}">
      <dsp:nvSpPr>
        <dsp:cNvPr id="0" name=""/>
        <dsp:cNvSpPr/>
      </dsp:nvSpPr>
      <dsp:spPr>
        <a:xfrm>
          <a:off x="1388238" y="654794"/>
          <a:ext cx="270338" cy="316245"/>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388238" y="718043"/>
        <a:ext cx="189237" cy="189747"/>
      </dsp:txXfrm>
    </dsp:sp>
    <dsp:sp modelId="{07EAD883-43B5-5A49-AD08-43DAE8A4E34B}">
      <dsp:nvSpPr>
        <dsp:cNvPr id="0" name=""/>
        <dsp:cNvSpPr/>
      </dsp:nvSpPr>
      <dsp:spPr>
        <a:xfrm>
          <a:off x="1786095" y="60333"/>
          <a:ext cx="1896922" cy="1505168"/>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GENERATE </a:t>
          </a:r>
        </a:p>
        <a:p>
          <a:pPr marL="0" lvl="0" indent="0" algn="ctr" defTabSz="622300">
            <a:lnSpc>
              <a:spcPct val="90000"/>
            </a:lnSpc>
            <a:spcBef>
              <a:spcPct val="0"/>
            </a:spcBef>
            <a:spcAft>
              <a:spcPct val="35000"/>
            </a:spcAft>
            <a:buNone/>
          </a:pPr>
          <a:r>
            <a:rPr lang="en-US" sz="1400" b="1" kern="1200" dirty="0"/>
            <a:t>JDE JARS LIBRARIES</a:t>
          </a:r>
          <a:endParaRPr lang="en-US" sz="1400" kern="1200" dirty="0"/>
        </a:p>
      </dsp:txBody>
      <dsp:txXfrm>
        <a:off x="1830180" y="104418"/>
        <a:ext cx="1808752" cy="1416998"/>
      </dsp:txXfrm>
    </dsp:sp>
    <dsp:sp modelId="{F578B04D-5591-4F4B-9DC9-7123B5E1CB4F}">
      <dsp:nvSpPr>
        <dsp:cNvPr id="0" name=""/>
        <dsp:cNvSpPr/>
      </dsp:nvSpPr>
      <dsp:spPr>
        <a:xfrm>
          <a:off x="3795234" y="654794"/>
          <a:ext cx="270338" cy="316245"/>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795234" y="718043"/>
        <a:ext cx="189237" cy="189747"/>
      </dsp:txXfrm>
    </dsp:sp>
    <dsp:sp modelId="{2EFD3548-CD20-AD4A-94C5-F8D2A44EDDF3}">
      <dsp:nvSpPr>
        <dsp:cNvPr id="0" name=""/>
        <dsp:cNvSpPr/>
      </dsp:nvSpPr>
      <dsp:spPr>
        <a:xfrm>
          <a:off x="4193091" y="430362"/>
          <a:ext cx="1275182" cy="765109"/>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MICROSERVER INSTALLATION</a:t>
          </a:r>
          <a:endParaRPr lang="en-US" sz="1400" kern="1200" dirty="0"/>
        </a:p>
      </dsp:txBody>
      <dsp:txXfrm>
        <a:off x="4215500" y="452771"/>
        <a:ext cx="1230364" cy="720291"/>
      </dsp:txXfrm>
    </dsp:sp>
    <dsp:sp modelId="{9C93C017-557A-3D49-B70F-73A31621BCB0}">
      <dsp:nvSpPr>
        <dsp:cNvPr id="0" name=""/>
        <dsp:cNvSpPr/>
      </dsp:nvSpPr>
      <dsp:spPr>
        <a:xfrm>
          <a:off x="5580489" y="654794"/>
          <a:ext cx="270338" cy="316245"/>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580489" y="718043"/>
        <a:ext cx="189237" cy="189747"/>
      </dsp:txXfrm>
    </dsp:sp>
    <dsp:sp modelId="{18A330F4-986E-9A49-9FA2-9E2E79EE8217}">
      <dsp:nvSpPr>
        <dsp:cNvPr id="0" name=""/>
        <dsp:cNvSpPr/>
      </dsp:nvSpPr>
      <dsp:spPr>
        <a:xfrm>
          <a:off x="5978346" y="430362"/>
          <a:ext cx="1275182" cy="765109"/>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INSTALL MULE JDE CONNECTOR</a:t>
          </a:r>
          <a:endParaRPr lang="en-US" sz="1400" kern="1200" dirty="0"/>
        </a:p>
      </dsp:txBody>
      <dsp:txXfrm>
        <a:off x="6000755" y="452771"/>
        <a:ext cx="1230364" cy="7202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t>GENERATE JDE INI FILES</a:t>
          </a:r>
          <a:endParaRPr lang="en-US" sz="500" kern="1200" dirty="0"/>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rgbClr val="FFFF00"/>
              </a:solidFill>
            </a:rPr>
            <a:t>GENERATE </a:t>
          </a:r>
        </a:p>
        <a:p>
          <a:pPr marL="0" lvl="0" indent="0" algn="ctr" defTabSz="222250">
            <a:lnSpc>
              <a:spcPct val="90000"/>
            </a:lnSpc>
            <a:spcBef>
              <a:spcPct val="0"/>
            </a:spcBef>
            <a:spcAft>
              <a:spcPct val="35000"/>
            </a:spcAft>
            <a:buNone/>
          </a:pPr>
          <a:r>
            <a:rPr lang="en-US" sz="500" b="1" kern="1200" dirty="0">
              <a:solidFill>
                <a:srgbClr val="FFFF00"/>
              </a:solidFill>
            </a:rPr>
            <a:t>JDE JARS LIBRARIES</a:t>
          </a:r>
          <a:endParaRPr lang="en-US" sz="500" kern="1200" dirty="0">
            <a:solidFill>
              <a:srgbClr val="FFFF00"/>
            </a:solidFill>
          </a:endParaRPr>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MICROSERVER INSTALLATION</a:t>
          </a:r>
          <a:endParaRPr lang="en-US" sz="500" kern="1200" dirty="0"/>
        </a:p>
      </dsp:txBody>
      <dsp:txXfrm>
        <a:off x="1641522" y="20257"/>
        <a:ext cx="561669" cy="328817"/>
      </dsp:txXfrm>
    </dsp:sp>
    <dsp:sp modelId="{9C93C017-557A-3D49-B70F-73A31621BCB0}">
      <dsp:nvSpPr>
        <dsp:cNvPr id="0" name=""/>
        <dsp:cNvSpPr/>
      </dsp:nvSpPr>
      <dsp:spPr>
        <a:xfrm rot="42226">
          <a:off x="2264937" y="117452"/>
          <a:ext cx="124126"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938" y="146097"/>
        <a:ext cx="86888" cy="86620"/>
      </dsp:txXfrm>
    </dsp:sp>
    <dsp:sp modelId="{18A330F4-986E-9A49-9FA2-9E2E79EE8217}">
      <dsp:nvSpPr>
        <dsp:cNvPr id="0" name=""/>
        <dsp:cNvSpPr/>
      </dsp:nvSpPr>
      <dsp:spPr>
        <a:xfrm>
          <a:off x="2447604" y="20054"/>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7834" y="30284"/>
        <a:ext cx="561669" cy="3288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t>GENERATE JDE INI FILES</a:t>
          </a:r>
          <a:endParaRPr lang="en-US" sz="500" kern="1200" dirty="0"/>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rgbClr val="FFFF00"/>
              </a:solidFill>
            </a:rPr>
            <a:t>GENERATE </a:t>
          </a:r>
        </a:p>
        <a:p>
          <a:pPr marL="0" lvl="0" indent="0" algn="ctr" defTabSz="222250">
            <a:lnSpc>
              <a:spcPct val="90000"/>
            </a:lnSpc>
            <a:spcBef>
              <a:spcPct val="0"/>
            </a:spcBef>
            <a:spcAft>
              <a:spcPct val="35000"/>
            </a:spcAft>
            <a:buNone/>
          </a:pPr>
          <a:r>
            <a:rPr lang="en-US" sz="500" b="1" kern="1200" dirty="0">
              <a:solidFill>
                <a:srgbClr val="FFFF00"/>
              </a:solidFill>
            </a:rPr>
            <a:t>JDE JARS LIBRARIES</a:t>
          </a:r>
          <a:endParaRPr lang="en-US" sz="500" kern="1200" dirty="0">
            <a:solidFill>
              <a:srgbClr val="FFFF00"/>
            </a:solidFill>
          </a:endParaRPr>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MICROSERVER INSTALLATION</a:t>
          </a:r>
          <a:endParaRPr lang="en-US" sz="500" kern="1200" dirty="0"/>
        </a:p>
      </dsp:txBody>
      <dsp:txXfrm>
        <a:off x="1641522" y="20257"/>
        <a:ext cx="561669" cy="328817"/>
      </dsp:txXfrm>
    </dsp:sp>
    <dsp:sp modelId="{9C93C017-557A-3D49-B70F-73A31621BCB0}">
      <dsp:nvSpPr>
        <dsp:cNvPr id="0" name=""/>
        <dsp:cNvSpPr/>
      </dsp:nvSpPr>
      <dsp:spPr>
        <a:xfrm rot="42226">
          <a:off x="2264937" y="117452"/>
          <a:ext cx="124126"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938" y="146097"/>
        <a:ext cx="86888" cy="86620"/>
      </dsp:txXfrm>
    </dsp:sp>
    <dsp:sp modelId="{18A330F4-986E-9A49-9FA2-9E2E79EE8217}">
      <dsp:nvSpPr>
        <dsp:cNvPr id="0" name=""/>
        <dsp:cNvSpPr/>
      </dsp:nvSpPr>
      <dsp:spPr>
        <a:xfrm>
          <a:off x="2447604" y="20054"/>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7834" y="30284"/>
        <a:ext cx="561669" cy="3288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3167" y="424518"/>
          <a:ext cx="1294663" cy="776798"/>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dirty="0">
              <a:solidFill>
                <a:schemeClr val="bg1"/>
              </a:solidFill>
            </a:rPr>
            <a:t>GENERATE INI FILES</a:t>
          </a:r>
          <a:endParaRPr lang="en-US" sz="1300" kern="1200" dirty="0">
            <a:solidFill>
              <a:schemeClr val="bg1"/>
            </a:solidFill>
          </a:endParaRPr>
        </a:p>
      </dsp:txBody>
      <dsp:txXfrm>
        <a:off x="25919" y="447270"/>
        <a:ext cx="1249159" cy="731294"/>
      </dsp:txXfrm>
    </dsp:sp>
    <dsp:sp modelId="{B8704254-4B9D-8E42-A562-DEDA4DE5C60C}">
      <dsp:nvSpPr>
        <dsp:cNvPr id="0" name=""/>
        <dsp:cNvSpPr/>
      </dsp:nvSpPr>
      <dsp:spPr>
        <a:xfrm>
          <a:off x="1411761" y="652379"/>
          <a:ext cx="274468" cy="321076"/>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11761" y="716594"/>
        <a:ext cx="192128" cy="192646"/>
      </dsp:txXfrm>
    </dsp:sp>
    <dsp:sp modelId="{07EAD883-43B5-5A49-AD08-43DAE8A4E34B}">
      <dsp:nvSpPr>
        <dsp:cNvPr id="0" name=""/>
        <dsp:cNvSpPr/>
      </dsp:nvSpPr>
      <dsp:spPr>
        <a:xfrm>
          <a:off x="1815697" y="424518"/>
          <a:ext cx="1294663" cy="776798"/>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GENERATE </a:t>
          </a:r>
        </a:p>
        <a:p>
          <a:pPr marL="0" lvl="0" indent="0" algn="ctr" defTabSz="577850">
            <a:lnSpc>
              <a:spcPct val="90000"/>
            </a:lnSpc>
            <a:spcBef>
              <a:spcPct val="0"/>
            </a:spcBef>
            <a:spcAft>
              <a:spcPct val="35000"/>
            </a:spcAft>
            <a:buNone/>
          </a:pPr>
          <a:r>
            <a:rPr lang="en-US" sz="1300" b="1" kern="1200" dirty="0"/>
            <a:t>JDE JARS LIBRARIES</a:t>
          </a:r>
          <a:endParaRPr lang="en-US" sz="1300" kern="1200" dirty="0"/>
        </a:p>
      </dsp:txBody>
      <dsp:txXfrm>
        <a:off x="1838449" y="447270"/>
        <a:ext cx="1249159" cy="731294"/>
      </dsp:txXfrm>
    </dsp:sp>
    <dsp:sp modelId="{F578B04D-5591-4F4B-9DC9-7123B5E1CB4F}">
      <dsp:nvSpPr>
        <dsp:cNvPr id="0" name=""/>
        <dsp:cNvSpPr/>
      </dsp:nvSpPr>
      <dsp:spPr>
        <a:xfrm>
          <a:off x="3224291" y="652379"/>
          <a:ext cx="274468" cy="321076"/>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224291" y="716594"/>
        <a:ext cx="192128" cy="192646"/>
      </dsp:txXfrm>
    </dsp:sp>
    <dsp:sp modelId="{2EFD3548-CD20-AD4A-94C5-F8D2A44EDDF3}">
      <dsp:nvSpPr>
        <dsp:cNvPr id="0" name=""/>
        <dsp:cNvSpPr/>
      </dsp:nvSpPr>
      <dsp:spPr>
        <a:xfrm>
          <a:off x="3628226" y="183625"/>
          <a:ext cx="1810445" cy="1258584"/>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MICROSERVER INSTALLATION</a:t>
          </a:r>
          <a:endParaRPr lang="en-US" sz="1300" kern="1200" dirty="0"/>
        </a:p>
      </dsp:txBody>
      <dsp:txXfrm>
        <a:off x="3665089" y="220488"/>
        <a:ext cx="1736719" cy="1184858"/>
      </dsp:txXfrm>
    </dsp:sp>
    <dsp:sp modelId="{9C93C017-557A-3D49-B70F-73A31621BCB0}">
      <dsp:nvSpPr>
        <dsp:cNvPr id="0" name=""/>
        <dsp:cNvSpPr/>
      </dsp:nvSpPr>
      <dsp:spPr>
        <a:xfrm>
          <a:off x="5552602" y="652379"/>
          <a:ext cx="274468" cy="321076"/>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552602" y="716594"/>
        <a:ext cx="192128" cy="192646"/>
      </dsp:txXfrm>
    </dsp:sp>
    <dsp:sp modelId="{18A330F4-986E-9A49-9FA2-9E2E79EE8217}">
      <dsp:nvSpPr>
        <dsp:cNvPr id="0" name=""/>
        <dsp:cNvSpPr/>
      </dsp:nvSpPr>
      <dsp:spPr>
        <a:xfrm>
          <a:off x="5956537" y="424518"/>
          <a:ext cx="1294663" cy="776798"/>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INSTALL MULE JDE CONNECTOR</a:t>
          </a:r>
          <a:endParaRPr lang="en-US" sz="1300" kern="1200" dirty="0"/>
        </a:p>
      </dsp:txBody>
      <dsp:txXfrm>
        <a:off x="5979289" y="447270"/>
        <a:ext cx="1249159" cy="73129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t>GENERATE JDE INI FILES</a:t>
          </a:r>
          <a:endParaRPr lang="en-US" sz="500" kern="1200" dirty="0"/>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GENERATE </a:t>
          </a:r>
        </a:p>
        <a:p>
          <a:pPr marL="0" lvl="0" indent="0" algn="ctr" defTabSz="222250">
            <a:lnSpc>
              <a:spcPct val="90000"/>
            </a:lnSpc>
            <a:spcBef>
              <a:spcPct val="0"/>
            </a:spcBef>
            <a:spcAft>
              <a:spcPct val="35000"/>
            </a:spcAft>
            <a:buNone/>
          </a:pPr>
          <a:r>
            <a:rPr lang="en-US" sz="500" b="1" kern="1200" dirty="0"/>
            <a:t>JDE JARS LIBRARIES</a:t>
          </a:r>
          <a:endParaRPr lang="en-US" sz="500" kern="1200" dirty="0"/>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rgbClr val="FFFF00"/>
              </a:solidFill>
            </a:rPr>
            <a:t>MICROSERVER INSTALLATION</a:t>
          </a:r>
          <a:endParaRPr lang="en-US" sz="500" kern="1200" dirty="0">
            <a:solidFill>
              <a:srgbClr val="FFFF00"/>
            </a:solidFill>
          </a:endParaRPr>
        </a:p>
      </dsp:txBody>
      <dsp:txXfrm>
        <a:off x="1641522" y="20257"/>
        <a:ext cx="561669" cy="328817"/>
      </dsp:txXfrm>
    </dsp:sp>
    <dsp:sp modelId="{9C93C017-557A-3D49-B70F-73A31621BCB0}">
      <dsp:nvSpPr>
        <dsp:cNvPr id="0" name=""/>
        <dsp:cNvSpPr/>
      </dsp:nvSpPr>
      <dsp:spPr>
        <a:xfrm>
          <a:off x="2264649" y="112481"/>
          <a:ext cx="123411"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649" y="141355"/>
        <a:ext cx="86388" cy="86620"/>
      </dsp:txXfrm>
    </dsp:sp>
    <dsp:sp modelId="{18A330F4-986E-9A49-9FA2-9E2E79EE8217}">
      <dsp:nvSpPr>
        <dsp:cNvPr id="0" name=""/>
        <dsp:cNvSpPr/>
      </dsp:nvSpPr>
      <dsp:spPr>
        <a:xfrm>
          <a:off x="2446273" y="10027"/>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6503" y="20257"/>
        <a:ext cx="561669" cy="32881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t>GENERATE JDE INI FILES</a:t>
          </a:r>
          <a:endParaRPr lang="en-US" sz="500" kern="1200" dirty="0"/>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GENERATE </a:t>
          </a:r>
        </a:p>
        <a:p>
          <a:pPr marL="0" lvl="0" indent="0" algn="ctr" defTabSz="222250">
            <a:lnSpc>
              <a:spcPct val="90000"/>
            </a:lnSpc>
            <a:spcBef>
              <a:spcPct val="0"/>
            </a:spcBef>
            <a:spcAft>
              <a:spcPct val="35000"/>
            </a:spcAft>
            <a:buNone/>
          </a:pPr>
          <a:r>
            <a:rPr lang="en-US" sz="500" b="1" kern="1200" dirty="0"/>
            <a:t>JDE JARS LIBRARIES</a:t>
          </a:r>
          <a:endParaRPr lang="en-US" sz="500" kern="1200" dirty="0"/>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rgbClr val="FFFF00"/>
              </a:solidFill>
            </a:rPr>
            <a:t>MICROSERVER INSTALLATION</a:t>
          </a:r>
          <a:endParaRPr lang="en-US" sz="500" kern="1200" dirty="0">
            <a:solidFill>
              <a:srgbClr val="FFFF00"/>
            </a:solidFill>
          </a:endParaRPr>
        </a:p>
      </dsp:txBody>
      <dsp:txXfrm>
        <a:off x="1641522" y="20257"/>
        <a:ext cx="561669" cy="328817"/>
      </dsp:txXfrm>
    </dsp:sp>
    <dsp:sp modelId="{9C93C017-557A-3D49-B70F-73A31621BCB0}">
      <dsp:nvSpPr>
        <dsp:cNvPr id="0" name=""/>
        <dsp:cNvSpPr/>
      </dsp:nvSpPr>
      <dsp:spPr>
        <a:xfrm>
          <a:off x="2264649" y="112481"/>
          <a:ext cx="123411"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649" y="141355"/>
        <a:ext cx="86388" cy="86620"/>
      </dsp:txXfrm>
    </dsp:sp>
    <dsp:sp modelId="{18A330F4-986E-9A49-9FA2-9E2E79EE8217}">
      <dsp:nvSpPr>
        <dsp:cNvPr id="0" name=""/>
        <dsp:cNvSpPr/>
      </dsp:nvSpPr>
      <dsp:spPr>
        <a:xfrm>
          <a:off x="2446273" y="10027"/>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6503" y="20257"/>
        <a:ext cx="561669" cy="3288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2345" y="423986"/>
          <a:ext cx="1296435" cy="777861"/>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dirty="0">
              <a:solidFill>
                <a:schemeClr val="bg1"/>
              </a:solidFill>
            </a:rPr>
            <a:t>GENERATE INI FILES</a:t>
          </a:r>
          <a:endParaRPr lang="en-US" sz="1300" kern="1200" dirty="0">
            <a:solidFill>
              <a:schemeClr val="bg1"/>
            </a:solidFill>
          </a:endParaRPr>
        </a:p>
      </dsp:txBody>
      <dsp:txXfrm>
        <a:off x="25128" y="446769"/>
        <a:ext cx="1250869" cy="732295"/>
      </dsp:txXfrm>
    </dsp:sp>
    <dsp:sp modelId="{B8704254-4B9D-8E42-A562-DEDA4DE5C60C}">
      <dsp:nvSpPr>
        <dsp:cNvPr id="0" name=""/>
        <dsp:cNvSpPr/>
      </dsp:nvSpPr>
      <dsp:spPr>
        <a:xfrm>
          <a:off x="1412866" y="652159"/>
          <a:ext cx="274844" cy="321515"/>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12866" y="716462"/>
        <a:ext cx="192391" cy="192909"/>
      </dsp:txXfrm>
    </dsp:sp>
    <dsp:sp modelId="{07EAD883-43B5-5A49-AD08-43DAE8A4E34B}">
      <dsp:nvSpPr>
        <dsp:cNvPr id="0" name=""/>
        <dsp:cNvSpPr/>
      </dsp:nvSpPr>
      <dsp:spPr>
        <a:xfrm>
          <a:off x="1817354" y="423986"/>
          <a:ext cx="1296435" cy="777861"/>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GENERATE </a:t>
          </a:r>
        </a:p>
        <a:p>
          <a:pPr marL="0" lvl="0" indent="0" algn="ctr" defTabSz="577850">
            <a:lnSpc>
              <a:spcPct val="90000"/>
            </a:lnSpc>
            <a:spcBef>
              <a:spcPct val="0"/>
            </a:spcBef>
            <a:spcAft>
              <a:spcPct val="35000"/>
            </a:spcAft>
            <a:buNone/>
          </a:pPr>
          <a:r>
            <a:rPr lang="en-US" sz="1300" b="1" kern="1200" dirty="0"/>
            <a:t>JDE JARS LIBRARIES</a:t>
          </a:r>
          <a:endParaRPr lang="en-US" sz="1300" kern="1200" dirty="0"/>
        </a:p>
      </dsp:txBody>
      <dsp:txXfrm>
        <a:off x="1840137" y="446769"/>
        <a:ext cx="1250869" cy="732295"/>
      </dsp:txXfrm>
    </dsp:sp>
    <dsp:sp modelId="{F578B04D-5591-4F4B-9DC9-7123B5E1CB4F}">
      <dsp:nvSpPr>
        <dsp:cNvPr id="0" name=""/>
        <dsp:cNvSpPr/>
      </dsp:nvSpPr>
      <dsp:spPr>
        <a:xfrm>
          <a:off x="3227876" y="652159"/>
          <a:ext cx="274844" cy="321515"/>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227876" y="716462"/>
        <a:ext cx="192391" cy="192909"/>
      </dsp:txXfrm>
    </dsp:sp>
    <dsp:sp modelId="{2EFD3548-CD20-AD4A-94C5-F8D2A44EDDF3}">
      <dsp:nvSpPr>
        <dsp:cNvPr id="0" name=""/>
        <dsp:cNvSpPr/>
      </dsp:nvSpPr>
      <dsp:spPr>
        <a:xfrm>
          <a:off x="3632363" y="423986"/>
          <a:ext cx="1296435" cy="777861"/>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MICROSERVER INSTALLATION</a:t>
          </a:r>
          <a:endParaRPr lang="en-US" sz="1300" kern="1200" dirty="0"/>
        </a:p>
      </dsp:txBody>
      <dsp:txXfrm>
        <a:off x="3655146" y="446769"/>
        <a:ext cx="1250869" cy="732295"/>
      </dsp:txXfrm>
    </dsp:sp>
    <dsp:sp modelId="{9C93C017-557A-3D49-B70F-73A31621BCB0}">
      <dsp:nvSpPr>
        <dsp:cNvPr id="0" name=""/>
        <dsp:cNvSpPr/>
      </dsp:nvSpPr>
      <dsp:spPr>
        <a:xfrm>
          <a:off x="5042885" y="652159"/>
          <a:ext cx="274844" cy="321515"/>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042885" y="716462"/>
        <a:ext cx="192391" cy="192909"/>
      </dsp:txXfrm>
    </dsp:sp>
    <dsp:sp modelId="{18A330F4-986E-9A49-9FA2-9E2E79EE8217}">
      <dsp:nvSpPr>
        <dsp:cNvPr id="0" name=""/>
        <dsp:cNvSpPr/>
      </dsp:nvSpPr>
      <dsp:spPr>
        <a:xfrm>
          <a:off x="5447372" y="183624"/>
          <a:ext cx="1804650" cy="1258586"/>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INSTALL MULE JDE CONNECTOR</a:t>
          </a:r>
          <a:endParaRPr lang="en-US" sz="1300" kern="1200" dirty="0"/>
        </a:p>
      </dsp:txBody>
      <dsp:txXfrm>
        <a:off x="5484235" y="220487"/>
        <a:ext cx="1730924" cy="11848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5C28B3-4CF8-6E0F-368D-049C371600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R"/>
          </a:p>
        </p:txBody>
      </p:sp>
      <p:sp>
        <p:nvSpPr>
          <p:cNvPr id="3" name="Date Placeholder 2">
            <a:extLst>
              <a:ext uri="{FF2B5EF4-FFF2-40B4-BE49-F238E27FC236}">
                <a16:creationId xmlns:a16="http://schemas.microsoft.com/office/drawing/2014/main" id="{4E426C6E-A884-0C8F-034C-F2F029E588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B8DBD2-6D4E-5E40-A1AC-3749A5D16B72}" type="datetimeFigureOut">
              <a:rPr lang="en-AR" smtClean="0"/>
              <a:t>18/08/2025</a:t>
            </a:fld>
            <a:endParaRPr lang="en-AR"/>
          </a:p>
        </p:txBody>
      </p:sp>
      <p:sp>
        <p:nvSpPr>
          <p:cNvPr id="4" name="Footer Placeholder 3">
            <a:extLst>
              <a:ext uri="{FF2B5EF4-FFF2-40B4-BE49-F238E27FC236}">
                <a16:creationId xmlns:a16="http://schemas.microsoft.com/office/drawing/2014/main" id="{56E2AFD8-0011-A06C-E68D-65A870B37B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R"/>
          </a:p>
        </p:txBody>
      </p:sp>
      <p:sp>
        <p:nvSpPr>
          <p:cNvPr id="5" name="Slide Number Placeholder 4">
            <a:extLst>
              <a:ext uri="{FF2B5EF4-FFF2-40B4-BE49-F238E27FC236}">
                <a16:creationId xmlns:a16="http://schemas.microsoft.com/office/drawing/2014/main" id="{9DFBAAB1-B5A0-482D-132C-33A1A7F141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365533-DBA2-C945-B3FE-DFA470E1F8F0}" type="slidenum">
              <a:rPr lang="en-AR" smtClean="0"/>
              <a:t>‹#›</a:t>
            </a:fld>
            <a:endParaRPr lang="en-AR"/>
          </a:p>
        </p:txBody>
      </p:sp>
    </p:spTree>
    <p:extLst>
      <p:ext uri="{BB962C8B-B14F-4D97-AF65-F5344CB8AC3E}">
        <p14:creationId xmlns:p14="http://schemas.microsoft.com/office/powerpoint/2010/main" val="5800999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6DB1A-A849-A048-8146-31B63638AE65}" type="datetimeFigureOut">
              <a:rPr lang="en-AR" smtClean="0"/>
              <a:t>18/08/2025</a:t>
            </a:fld>
            <a:endParaRPr lang="en-A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0069D-E24D-4B49-B22D-AD744887B27E}" type="slidenum">
              <a:rPr lang="en-AR" smtClean="0"/>
              <a:t>‹#›</a:t>
            </a:fld>
            <a:endParaRPr lang="en-AR"/>
          </a:p>
        </p:txBody>
      </p:sp>
    </p:spTree>
    <p:extLst>
      <p:ext uri="{BB962C8B-B14F-4D97-AF65-F5344CB8AC3E}">
        <p14:creationId xmlns:p14="http://schemas.microsoft.com/office/powerpoint/2010/main" val="1497675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a:p>
        </p:txBody>
      </p:sp>
      <p:sp>
        <p:nvSpPr>
          <p:cNvPr id="4" name="Slide Number Placeholder 3"/>
          <p:cNvSpPr>
            <a:spLocks noGrp="1"/>
          </p:cNvSpPr>
          <p:nvPr>
            <p:ph type="sldNum" sz="quarter" idx="5"/>
          </p:nvPr>
        </p:nvSpPr>
        <p:spPr/>
        <p:txBody>
          <a:bodyPr/>
          <a:lstStyle/>
          <a:p>
            <a:fld id="{A1F0069D-E24D-4B49-B22D-AD744887B27E}" type="slidenum">
              <a:rPr lang="en-AR" smtClean="0"/>
              <a:t>1</a:t>
            </a:fld>
            <a:endParaRPr lang="en-AR"/>
          </a:p>
        </p:txBody>
      </p:sp>
    </p:spTree>
    <p:extLst>
      <p:ext uri="{BB962C8B-B14F-4D97-AF65-F5344CB8AC3E}">
        <p14:creationId xmlns:p14="http://schemas.microsoft.com/office/powerpoint/2010/main" val="3737120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3</a:t>
            </a:fld>
            <a:endParaRPr lang="en-AR"/>
          </a:p>
        </p:txBody>
      </p:sp>
    </p:spTree>
    <p:extLst>
      <p:ext uri="{BB962C8B-B14F-4D97-AF65-F5344CB8AC3E}">
        <p14:creationId xmlns:p14="http://schemas.microsoft.com/office/powerpoint/2010/main" val="2479834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35B67-B3D6-4884-4634-9E188426F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E2186-12B8-57EE-AE04-D285D9DAC2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3E84F-0829-11F6-ABC2-51FA83E95E7A}"/>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3573BDF4-7A15-B165-6F81-9096095D4CD5}"/>
              </a:ext>
            </a:extLst>
          </p:cNvPr>
          <p:cNvSpPr>
            <a:spLocks noGrp="1"/>
          </p:cNvSpPr>
          <p:nvPr>
            <p:ph type="sldNum" sz="quarter" idx="5"/>
          </p:nvPr>
        </p:nvSpPr>
        <p:spPr/>
        <p:txBody>
          <a:bodyPr/>
          <a:lstStyle/>
          <a:p>
            <a:fld id="{A1F0069D-E24D-4B49-B22D-AD744887B27E}" type="slidenum">
              <a:rPr lang="en-AR" smtClean="0"/>
              <a:t>4</a:t>
            </a:fld>
            <a:endParaRPr lang="en-AR"/>
          </a:p>
        </p:txBody>
      </p:sp>
    </p:spTree>
    <p:extLst>
      <p:ext uri="{BB962C8B-B14F-4D97-AF65-F5344CB8AC3E}">
        <p14:creationId xmlns:p14="http://schemas.microsoft.com/office/powerpoint/2010/main" val="2000664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5</a:t>
            </a:fld>
            <a:endParaRPr lang="en-AR"/>
          </a:p>
        </p:txBody>
      </p:sp>
    </p:spTree>
    <p:extLst>
      <p:ext uri="{BB962C8B-B14F-4D97-AF65-F5344CB8AC3E}">
        <p14:creationId xmlns:p14="http://schemas.microsoft.com/office/powerpoint/2010/main" val="3612156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7</a:t>
            </a:fld>
            <a:endParaRPr lang="en-AR"/>
          </a:p>
        </p:txBody>
      </p:sp>
    </p:spTree>
    <p:extLst>
      <p:ext uri="{BB962C8B-B14F-4D97-AF65-F5344CB8AC3E}">
        <p14:creationId xmlns:p14="http://schemas.microsoft.com/office/powerpoint/2010/main" val="2911332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2E199-2D45-ACF8-37F2-1171DA189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6EDEB-704A-CF91-6823-5A38C619CE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3B1866-D579-BBFD-9199-BE8D4DA5032A}"/>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F40F18DF-A335-D57A-5E64-2E104F0127B8}"/>
              </a:ext>
            </a:extLst>
          </p:cNvPr>
          <p:cNvSpPr>
            <a:spLocks noGrp="1"/>
          </p:cNvSpPr>
          <p:nvPr>
            <p:ph type="sldNum" sz="quarter" idx="5"/>
          </p:nvPr>
        </p:nvSpPr>
        <p:spPr/>
        <p:txBody>
          <a:bodyPr/>
          <a:lstStyle/>
          <a:p>
            <a:fld id="{A1F0069D-E24D-4B49-B22D-AD744887B27E}" type="slidenum">
              <a:rPr lang="en-AR" smtClean="0"/>
              <a:t>8</a:t>
            </a:fld>
            <a:endParaRPr lang="en-AR"/>
          </a:p>
        </p:txBody>
      </p:sp>
    </p:spTree>
    <p:extLst>
      <p:ext uri="{BB962C8B-B14F-4D97-AF65-F5344CB8AC3E}">
        <p14:creationId xmlns:p14="http://schemas.microsoft.com/office/powerpoint/2010/main" val="1261804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13</a:t>
            </a:fld>
            <a:endParaRPr lang="en-AR"/>
          </a:p>
        </p:txBody>
      </p:sp>
    </p:spTree>
    <p:extLst>
      <p:ext uri="{BB962C8B-B14F-4D97-AF65-F5344CB8AC3E}">
        <p14:creationId xmlns:p14="http://schemas.microsoft.com/office/powerpoint/2010/main" val="2068787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DA75E-EBFA-5D4C-9C4F-3F73D2E22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7D129-6E36-E86F-4686-BBB8A38D7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1EBC9-8DE8-67FD-8AE9-A05AF2AF0D41}"/>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91E6BC48-C4C3-02B1-F829-2E726D9CAD87}"/>
              </a:ext>
            </a:extLst>
          </p:cNvPr>
          <p:cNvSpPr>
            <a:spLocks noGrp="1"/>
          </p:cNvSpPr>
          <p:nvPr>
            <p:ph type="sldNum" sz="quarter" idx="5"/>
          </p:nvPr>
        </p:nvSpPr>
        <p:spPr/>
        <p:txBody>
          <a:bodyPr/>
          <a:lstStyle/>
          <a:p>
            <a:fld id="{A1F0069D-E24D-4B49-B22D-AD744887B27E}" type="slidenum">
              <a:rPr lang="en-AR" smtClean="0"/>
              <a:t>18</a:t>
            </a:fld>
            <a:endParaRPr lang="en-AR"/>
          </a:p>
        </p:txBody>
      </p:sp>
    </p:spTree>
    <p:extLst>
      <p:ext uri="{BB962C8B-B14F-4D97-AF65-F5344CB8AC3E}">
        <p14:creationId xmlns:p14="http://schemas.microsoft.com/office/powerpoint/2010/main" val="3130549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21</a:t>
            </a:fld>
            <a:endParaRPr lang="en-AR"/>
          </a:p>
        </p:txBody>
      </p:sp>
    </p:spTree>
    <p:extLst>
      <p:ext uri="{BB962C8B-B14F-4D97-AF65-F5344CB8AC3E}">
        <p14:creationId xmlns:p14="http://schemas.microsoft.com/office/powerpoint/2010/main" val="2178274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22</a:t>
            </a:fld>
            <a:endParaRPr lang="en-AR"/>
          </a:p>
        </p:txBody>
      </p:sp>
    </p:spTree>
    <p:extLst>
      <p:ext uri="{BB962C8B-B14F-4D97-AF65-F5344CB8AC3E}">
        <p14:creationId xmlns:p14="http://schemas.microsoft.com/office/powerpoint/2010/main" val="4258148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9C5F-7AD1-147F-3B39-C42F673A6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5A6E3-67A0-877E-DAC6-ECEAEF4BD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5C941-657F-0A3C-B64B-2CBCA77C3B4A}"/>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20D9179A-6CF5-A6EF-C806-CEBD91D36F48}"/>
              </a:ext>
            </a:extLst>
          </p:cNvPr>
          <p:cNvSpPr>
            <a:spLocks noGrp="1"/>
          </p:cNvSpPr>
          <p:nvPr>
            <p:ph type="sldNum" sz="quarter" idx="5"/>
          </p:nvPr>
        </p:nvSpPr>
        <p:spPr/>
        <p:txBody>
          <a:bodyPr/>
          <a:lstStyle/>
          <a:p>
            <a:fld id="{A1F0069D-E24D-4B49-B22D-AD744887B27E}" type="slidenum">
              <a:rPr lang="en-AR" smtClean="0"/>
              <a:t>23</a:t>
            </a:fld>
            <a:endParaRPr lang="en-AR"/>
          </a:p>
        </p:txBody>
      </p:sp>
    </p:spTree>
    <p:extLst>
      <p:ext uri="{BB962C8B-B14F-4D97-AF65-F5344CB8AC3E}">
        <p14:creationId xmlns:p14="http://schemas.microsoft.com/office/powerpoint/2010/main" val="4168693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26</a:t>
            </a:fld>
            <a:endParaRPr lang="en-AR"/>
          </a:p>
        </p:txBody>
      </p:sp>
    </p:spTree>
    <p:extLst>
      <p:ext uri="{BB962C8B-B14F-4D97-AF65-F5344CB8AC3E}">
        <p14:creationId xmlns:p14="http://schemas.microsoft.com/office/powerpoint/2010/main" val="2829352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C587A-BB2A-054A-9FF2-086A221BC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98296-61EF-D4C3-42AD-0B21703231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A3A53-7A6A-1240-E656-BA2FE413CC69}"/>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0AD0DA10-F901-E821-1E39-38389661F86F}"/>
              </a:ext>
            </a:extLst>
          </p:cNvPr>
          <p:cNvSpPr>
            <a:spLocks noGrp="1"/>
          </p:cNvSpPr>
          <p:nvPr>
            <p:ph type="sldNum" sz="quarter" idx="5"/>
          </p:nvPr>
        </p:nvSpPr>
        <p:spPr/>
        <p:txBody>
          <a:bodyPr/>
          <a:lstStyle/>
          <a:p>
            <a:fld id="{A1F0069D-E24D-4B49-B22D-AD744887B27E}" type="slidenum">
              <a:rPr lang="en-AR" smtClean="0"/>
              <a:t>27</a:t>
            </a:fld>
            <a:endParaRPr lang="en-AR"/>
          </a:p>
        </p:txBody>
      </p:sp>
    </p:spTree>
    <p:extLst>
      <p:ext uri="{BB962C8B-B14F-4D97-AF65-F5344CB8AC3E}">
        <p14:creationId xmlns:p14="http://schemas.microsoft.com/office/powerpoint/2010/main" val="3237951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77E82-C711-108C-7F5B-518244C11BD9}"/>
              </a:ext>
            </a:extLst>
          </p:cNvPr>
          <p:cNvSpPr>
            <a:spLocks noGrp="1"/>
          </p:cNvSpPr>
          <p:nvPr>
            <p:ph type="title"/>
          </p:nvPr>
        </p:nvSpPr>
        <p:spPr/>
        <p:txBody>
          <a:bodyPr/>
          <a:lstStyle/>
          <a:p>
            <a:r>
              <a:rPr lang="en-US"/>
              <a:t>Click to edit Master title style</a:t>
            </a:r>
            <a:endParaRPr lang="en-AR"/>
          </a:p>
        </p:txBody>
      </p:sp>
      <p:sp>
        <p:nvSpPr>
          <p:cNvPr id="3" name="Date Placeholder 2">
            <a:extLst>
              <a:ext uri="{FF2B5EF4-FFF2-40B4-BE49-F238E27FC236}">
                <a16:creationId xmlns:a16="http://schemas.microsoft.com/office/drawing/2014/main" id="{DAF0FFFC-3EBE-CE50-436C-1ED2BD65D0BC}"/>
              </a:ext>
            </a:extLst>
          </p:cNvPr>
          <p:cNvSpPr>
            <a:spLocks noGrp="1"/>
          </p:cNvSpPr>
          <p:nvPr>
            <p:ph type="dt" sz="half" idx="10"/>
          </p:nvPr>
        </p:nvSpPr>
        <p:spPr/>
        <p:txBody>
          <a:bodyPr/>
          <a:lstStyle/>
          <a:p>
            <a:fld id="{5BCAD085-E8A6-8845-BD4E-CB4CCA059FC4}" type="datetimeFigureOut">
              <a:rPr lang="en-US" smtClean="0"/>
              <a:t>8/18/25</a:t>
            </a:fld>
            <a:endParaRPr lang="en-US"/>
          </a:p>
        </p:txBody>
      </p:sp>
      <p:sp>
        <p:nvSpPr>
          <p:cNvPr id="4" name="Footer Placeholder 3">
            <a:extLst>
              <a:ext uri="{FF2B5EF4-FFF2-40B4-BE49-F238E27FC236}">
                <a16:creationId xmlns:a16="http://schemas.microsoft.com/office/drawing/2014/main" id="{5CFE0448-43AB-F33D-902E-94E1847EBE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C27FCA-D4B9-9857-B772-FACFD740445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006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notesSlide" Target="../notesSlides/notesSlide4.xml"/><Relationship Id="rId7" Type="http://schemas.openxmlformats.org/officeDocument/2006/relationships/diagramQuickStyle" Target="../diagrams/quickStyle3.xml"/><Relationship Id="rId2" Type="http://schemas.openxmlformats.org/officeDocument/2006/relationships/slideLayout" Target="../slideLayouts/slideLayout6.xml"/><Relationship Id="rId1" Type="http://schemas.openxmlformats.org/officeDocument/2006/relationships/video" Target="https://www.youtube.com/embed/QihuDOyWq7c?feature=oembed" TargetMode="Externa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3.jpeg"/><Relationship Id="rId4" Type="http://schemas.openxmlformats.org/officeDocument/2006/relationships/image" Target="../media/image2.png"/><Relationship Id="rId9" Type="http://schemas.microsoft.com/office/2007/relationships/diagramDrawing" Target="../diagrams/drawing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slideLayout" Target="../slideLayouts/slideLayout6.xml"/><Relationship Id="rId7" Type="http://schemas.openxmlformats.org/officeDocument/2006/relationships/diagramQuickStyle" Target="../diagrams/quickStyle6.xml"/><Relationship Id="rId2" Type="http://schemas.openxmlformats.org/officeDocument/2006/relationships/video" Target="https://www.youtube.com/embed/W9mLcD0gP68?feature=oembed" TargetMode="External"/><Relationship Id="rId1" Type="http://schemas.openxmlformats.org/officeDocument/2006/relationships/video" Target="https://www.youtube.com/embed/AQNO3jjJ0EU?feature=oembed" TargetMode="External"/><Relationship Id="rId6" Type="http://schemas.openxmlformats.org/officeDocument/2006/relationships/diagramLayout" Target="../diagrams/layout6.xml"/><Relationship Id="rId11" Type="http://schemas.openxmlformats.org/officeDocument/2006/relationships/image" Target="../media/image6.jpeg"/><Relationship Id="rId5" Type="http://schemas.openxmlformats.org/officeDocument/2006/relationships/diagramData" Target="../diagrams/data6.xml"/><Relationship Id="rId10" Type="http://schemas.openxmlformats.org/officeDocument/2006/relationships/image" Target="../media/image5.jpeg"/><Relationship Id="rId4" Type="http://schemas.openxmlformats.org/officeDocument/2006/relationships/image" Target="../media/image2.png"/><Relationship Id="rId9" Type="http://schemas.microsoft.com/office/2007/relationships/diagramDrawing" Target="../diagrams/drawing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7.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0.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slideLayout" Target="../slideLayouts/slideLayout6.xml"/><Relationship Id="rId1" Type="http://schemas.openxmlformats.org/officeDocument/2006/relationships/video" Target="https://www.youtube.com/embed/fdG26ixIOkg?feature=oembed" TargetMode="Externa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 Id="rId9"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png"/><Relationship Id="rId7" Type="http://schemas.openxmlformats.org/officeDocument/2006/relationships/diagramColors" Target="../diagrams/colors10.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82344"/>
            <a:ext cx="9143997"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6086475"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9143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5" y="5490971"/>
            <a:ext cx="5221554" cy="1159200"/>
          </a:xfrm>
        </p:spPr>
        <p:txBody>
          <a:bodyPr vert="horz" lIns="91440" tIns="45720" rIns="91440" bIns="45720" rtlCol="0" anchor="ctr">
            <a:normAutofit/>
          </a:bodyPr>
          <a:lstStyle/>
          <a:p>
            <a:pPr algn="l" defTabSz="914400">
              <a:lnSpc>
                <a:spcPct val="90000"/>
              </a:lnSpc>
            </a:pPr>
            <a:r>
              <a:rPr lang="en-US" sz="3500" i="1" kern="1200" dirty="0">
                <a:solidFill>
                  <a:srgbClr val="FFFFFF"/>
                </a:solidFill>
                <a:latin typeface="+mj-lt"/>
                <a:ea typeface="+mj-ea"/>
                <a:cs typeface="+mj-cs"/>
              </a:rPr>
              <a:t>Quick Start</a:t>
            </a:r>
            <a:endParaRPr lang="en-US" sz="350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CE07E978-E993-EC16-1C82-29C691A71AF2}"/>
              </a:ext>
            </a:extLst>
          </p:cNvPr>
          <p:cNvSpPr txBox="1"/>
          <p:nvPr/>
        </p:nvSpPr>
        <p:spPr>
          <a:xfrm>
            <a:off x="6342391" y="5633765"/>
            <a:ext cx="2556416" cy="873612"/>
          </a:xfrm>
          <a:prstGeom prst="rect">
            <a:avLst/>
          </a:prstGeom>
        </p:spPr>
        <p:txBody>
          <a:bodyPr vert="horz" lIns="91440" tIns="45720" rIns="91440" bIns="45720" rtlCol="0" anchor="ctr">
            <a:normAutofit/>
          </a:bodyPr>
          <a:lstStyle/>
          <a:p>
            <a:pPr defTabSz="914400">
              <a:lnSpc>
                <a:spcPct val="90000"/>
              </a:lnSpc>
              <a:spcBef>
                <a:spcPts val="1000"/>
              </a:spcBef>
            </a:pPr>
            <a:r>
              <a:rPr lang="en-US" sz="1600" kern="1200">
                <a:solidFill>
                  <a:srgbClr val="FFFFFF"/>
                </a:solidFill>
                <a:latin typeface="+mn-lt"/>
                <a:ea typeface="+mn-ea"/>
                <a:cs typeface="+mn-cs"/>
              </a:rPr>
              <a:t>The </a:t>
            </a:r>
            <a:r>
              <a:rPr lang="en-US" sz="1600" b="1" kern="1200">
                <a:solidFill>
                  <a:srgbClr val="FFFFFF"/>
                </a:solidFill>
                <a:latin typeface="+mn-lt"/>
                <a:ea typeface="+mn-ea"/>
                <a:cs typeface="+mn-cs"/>
              </a:rPr>
              <a:t>MuleSoft ATINA JDE Connector </a:t>
            </a:r>
            <a:r>
              <a:rPr lang="en-US" sz="1600" kern="1200">
                <a:solidFill>
                  <a:srgbClr val="FFFFFF"/>
                </a:solidFill>
                <a:latin typeface="+mn-lt"/>
                <a:ea typeface="+mn-ea"/>
                <a:cs typeface="+mn-cs"/>
              </a:rPr>
              <a:t>requires an </a:t>
            </a:r>
            <a:r>
              <a:rPr lang="en-US" sz="1600" b="1" kern="1200">
                <a:solidFill>
                  <a:srgbClr val="FFFFFF"/>
                </a:solidFill>
                <a:latin typeface="+mn-lt"/>
                <a:ea typeface="+mn-ea"/>
                <a:cs typeface="+mn-cs"/>
              </a:rPr>
              <a:t>Atina JDE Microservice</a:t>
            </a:r>
            <a:r>
              <a:rPr lang="en-US" sz="1600" kern="1200">
                <a:solidFill>
                  <a:srgbClr val="FFFFFF"/>
                </a:solidFill>
                <a:latin typeface="+mn-lt"/>
                <a:ea typeface="+mn-ea"/>
                <a:cs typeface="+mn-cs"/>
              </a:rPr>
              <a:t> to work.</a:t>
            </a:r>
          </a:p>
        </p:txBody>
      </p:sp>
      <p:pic>
        <p:nvPicPr>
          <p:cNvPr id="1026" name="Picture 2">
            <a:extLst>
              <a:ext uri="{FF2B5EF4-FFF2-40B4-BE49-F238E27FC236}">
                <a16:creationId xmlns:a16="http://schemas.microsoft.com/office/drawing/2014/main" id="{021FB016-FB70-B2AD-8E80-FDDAB73AE06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8901" y="547712"/>
            <a:ext cx="8495662" cy="42053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0F54F-5FE8-EBA0-A1D3-FEC0E3B2C8A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482588-DB88-EAAF-11EE-98E59587FB63}"/>
              </a:ext>
            </a:extLst>
          </p:cNvPr>
          <p:cNvSpPr txBox="1"/>
          <p:nvPr/>
        </p:nvSpPr>
        <p:spPr>
          <a:xfrm>
            <a:off x="487680" y="1993673"/>
            <a:ext cx="8412480" cy="369332"/>
          </a:xfrm>
          <a:prstGeom prst="rect">
            <a:avLst/>
          </a:prstGeom>
          <a:noFill/>
        </p:spPr>
        <p:txBody>
          <a:bodyPr wrap="square">
            <a:spAutoFit/>
          </a:bodyPr>
          <a:lstStyle/>
          <a:p>
            <a:r>
              <a:rPr lang="en-US" b="1" dirty="0"/>
              <a:t>Steps</a:t>
            </a:r>
            <a:endParaRPr lang="en-US" dirty="0"/>
          </a:p>
        </p:txBody>
      </p:sp>
      <p:pic>
        <p:nvPicPr>
          <p:cNvPr id="9" name="Picture 8">
            <a:extLst>
              <a:ext uri="{FF2B5EF4-FFF2-40B4-BE49-F238E27FC236}">
                <a16:creationId xmlns:a16="http://schemas.microsoft.com/office/drawing/2014/main" id="{01942264-E92A-2A5C-0BAE-7B56A35E500B}"/>
              </a:ext>
            </a:extLst>
          </p:cNvPr>
          <p:cNvPicPr>
            <a:picLocks noChangeAspect="1"/>
          </p:cNvPicPr>
          <p:nvPr/>
        </p:nvPicPr>
        <p:blipFill>
          <a:blip r:embed="rId2"/>
          <a:stretch>
            <a:fillRect/>
          </a:stretch>
        </p:blipFill>
        <p:spPr>
          <a:xfrm>
            <a:off x="0" y="0"/>
            <a:ext cx="9144000" cy="644018"/>
          </a:xfrm>
          <a:prstGeom prst="rect">
            <a:avLst/>
          </a:prstGeom>
        </p:spPr>
      </p:pic>
      <p:sp>
        <p:nvSpPr>
          <p:cNvPr id="10" name="Title 1">
            <a:extLst>
              <a:ext uri="{FF2B5EF4-FFF2-40B4-BE49-F238E27FC236}">
                <a16:creationId xmlns:a16="http://schemas.microsoft.com/office/drawing/2014/main" id="{E8DF9E95-7A77-1D4A-52ED-8F9913FACBA0}"/>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Quick Start – All Steps</a:t>
            </a:r>
          </a:p>
        </p:txBody>
      </p:sp>
      <p:graphicFrame>
        <p:nvGraphicFramePr>
          <p:cNvPr id="14" name="TextBox 5">
            <a:extLst>
              <a:ext uri="{FF2B5EF4-FFF2-40B4-BE49-F238E27FC236}">
                <a16:creationId xmlns:a16="http://schemas.microsoft.com/office/drawing/2014/main" id="{1201A119-C4BE-BA97-9A8D-27D3035CBDA6}"/>
              </a:ext>
            </a:extLst>
          </p:cNvPr>
          <p:cNvGraphicFramePr/>
          <p:nvPr>
            <p:extLst>
              <p:ext uri="{D42A27DB-BD31-4B8C-83A1-F6EECF244321}">
                <p14:modId xmlns:p14="http://schemas.microsoft.com/office/powerpoint/2010/main" val="2839075811"/>
              </p:ext>
            </p:extLst>
          </p:nvPr>
        </p:nvGraphicFramePr>
        <p:xfrm>
          <a:off x="812800" y="2584648"/>
          <a:ext cx="7762240" cy="2308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250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6494A-ACC3-EA7E-61A5-D1EB122B85E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8217FA-8F60-4E79-44B6-F732EBA9FE99}"/>
              </a:ext>
            </a:extLst>
          </p:cNvPr>
          <p:cNvSpPr txBox="1"/>
          <p:nvPr/>
        </p:nvSpPr>
        <p:spPr>
          <a:xfrm>
            <a:off x="538480" y="1149329"/>
            <a:ext cx="8412480" cy="369332"/>
          </a:xfrm>
          <a:prstGeom prst="rect">
            <a:avLst/>
          </a:prstGeom>
          <a:noFill/>
        </p:spPr>
        <p:txBody>
          <a:bodyPr wrap="square">
            <a:spAutoFit/>
          </a:bodyPr>
          <a:lstStyle/>
          <a:p>
            <a:r>
              <a:rPr lang="en-US" b="1" dirty="0"/>
              <a:t>Key Points:</a:t>
            </a:r>
            <a:endParaRPr lang="en-US" dirty="0"/>
          </a:p>
        </p:txBody>
      </p:sp>
      <p:sp>
        <p:nvSpPr>
          <p:cNvPr id="4" name="TextBox 3">
            <a:extLst>
              <a:ext uri="{FF2B5EF4-FFF2-40B4-BE49-F238E27FC236}">
                <a16:creationId xmlns:a16="http://schemas.microsoft.com/office/drawing/2014/main" id="{BB99F18B-031E-4493-025D-DCFE84794CA6}"/>
              </a:ext>
            </a:extLst>
          </p:cNvPr>
          <p:cNvSpPr txBox="1"/>
          <p:nvPr/>
        </p:nvSpPr>
        <p:spPr>
          <a:xfrm>
            <a:off x="538480" y="1742320"/>
            <a:ext cx="7833360" cy="3373359"/>
          </a:xfrm>
          <a:prstGeom prst="rect">
            <a:avLst/>
          </a:prstGeom>
          <a:noFill/>
        </p:spPr>
        <p:txBody>
          <a:bodyPr wrap="square">
            <a:spAutoFit/>
          </a:bodyPr>
          <a:lstStyle/>
          <a:p>
            <a:pPr>
              <a:lnSpc>
                <a:spcPct val="150000"/>
              </a:lnSpc>
              <a:buFont typeface="+mj-lt"/>
              <a:buAutoNum type="arabicPeriod"/>
            </a:pPr>
            <a:r>
              <a:rPr lang="en-US" dirty="0"/>
              <a:t>This setup requires </a:t>
            </a:r>
            <a:r>
              <a:rPr lang="en-US" b="1" dirty="0"/>
              <a:t>administrative access</a:t>
            </a:r>
            <a:r>
              <a:rPr lang="en-US" dirty="0"/>
              <a:t> to your JDE environment and servers.</a:t>
            </a:r>
          </a:p>
          <a:p>
            <a:pPr>
              <a:lnSpc>
                <a:spcPct val="150000"/>
              </a:lnSpc>
              <a:buFont typeface="+mj-lt"/>
              <a:buAutoNum type="arabicPeriod"/>
            </a:pPr>
            <a:r>
              <a:rPr lang="en-US" dirty="0"/>
              <a:t>You will need to configure </a:t>
            </a:r>
            <a:r>
              <a:rPr lang="en-US" b="1" dirty="0"/>
              <a:t>JDE interoperability</a:t>
            </a:r>
            <a:r>
              <a:rPr lang="en-US" dirty="0"/>
              <a:t> and </a:t>
            </a:r>
            <a:r>
              <a:rPr lang="en-US" b="1" dirty="0"/>
              <a:t>network access</a:t>
            </a:r>
            <a:r>
              <a:rPr lang="en-US" dirty="0"/>
              <a:t> for the microservice.</a:t>
            </a:r>
          </a:p>
          <a:p>
            <a:pPr>
              <a:lnSpc>
                <a:spcPct val="150000"/>
              </a:lnSpc>
              <a:buFont typeface="+mj-lt"/>
              <a:buAutoNum type="arabicPeriod"/>
            </a:pPr>
            <a:r>
              <a:rPr lang="en-US" dirty="0"/>
              <a:t>Installation involves:</a:t>
            </a:r>
          </a:p>
          <a:p>
            <a:pPr marL="742950" lvl="1" indent="-285750">
              <a:lnSpc>
                <a:spcPct val="150000"/>
              </a:lnSpc>
              <a:buFont typeface="Arial" panose="020B0604020202020204" pitchFamily="34" charset="0"/>
              <a:buChar char="•"/>
            </a:pPr>
            <a:r>
              <a:rPr lang="en-US" dirty="0"/>
              <a:t>Generate JDE INI Files.</a:t>
            </a:r>
          </a:p>
          <a:p>
            <a:pPr marL="742950" lvl="1" indent="-285750">
              <a:lnSpc>
                <a:spcPct val="150000"/>
              </a:lnSpc>
              <a:buFont typeface="Arial" panose="020B0604020202020204" pitchFamily="34" charset="0"/>
              <a:buChar char="•"/>
            </a:pPr>
            <a:r>
              <a:rPr lang="en-US" dirty="0"/>
              <a:t>Generate JARs Libraries.</a:t>
            </a:r>
          </a:p>
          <a:p>
            <a:pPr marL="742950" lvl="1" indent="-285750">
              <a:lnSpc>
                <a:spcPct val="150000"/>
              </a:lnSpc>
              <a:buFont typeface="Arial" panose="020B0604020202020204" pitchFamily="34" charset="0"/>
              <a:buChar char="•"/>
            </a:pPr>
            <a:r>
              <a:rPr lang="en-US" dirty="0"/>
              <a:t>Microserver Installation.</a:t>
            </a:r>
          </a:p>
          <a:p>
            <a:pPr marL="742950" lvl="1" indent="-285750">
              <a:lnSpc>
                <a:spcPct val="150000"/>
              </a:lnSpc>
              <a:buFont typeface="Arial" panose="020B0604020202020204" pitchFamily="34" charset="0"/>
              <a:buChar char="•"/>
            </a:pPr>
            <a:r>
              <a:rPr lang="en-US" dirty="0"/>
              <a:t>Install MULE JDE Connector</a:t>
            </a:r>
          </a:p>
        </p:txBody>
      </p:sp>
      <p:sp>
        <p:nvSpPr>
          <p:cNvPr id="7" name="TextBox 6">
            <a:extLst>
              <a:ext uri="{FF2B5EF4-FFF2-40B4-BE49-F238E27FC236}">
                <a16:creationId xmlns:a16="http://schemas.microsoft.com/office/drawing/2014/main" id="{A78AC655-9817-A5B9-5DC9-F9845C1A7A72}"/>
              </a:ext>
            </a:extLst>
          </p:cNvPr>
          <p:cNvSpPr txBox="1"/>
          <p:nvPr/>
        </p:nvSpPr>
        <p:spPr>
          <a:xfrm>
            <a:off x="538480" y="5339338"/>
            <a:ext cx="7599680" cy="646331"/>
          </a:xfrm>
          <a:prstGeom prst="rect">
            <a:avLst/>
          </a:prstGeom>
          <a:noFill/>
        </p:spPr>
        <p:txBody>
          <a:bodyPr wrap="square">
            <a:spAutoFit/>
          </a:bodyPr>
          <a:lstStyle/>
          <a:p>
            <a:pPr>
              <a:buNone/>
            </a:pPr>
            <a:r>
              <a:rPr lang="en-US" i="1" dirty="0"/>
              <a:t>In the next slides, we will provide a detailed, step-by-step guide to deploy and configure the microservice locally.</a:t>
            </a:r>
            <a:endParaRPr lang="en-US" dirty="0"/>
          </a:p>
        </p:txBody>
      </p:sp>
      <p:pic>
        <p:nvPicPr>
          <p:cNvPr id="10" name="Picture 9">
            <a:extLst>
              <a:ext uri="{FF2B5EF4-FFF2-40B4-BE49-F238E27FC236}">
                <a16:creationId xmlns:a16="http://schemas.microsoft.com/office/drawing/2014/main" id="{307E50B7-C607-65D0-2389-902C912FE628}"/>
              </a:ext>
            </a:extLst>
          </p:cNvPr>
          <p:cNvPicPr>
            <a:picLocks noChangeAspect="1"/>
          </p:cNvPicPr>
          <p:nvPr/>
        </p:nvPicPr>
        <p:blipFill>
          <a:blip r:embed="rId3"/>
          <a:stretch>
            <a:fillRect/>
          </a:stretch>
        </p:blipFill>
        <p:spPr>
          <a:xfrm>
            <a:off x="0" y="0"/>
            <a:ext cx="9144000" cy="644018"/>
          </a:xfrm>
          <a:prstGeom prst="rect">
            <a:avLst/>
          </a:prstGeom>
        </p:spPr>
      </p:pic>
      <p:sp>
        <p:nvSpPr>
          <p:cNvPr id="11" name="Title 1">
            <a:extLst>
              <a:ext uri="{FF2B5EF4-FFF2-40B4-BE49-F238E27FC236}">
                <a16:creationId xmlns:a16="http://schemas.microsoft.com/office/drawing/2014/main" id="{3B83A1AA-6427-2716-3DFA-6D354B3893ED}"/>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Quick Start – Key Points</a:t>
            </a:r>
          </a:p>
        </p:txBody>
      </p:sp>
    </p:spTree>
    <p:extLst>
      <p:ext uri="{BB962C8B-B14F-4D97-AF65-F5344CB8AC3E}">
        <p14:creationId xmlns:p14="http://schemas.microsoft.com/office/powerpoint/2010/main" val="3511279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B6FC5-D0BB-C2BC-C410-2058BBD272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F44F3F2-7961-1100-69BE-0FC8A9FDCD05}"/>
              </a:ext>
            </a:extLst>
          </p:cNvPr>
          <p:cNvPicPr>
            <a:picLocks noChangeAspect="1"/>
          </p:cNvPicPr>
          <p:nvPr/>
        </p:nvPicPr>
        <p:blipFill>
          <a:blip r:embed="rId3"/>
          <a:stretch>
            <a:fillRect/>
          </a:stretch>
        </p:blipFill>
        <p:spPr>
          <a:xfrm>
            <a:off x="0" y="924674"/>
            <a:ext cx="9144000" cy="4864232"/>
          </a:xfrm>
          <a:prstGeom prst="rect">
            <a:avLst/>
          </a:prstGeom>
        </p:spPr>
      </p:pic>
      <p:sp>
        <p:nvSpPr>
          <p:cNvPr id="7" name="Title 1">
            <a:extLst>
              <a:ext uri="{FF2B5EF4-FFF2-40B4-BE49-F238E27FC236}">
                <a16:creationId xmlns:a16="http://schemas.microsoft.com/office/drawing/2014/main" id="{969FCCDE-2AF7-BF6A-C3BF-29AA796D1952}"/>
              </a:ext>
            </a:extLst>
          </p:cNvPr>
          <p:cNvSpPr txBox="1">
            <a:spLocks/>
          </p:cNvSpPr>
          <p:nvPr/>
        </p:nvSpPr>
        <p:spPr>
          <a:xfrm>
            <a:off x="490451" y="142681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Generate INI Files</a:t>
            </a:r>
            <a:endParaRPr lang="en-US" sz="3200" noProof="1">
              <a:solidFill>
                <a:schemeClr val="bg1"/>
              </a:solidFill>
            </a:endParaRPr>
          </a:p>
        </p:txBody>
      </p:sp>
      <p:graphicFrame>
        <p:nvGraphicFramePr>
          <p:cNvPr id="2" name="TextBox 5">
            <a:extLst>
              <a:ext uri="{FF2B5EF4-FFF2-40B4-BE49-F238E27FC236}">
                <a16:creationId xmlns:a16="http://schemas.microsoft.com/office/drawing/2014/main" id="{5EC8233E-8AD1-D9F3-838B-C23CF6A33F2C}"/>
              </a:ext>
            </a:extLst>
          </p:cNvPr>
          <p:cNvGraphicFramePr/>
          <p:nvPr>
            <p:extLst>
              <p:ext uri="{D42A27DB-BD31-4B8C-83A1-F6EECF244321}">
                <p14:modId xmlns:p14="http://schemas.microsoft.com/office/powerpoint/2010/main" val="1542543187"/>
              </p:ext>
            </p:extLst>
          </p:nvPr>
        </p:nvGraphicFramePr>
        <p:xfrm>
          <a:off x="1067363" y="2616082"/>
          <a:ext cx="7254369" cy="16258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61120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BD62D-92A3-CD26-83AB-4276264F5E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23BE841-C62A-C05A-EAA3-047406BF549E}"/>
              </a:ext>
            </a:extLst>
          </p:cNvPr>
          <p:cNvPicPr>
            <a:picLocks noChangeAspect="1"/>
          </p:cNvPicPr>
          <p:nvPr/>
        </p:nvPicPr>
        <p:blipFill>
          <a:blip r:embed="rId4"/>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DDB896DC-2072-A366-E8D1-66FA3950F3EC}"/>
              </a:ext>
            </a:extLst>
          </p:cNvPr>
          <p:cNvSpPr txBox="1">
            <a:spLocks/>
          </p:cNvSpPr>
          <p:nvPr/>
        </p:nvSpPr>
        <p:spPr>
          <a:xfrm>
            <a:off x="367903" y="4107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Generate INI Files</a:t>
            </a:r>
            <a:endParaRPr lang="en-US" sz="3200" noProof="1">
              <a:solidFill>
                <a:schemeClr val="bg1"/>
              </a:solidFill>
            </a:endParaRPr>
          </a:p>
        </p:txBody>
      </p:sp>
      <p:sp>
        <p:nvSpPr>
          <p:cNvPr id="3" name="TextBox 2">
            <a:extLst>
              <a:ext uri="{FF2B5EF4-FFF2-40B4-BE49-F238E27FC236}">
                <a16:creationId xmlns:a16="http://schemas.microsoft.com/office/drawing/2014/main" id="{9BBF3747-5AA9-D5BF-0769-050021BB6835}"/>
              </a:ext>
            </a:extLst>
          </p:cNvPr>
          <p:cNvSpPr txBox="1"/>
          <p:nvPr/>
        </p:nvSpPr>
        <p:spPr>
          <a:xfrm>
            <a:off x="599440" y="1521786"/>
            <a:ext cx="7945120" cy="954107"/>
          </a:xfrm>
          <a:prstGeom prst="rect">
            <a:avLst/>
          </a:prstGeom>
          <a:noFill/>
        </p:spPr>
        <p:txBody>
          <a:bodyPr wrap="square">
            <a:spAutoFit/>
          </a:bodyPr>
          <a:lstStyle/>
          <a:p>
            <a:r>
              <a:rPr lang="en-US" sz="1400" b="1" i="0" dirty="0">
                <a:solidFill>
                  <a:schemeClr val="bg1"/>
                </a:solidFill>
                <a:effectLst/>
              </a:rPr>
              <a:t>JDE Atina Generate Configuration Files Tool</a:t>
            </a:r>
            <a:r>
              <a:rPr lang="en-US" sz="1400" b="0" i="0" dirty="0">
                <a:solidFill>
                  <a:schemeClr val="bg1"/>
                </a:solidFill>
                <a:effectLst/>
              </a:rPr>
              <a:t> - </a:t>
            </a:r>
            <a:r>
              <a:rPr lang="en-US" sz="1400" b="1" dirty="0">
                <a:solidFill>
                  <a:schemeClr val="bg1"/>
                </a:solidFill>
              </a:rPr>
              <a:t>Using the Java CLI Application</a:t>
            </a:r>
          </a:p>
          <a:p>
            <a:r>
              <a:rPr lang="en-US" sz="1400" b="0" i="0" dirty="0">
                <a:solidFill>
                  <a:schemeClr val="bg1"/>
                </a:solidFill>
                <a:effectLst/>
              </a:rPr>
              <a:t>It help to you to generate a base INI files. It takes all information from </a:t>
            </a:r>
            <a:r>
              <a:rPr lang="en-US" sz="1400" b="1" i="0" dirty="0">
                <a:solidFill>
                  <a:schemeClr val="bg1"/>
                </a:solidFill>
                <a:effectLst/>
              </a:rPr>
              <a:t>JDE Enterprise  Server Manager </a:t>
            </a:r>
            <a:r>
              <a:rPr lang="en-US" sz="1400" b="0" i="0" dirty="0">
                <a:solidFill>
                  <a:schemeClr val="bg1"/>
                </a:solidFill>
                <a:effectLst/>
              </a:rPr>
              <a:t>using </a:t>
            </a:r>
            <a:r>
              <a:rPr lang="en-US" sz="1400" b="1" i="0" dirty="0">
                <a:solidFill>
                  <a:schemeClr val="bg1"/>
                </a:solidFill>
                <a:effectLst/>
              </a:rPr>
              <a:t>REST API </a:t>
            </a:r>
            <a:r>
              <a:rPr lang="en-US" sz="1400" b="0" i="0" dirty="0">
                <a:solidFill>
                  <a:schemeClr val="bg1"/>
                </a:solidFill>
                <a:effectLst/>
              </a:rPr>
              <a:t>for Server Manager. This tool will require to select the HTML Client instance according to your environment.</a:t>
            </a:r>
            <a:endParaRPr lang="en-AR" sz="1400" dirty="0">
              <a:solidFill>
                <a:schemeClr val="bg1"/>
              </a:solidFill>
            </a:endParaRPr>
          </a:p>
        </p:txBody>
      </p:sp>
      <p:sp>
        <p:nvSpPr>
          <p:cNvPr id="4" name="TextBox 3">
            <a:extLst>
              <a:ext uri="{FF2B5EF4-FFF2-40B4-BE49-F238E27FC236}">
                <a16:creationId xmlns:a16="http://schemas.microsoft.com/office/drawing/2014/main" id="{EA4A54C3-7C47-B3F0-F2C2-3F272C701998}"/>
              </a:ext>
            </a:extLst>
          </p:cNvPr>
          <p:cNvSpPr txBox="1"/>
          <p:nvPr/>
        </p:nvSpPr>
        <p:spPr>
          <a:xfrm>
            <a:off x="690880" y="2974263"/>
            <a:ext cx="5131276" cy="1136145"/>
          </a:xfrm>
          <a:prstGeom prst="rect">
            <a:avLst/>
          </a:prstGeom>
          <a:noFill/>
        </p:spPr>
        <p:txBody>
          <a:bodyPr wrap="square">
            <a:spAutoFit/>
          </a:bodyPr>
          <a:lstStyle/>
          <a:p>
            <a:r>
              <a:rPr lang="en-US" sz="1400" b="1" dirty="0"/>
              <a:t>Prerequisites</a:t>
            </a:r>
          </a:p>
          <a:p>
            <a:endParaRPr lang="en-US" sz="1400" b="1" dirty="0"/>
          </a:p>
          <a:p>
            <a:pPr marL="285750" indent="-285750">
              <a:lnSpc>
                <a:spcPct val="150000"/>
              </a:lnSpc>
              <a:buFont typeface="Arial" panose="020B0604020202020204" pitchFamily="34" charset="0"/>
              <a:buChar char="•"/>
            </a:pPr>
            <a:r>
              <a:rPr lang="en-US" sz="1400" b="1" dirty="0"/>
              <a:t>OpenJDK 8</a:t>
            </a:r>
            <a:r>
              <a:rPr lang="en-US" sz="1400" dirty="0"/>
              <a:t> installed (required by the tool)</a:t>
            </a:r>
          </a:p>
          <a:p>
            <a:pPr marL="285750" indent="-285750">
              <a:lnSpc>
                <a:spcPct val="150000"/>
              </a:lnSpc>
              <a:buFont typeface="Arial" panose="020B0604020202020204" pitchFamily="34" charset="0"/>
              <a:buChar char="•"/>
            </a:pPr>
            <a:r>
              <a:rPr lang="en-US" sz="1400" dirty="0"/>
              <a:t>Network access and Credentials to </a:t>
            </a:r>
            <a:r>
              <a:rPr lang="en-US" sz="1400" b="1" dirty="0"/>
              <a:t>JDE Server Manager</a:t>
            </a:r>
            <a:endParaRPr lang="en-US" sz="1400" dirty="0"/>
          </a:p>
        </p:txBody>
      </p:sp>
      <p:grpSp>
        <p:nvGrpSpPr>
          <p:cNvPr id="8" name="Group 7">
            <a:extLst>
              <a:ext uri="{FF2B5EF4-FFF2-40B4-BE49-F238E27FC236}">
                <a16:creationId xmlns:a16="http://schemas.microsoft.com/office/drawing/2014/main" id="{CD562320-AB6B-CF27-B8F4-427C36CFAEFB}"/>
              </a:ext>
            </a:extLst>
          </p:cNvPr>
          <p:cNvGrpSpPr/>
          <p:nvPr/>
        </p:nvGrpSpPr>
        <p:grpSpPr>
          <a:xfrm>
            <a:off x="6588116" y="3095986"/>
            <a:ext cx="1956444" cy="407206"/>
            <a:chOff x="6822" y="542430"/>
            <a:chExt cx="2039104" cy="1223462"/>
          </a:xfrm>
        </p:grpSpPr>
        <p:sp>
          <p:nvSpPr>
            <p:cNvPr id="15" name="Rounded Rectangle 14">
              <a:extLst>
                <a:ext uri="{FF2B5EF4-FFF2-40B4-BE49-F238E27FC236}">
                  <a16:creationId xmlns:a16="http://schemas.microsoft.com/office/drawing/2014/main" id="{FCF64767-3221-A686-F932-AC18AFA4BE1F}"/>
                </a:ext>
              </a:extLst>
            </p:cNvPr>
            <p:cNvSpPr/>
            <p:nvPr/>
          </p:nvSpPr>
          <p:spPr>
            <a:xfrm>
              <a:off x="6822" y="542430"/>
              <a:ext cx="2039104" cy="122346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16" name="Rounded Rectangle 4">
              <a:extLst>
                <a:ext uri="{FF2B5EF4-FFF2-40B4-BE49-F238E27FC236}">
                  <a16:creationId xmlns:a16="http://schemas.microsoft.com/office/drawing/2014/main" id="{4F98592A-333D-DC42-9AA6-3F8F9BD5DC60}"/>
                </a:ext>
              </a:extLst>
            </p:cNvPr>
            <p:cNvSpPr txBox="1"/>
            <p:nvPr/>
          </p:nvSpPr>
          <p:spPr>
            <a:xfrm>
              <a:off x="42656" y="578264"/>
              <a:ext cx="1967436" cy="11517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Download The Tool</a:t>
              </a:r>
              <a:endParaRPr lang="en-US" sz="1400" kern="1200" dirty="0"/>
            </a:p>
          </p:txBody>
        </p:sp>
      </p:grpSp>
      <p:grpSp>
        <p:nvGrpSpPr>
          <p:cNvPr id="9" name="Group 8">
            <a:extLst>
              <a:ext uri="{FF2B5EF4-FFF2-40B4-BE49-F238E27FC236}">
                <a16:creationId xmlns:a16="http://schemas.microsoft.com/office/drawing/2014/main" id="{D6EB626B-5480-D854-4325-EF5D42F47C16}"/>
              </a:ext>
            </a:extLst>
          </p:cNvPr>
          <p:cNvGrpSpPr/>
          <p:nvPr/>
        </p:nvGrpSpPr>
        <p:grpSpPr>
          <a:xfrm rot="5400000">
            <a:off x="7393224" y="3558179"/>
            <a:ext cx="353688" cy="418952"/>
            <a:chOff x="2225367" y="901313"/>
            <a:chExt cx="432290" cy="505697"/>
          </a:xfrm>
        </p:grpSpPr>
        <p:sp>
          <p:nvSpPr>
            <p:cNvPr id="13" name="Right Arrow 12">
              <a:extLst>
                <a:ext uri="{FF2B5EF4-FFF2-40B4-BE49-F238E27FC236}">
                  <a16:creationId xmlns:a16="http://schemas.microsoft.com/office/drawing/2014/main" id="{691F1428-44F2-FED5-CB53-D5CB2033B43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4" name="Right Arrow 6">
              <a:extLst>
                <a:ext uri="{FF2B5EF4-FFF2-40B4-BE49-F238E27FC236}">
                  <a16:creationId xmlns:a16="http://schemas.microsoft.com/office/drawing/2014/main" id="{A86B0FAB-66DD-175E-F16F-35EC30C46B7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9" name="Group 18">
            <a:extLst>
              <a:ext uri="{FF2B5EF4-FFF2-40B4-BE49-F238E27FC236}">
                <a16:creationId xmlns:a16="http://schemas.microsoft.com/office/drawing/2014/main" id="{2A50EADC-340B-314E-4746-E212C6818359}"/>
              </a:ext>
            </a:extLst>
          </p:cNvPr>
          <p:cNvGrpSpPr/>
          <p:nvPr/>
        </p:nvGrpSpPr>
        <p:grpSpPr>
          <a:xfrm>
            <a:off x="6588115" y="4032118"/>
            <a:ext cx="1956444" cy="407206"/>
            <a:chOff x="6822" y="542430"/>
            <a:chExt cx="2039104" cy="1223462"/>
          </a:xfrm>
        </p:grpSpPr>
        <p:sp>
          <p:nvSpPr>
            <p:cNvPr id="20" name="Rounded Rectangle 19">
              <a:extLst>
                <a:ext uri="{FF2B5EF4-FFF2-40B4-BE49-F238E27FC236}">
                  <a16:creationId xmlns:a16="http://schemas.microsoft.com/office/drawing/2014/main" id="{43865409-D23C-220F-5E5B-B6FA85D5D004}"/>
                </a:ext>
              </a:extLst>
            </p:cNvPr>
            <p:cNvSpPr/>
            <p:nvPr/>
          </p:nvSpPr>
          <p:spPr>
            <a:xfrm>
              <a:off x="6822" y="542430"/>
              <a:ext cx="2039104" cy="122346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21" name="Rounded Rectangle 4">
              <a:extLst>
                <a:ext uri="{FF2B5EF4-FFF2-40B4-BE49-F238E27FC236}">
                  <a16:creationId xmlns:a16="http://schemas.microsoft.com/office/drawing/2014/main" id="{7B6D5B40-2CFA-2578-5FC1-97F63CEE8A10}"/>
                </a:ext>
              </a:extLst>
            </p:cNvPr>
            <p:cNvSpPr txBox="1"/>
            <p:nvPr/>
          </p:nvSpPr>
          <p:spPr>
            <a:xfrm>
              <a:off x="42656" y="578264"/>
              <a:ext cx="1967436" cy="11517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Run Generation</a:t>
              </a:r>
              <a:endParaRPr lang="en-US" sz="1400" kern="1200" dirty="0"/>
            </a:p>
          </p:txBody>
        </p:sp>
      </p:grpSp>
      <p:graphicFrame>
        <p:nvGraphicFramePr>
          <p:cNvPr id="2" name="TextBox 5">
            <a:extLst>
              <a:ext uri="{FF2B5EF4-FFF2-40B4-BE49-F238E27FC236}">
                <a16:creationId xmlns:a16="http://schemas.microsoft.com/office/drawing/2014/main" id="{4849BC00-82CF-B634-EA6C-D47F6A10CEDA}"/>
              </a:ext>
            </a:extLst>
          </p:cNvPr>
          <p:cNvGraphicFramePr/>
          <p:nvPr>
            <p:extLst>
              <p:ext uri="{D42A27DB-BD31-4B8C-83A1-F6EECF244321}">
                <p14:modId xmlns:p14="http://schemas.microsoft.com/office/powerpoint/2010/main" val="351358439"/>
              </p:ext>
            </p:extLst>
          </p:nvPr>
        </p:nvGraphicFramePr>
        <p:xfrm>
          <a:off x="3256518" y="876769"/>
          <a:ext cx="3029734" cy="3693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3" name="Online Media 22" descr="Create INI Files">
            <a:hlinkClick r:id="" action="ppaction://media"/>
            <a:extLst>
              <a:ext uri="{FF2B5EF4-FFF2-40B4-BE49-F238E27FC236}">
                <a16:creationId xmlns:a16="http://schemas.microsoft.com/office/drawing/2014/main" id="{B29D4926-8BCC-9BF6-108F-9E6076624A97}"/>
              </a:ext>
            </a:extLst>
          </p:cNvPr>
          <p:cNvPicPr>
            <a:picLocks noRot="1" noChangeAspect="1"/>
          </p:cNvPicPr>
          <p:nvPr>
            <a:videoFile r:link="rId1"/>
          </p:nvPr>
        </p:nvPicPr>
        <p:blipFill>
          <a:blip r:embed="rId10"/>
          <a:stretch>
            <a:fillRect/>
          </a:stretch>
        </p:blipFill>
        <p:spPr>
          <a:xfrm>
            <a:off x="2555886" y="4292446"/>
            <a:ext cx="2967339" cy="2225504"/>
          </a:xfrm>
          <a:prstGeom prst="rect">
            <a:avLst/>
          </a:prstGeom>
        </p:spPr>
      </p:pic>
    </p:spTree>
    <p:extLst>
      <p:ext uri="{BB962C8B-B14F-4D97-AF65-F5344CB8AC3E}">
        <p14:creationId xmlns:p14="http://schemas.microsoft.com/office/powerpoint/2010/main" val="188092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3"/>
                </p:tgtEl>
              </p:cMediaNode>
            </p:video>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3"/>
                                        </p:tgtEl>
                                      </p:cBhvr>
                                    </p:cmd>
                                  </p:childTnLst>
                                </p:cTn>
                              </p:par>
                            </p:childTnLst>
                          </p:cTn>
                        </p:par>
                      </p:childTnLst>
                    </p:cTn>
                  </p:par>
                </p:childTnLst>
              </p:cTn>
              <p:nextCondLst>
                <p:cond evt="onClick" delay="0">
                  <p:tgtEl>
                    <p:spTgt spid="2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A4DB0-5B15-4558-9AAE-3B9C53CEE56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7DFE16E-5392-6474-CC1D-92B86B5BF2A6}"/>
              </a:ext>
            </a:extLst>
          </p:cNvPr>
          <p:cNvSpPr txBox="1"/>
          <p:nvPr/>
        </p:nvSpPr>
        <p:spPr>
          <a:xfrm>
            <a:off x="599440" y="1417638"/>
            <a:ext cx="7945120" cy="307777"/>
          </a:xfrm>
          <a:prstGeom prst="rect">
            <a:avLst/>
          </a:prstGeom>
          <a:noFill/>
        </p:spPr>
        <p:txBody>
          <a:bodyPr wrap="square">
            <a:spAutoFit/>
          </a:bodyPr>
          <a:lstStyle/>
          <a:p>
            <a:r>
              <a:rPr lang="en-US" sz="1400" b="1" i="0">
                <a:effectLst/>
              </a:rPr>
              <a:t>Step 1 -</a:t>
            </a:r>
            <a:r>
              <a:rPr lang="en-US" sz="1400" i="0">
                <a:effectLst/>
              </a:rPr>
              <a:t> </a:t>
            </a:r>
            <a:r>
              <a:rPr lang="en-US" sz="1400"/>
              <a:t>Download the tool </a:t>
            </a:r>
            <a:endParaRPr lang="en-US" sz="1400" dirty="0"/>
          </a:p>
        </p:txBody>
      </p:sp>
      <p:sp>
        <p:nvSpPr>
          <p:cNvPr id="9" name="TextBox 8">
            <a:extLst>
              <a:ext uri="{FF2B5EF4-FFF2-40B4-BE49-F238E27FC236}">
                <a16:creationId xmlns:a16="http://schemas.microsoft.com/office/drawing/2014/main" id="{F3D01103-A330-5B07-0322-A5685FE576AE}"/>
              </a:ext>
            </a:extLst>
          </p:cNvPr>
          <p:cNvSpPr txBox="1"/>
          <p:nvPr/>
        </p:nvSpPr>
        <p:spPr>
          <a:xfrm>
            <a:off x="782320" y="2006640"/>
            <a:ext cx="5104130" cy="1261884"/>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Linux</a:t>
            </a:r>
          </a:p>
          <a:p>
            <a:endParaRPr lang="en-US" sz="1400" noProof="1"/>
          </a:p>
          <a:p>
            <a:r>
              <a:rPr lang="en-US" sz="1200" noProof="1">
                <a:solidFill>
                  <a:srgbClr val="FF0000"/>
                </a:solidFill>
                <a:latin typeface="Consolas" panose="020B0609020204030204" pitchFamily="49" charset="0"/>
                <a:cs typeface="Consolas" panose="020B0609020204030204" pitchFamily="49" charset="0"/>
              </a:rPr>
              <a:t>curl</a:t>
            </a:r>
            <a:r>
              <a:rPr lang="en-US" sz="1200" noProof="1">
                <a:latin typeface="Consolas" panose="020B0609020204030204" pitchFamily="49" charset="0"/>
                <a:cs typeface="Consolas" panose="020B0609020204030204" pitchFamily="49" charset="0"/>
              </a:rPr>
              <a:t> "https://jfrog.atina-connection.com/artifactory/libs-release-local/com/atina/jd-create-ini-files/1.0.0/jd-create-ini-files-1.0.0.jar"</a:t>
            </a:r>
          </a:p>
          <a:p>
            <a:r>
              <a:rPr lang="en-US" sz="1200" noProof="1">
                <a:latin typeface="Consolas" panose="020B0609020204030204" pitchFamily="49" charset="0"/>
                <a:cs typeface="Consolas" panose="020B0609020204030204" pitchFamily="49" charset="0"/>
              </a:rPr>
              <a:t>  </a:t>
            </a:r>
            <a:r>
              <a:rPr lang="en-US" sz="1200" noProof="1">
                <a:solidFill>
                  <a:srgbClr val="FF0000"/>
                </a:solidFill>
                <a:latin typeface="Consolas" panose="020B0609020204030204" pitchFamily="49" charset="0"/>
                <a:cs typeface="Consolas" panose="020B0609020204030204" pitchFamily="49" charset="0"/>
              </a:rPr>
              <a:t>-o</a:t>
            </a:r>
            <a:r>
              <a:rPr lang="en-US" sz="1200" noProof="1">
                <a:latin typeface="Consolas" panose="020B0609020204030204" pitchFamily="49" charset="0"/>
                <a:cs typeface="Consolas" panose="020B0609020204030204" pitchFamily="49" charset="0"/>
              </a:rPr>
              <a:t> jd-create-ini-files-1.0.0.jar</a:t>
            </a:r>
            <a:endParaRPr lang="en-US" sz="1400" b="0" i="0" noProof="1">
              <a:effectLst/>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BDB4B05E-C864-E902-D8F4-EADAB5A9AE1E}"/>
              </a:ext>
            </a:extLst>
          </p:cNvPr>
          <p:cNvSpPr txBox="1"/>
          <p:nvPr/>
        </p:nvSpPr>
        <p:spPr>
          <a:xfrm>
            <a:off x="782320" y="3457416"/>
            <a:ext cx="5104130" cy="144655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Windows PowerShell </a:t>
            </a:r>
          </a:p>
          <a:p>
            <a:endParaRPr lang="en-US" sz="1400" noProof="1"/>
          </a:p>
          <a:p>
            <a:r>
              <a:rPr lang="en-US" sz="1200" noProof="1">
                <a:solidFill>
                  <a:srgbClr val="FF0000"/>
                </a:solidFill>
                <a:latin typeface="Consolas" panose="020B0609020204030204" pitchFamily="49" charset="0"/>
                <a:cs typeface="Consolas" panose="020B0609020204030204" pitchFamily="49" charset="0"/>
              </a:rPr>
              <a:t>curl.exe </a:t>
            </a:r>
            <a:r>
              <a:rPr lang="en-US" sz="1200" noProof="1">
                <a:latin typeface="Consolas" panose="020B0609020204030204" pitchFamily="49" charset="0"/>
                <a:cs typeface="Consolas" panose="020B0609020204030204" pitchFamily="49" charset="0"/>
              </a:rPr>
              <a:t>"https://jfrog.atina-connection.com/artifactory/libs-release-local/com/atina/jd-create-ini-files/1.0.0/jd-create-ini-files-1.0.0.jar" </a:t>
            </a:r>
          </a:p>
          <a:p>
            <a:r>
              <a:rPr lang="en-US" sz="1200" noProof="1">
                <a:latin typeface="Consolas" panose="020B0609020204030204" pitchFamily="49" charset="0"/>
                <a:cs typeface="Consolas" panose="020B0609020204030204" pitchFamily="49" charset="0"/>
              </a:rPr>
              <a:t>  </a:t>
            </a:r>
            <a:r>
              <a:rPr lang="en-US" sz="1200" noProof="1">
                <a:solidFill>
                  <a:srgbClr val="FF0000"/>
                </a:solidFill>
                <a:latin typeface="Consolas" panose="020B0609020204030204" pitchFamily="49" charset="0"/>
                <a:cs typeface="Consolas" panose="020B0609020204030204" pitchFamily="49" charset="0"/>
              </a:rPr>
              <a:t>-o</a:t>
            </a:r>
            <a:r>
              <a:rPr lang="en-US" sz="1200" noProof="1">
                <a:latin typeface="Consolas" panose="020B0609020204030204" pitchFamily="49" charset="0"/>
                <a:cs typeface="Consolas" panose="020B0609020204030204" pitchFamily="49" charset="0"/>
              </a:rPr>
              <a:t> "jd-create-ini-files-1.0.0.jar"</a:t>
            </a:r>
            <a:endParaRPr lang="en-US" sz="1400" b="0" i="0" noProof="1">
              <a:effectLst/>
              <a:latin typeface="Consolas" panose="020B0609020204030204" pitchFamily="49" charset="0"/>
              <a:cs typeface="Consolas" panose="020B0609020204030204" pitchFamily="49" charset="0"/>
            </a:endParaRPr>
          </a:p>
        </p:txBody>
      </p:sp>
      <p:pic>
        <p:nvPicPr>
          <p:cNvPr id="6" name="Picture 5">
            <a:extLst>
              <a:ext uri="{FF2B5EF4-FFF2-40B4-BE49-F238E27FC236}">
                <a16:creationId xmlns:a16="http://schemas.microsoft.com/office/drawing/2014/main" id="{99C4EC71-5850-85BC-C100-EAD41377E7E6}"/>
              </a:ext>
            </a:extLst>
          </p:cNvPr>
          <p:cNvPicPr>
            <a:picLocks noChangeAspect="1"/>
          </p:cNvPicPr>
          <p:nvPr/>
        </p:nvPicPr>
        <p:blipFill>
          <a:blip r:embed="rId2"/>
          <a:stretch>
            <a:fillRect/>
          </a:stretch>
        </p:blipFill>
        <p:spPr>
          <a:xfrm>
            <a:off x="0" y="0"/>
            <a:ext cx="9144000" cy="644018"/>
          </a:xfrm>
          <a:prstGeom prst="rect">
            <a:avLst/>
          </a:prstGeom>
        </p:spPr>
      </p:pic>
      <p:sp>
        <p:nvSpPr>
          <p:cNvPr id="8" name="Title 1">
            <a:extLst>
              <a:ext uri="{FF2B5EF4-FFF2-40B4-BE49-F238E27FC236}">
                <a16:creationId xmlns:a16="http://schemas.microsoft.com/office/drawing/2014/main" id="{13280834-BD9E-5734-D9B3-DC44F8AE4560}"/>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1 - Generate INI Files - Download</a:t>
            </a:r>
          </a:p>
        </p:txBody>
      </p:sp>
      <p:grpSp>
        <p:nvGrpSpPr>
          <p:cNvPr id="2" name="Group 1">
            <a:extLst>
              <a:ext uri="{FF2B5EF4-FFF2-40B4-BE49-F238E27FC236}">
                <a16:creationId xmlns:a16="http://schemas.microsoft.com/office/drawing/2014/main" id="{A3B4C607-959F-7E5C-F58F-737C34413531}"/>
              </a:ext>
            </a:extLst>
          </p:cNvPr>
          <p:cNvGrpSpPr/>
          <p:nvPr/>
        </p:nvGrpSpPr>
        <p:grpSpPr>
          <a:xfrm>
            <a:off x="6759566" y="960005"/>
            <a:ext cx="1956444" cy="407206"/>
            <a:chOff x="6822" y="542430"/>
            <a:chExt cx="2039104" cy="1223462"/>
          </a:xfrm>
        </p:grpSpPr>
        <p:sp>
          <p:nvSpPr>
            <p:cNvPr id="4" name="Rounded Rectangle 3">
              <a:extLst>
                <a:ext uri="{FF2B5EF4-FFF2-40B4-BE49-F238E27FC236}">
                  <a16:creationId xmlns:a16="http://schemas.microsoft.com/office/drawing/2014/main" id="{E43944D2-0211-58CC-47AD-799A2E1602F4}"/>
                </a:ext>
              </a:extLst>
            </p:cNvPr>
            <p:cNvSpPr/>
            <p:nvPr/>
          </p:nvSpPr>
          <p:spPr>
            <a:xfrm>
              <a:off x="6822" y="542430"/>
              <a:ext cx="2039104" cy="122346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5" name="Rounded Rectangle 4">
              <a:extLst>
                <a:ext uri="{FF2B5EF4-FFF2-40B4-BE49-F238E27FC236}">
                  <a16:creationId xmlns:a16="http://schemas.microsoft.com/office/drawing/2014/main" id="{D3930D85-9ED2-88F8-E877-6AE2DEBC0B04}"/>
                </a:ext>
              </a:extLst>
            </p:cNvPr>
            <p:cNvSpPr txBox="1"/>
            <p:nvPr/>
          </p:nvSpPr>
          <p:spPr>
            <a:xfrm>
              <a:off x="42656" y="578264"/>
              <a:ext cx="1967436" cy="11517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Download The Tool</a:t>
              </a:r>
              <a:endParaRPr lang="en-US" sz="1400" kern="1200" dirty="0"/>
            </a:p>
          </p:txBody>
        </p:sp>
      </p:grpSp>
      <p:grpSp>
        <p:nvGrpSpPr>
          <p:cNvPr id="10" name="Group 9">
            <a:extLst>
              <a:ext uri="{FF2B5EF4-FFF2-40B4-BE49-F238E27FC236}">
                <a16:creationId xmlns:a16="http://schemas.microsoft.com/office/drawing/2014/main" id="{40A992B0-EDE5-2419-5E4D-5D022D615300}"/>
              </a:ext>
            </a:extLst>
          </p:cNvPr>
          <p:cNvGrpSpPr/>
          <p:nvPr/>
        </p:nvGrpSpPr>
        <p:grpSpPr>
          <a:xfrm rot="5400000">
            <a:off x="7564674" y="1422198"/>
            <a:ext cx="353688" cy="418952"/>
            <a:chOff x="2225367" y="901313"/>
            <a:chExt cx="432290" cy="505697"/>
          </a:xfrm>
        </p:grpSpPr>
        <p:sp>
          <p:nvSpPr>
            <p:cNvPr id="11" name="Right Arrow 10">
              <a:extLst>
                <a:ext uri="{FF2B5EF4-FFF2-40B4-BE49-F238E27FC236}">
                  <a16:creationId xmlns:a16="http://schemas.microsoft.com/office/drawing/2014/main" id="{1CA75BDA-CAFC-3ECC-A63D-0EFBC9EDB82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2" name="Right Arrow 6">
              <a:extLst>
                <a:ext uri="{FF2B5EF4-FFF2-40B4-BE49-F238E27FC236}">
                  <a16:creationId xmlns:a16="http://schemas.microsoft.com/office/drawing/2014/main" id="{37355380-945B-13BE-E96E-F7897CEED9CD}"/>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3" name="Group 12">
            <a:extLst>
              <a:ext uri="{FF2B5EF4-FFF2-40B4-BE49-F238E27FC236}">
                <a16:creationId xmlns:a16="http://schemas.microsoft.com/office/drawing/2014/main" id="{6B202F27-8459-4763-D513-4CBAC3A8B1E6}"/>
              </a:ext>
            </a:extLst>
          </p:cNvPr>
          <p:cNvGrpSpPr/>
          <p:nvPr/>
        </p:nvGrpSpPr>
        <p:grpSpPr>
          <a:xfrm>
            <a:off x="6759565" y="1896137"/>
            <a:ext cx="1956444" cy="407206"/>
            <a:chOff x="6822" y="542430"/>
            <a:chExt cx="2039104" cy="1223462"/>
          </a:xfrm>
        </p:grpSpPr>
        <p:sp>
          <p:nvSpPr>
            <p:cNvPr id="14" name="Rounded Rectangle 13">
              <a:extLst>
                <a:ext uri="{FF2B5EF4-FFF2-40B4-BE49-F238E27FC236}">
                  <a16:creationId xmlns:a16="http://schemas.microsoft.com/office/drawing/2014/main" id="{023A9397-0BF7-1DE9-AC02-8152BA83B5A4}"/>
                </a:ext>
              </a:extLst>
            </p:cNvPr>
            <p:cNvSpPr/>
            <p:nvPr/>
          </p:nvSpPr>
          <p:spPr>
            <a:xfrm>
              <a:off x="6822" y="542430"/>
              <a:ext cx="2039104" cy="1223462"/>
            </a:xfrm>
            <a:prstGeom prst="roundRect">
              <a:avLst>
                <a:gd name="adj" fmla="val 10000"/>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15" name="Rounded Rectangle 4">
              <a:extLst>
                <a:ext uri="{FF2B5EF4-FFF2-40B4-BE49-F238E27FC236}">
                  <a16:creationId xmlns:a16="http://schemas.microsoft.com/office/drawing/2014/main" id="{AD9E6A36-C594-732C-67BD-EBE764ED0992}"/>
                </a:ext>
              </a:extLst>
            </p:cNvPr>
            <p:cNvSpPr txBox="1"/>
            <p:nvPr/>
          </p:nvSpPr>
          <p:spPr>
            <a:xfrm>
              <a:off x="42656" y="578264"/>
              <a:ext cx="1967436" cy="1151794"/>
            </a:xfrm>
            <a:prstGeom prst="rect">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Run Generation</a:t>
              </a:r>
              <a:endParaRPr lang="en-US" sz="1400" kern="1200" dirty="0"/>
            </a:p>
          </p:txBody>
        </p:sp>
      </p:grpSp>
    </p:spTree>
    <p:extLst>
      <p:ext uri="{BB962C8B-B14F-4D97-AF65-F5344CB8AC3E}">
        <p14:creationId xmlns:p14="http://schemas.microsoft.com/office/powerpoint/2010/main" val="674364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7387F-C304-9086-6593-C9CDEAA333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FA6AC4B-BE80-498A-0538-6738E906FED7}"/>
              </a:ext>
            </a:extLst>
          </p:cNvPr>
          <p:cNvSpPr txBox="1"/>
          <p:nvPr/>
        </p:nvSpPr>
        <p:spPr>
          <a:xfrm>
            <a:off x="599439" y="1077459"/>
            <a:ext cx="7945120" cy="307777"/>
          </a:xfrm>
          <a:prstGeom prst="rect">
            <a:avLst/>
          </a:prstGeom>
          <a:noFill/>
        </p:spPr>
        <p:txBody>
          <a:bodyPr wrap="square">
            <a:spAutoFit/>
          </a:bodyPr>
          <a:lstStyle/>
          <a:p>
            <a:r>
              <a:rPr lang="en-US" sz="1400" b="1" i="0" dirty="0">
                <a:effectLst/>
              </a:rPr>
              <a:t>Step 2 -</a:t>
            </a:r>
            <a:r>
              <a:rPr lang="en-US" sz="1400" i="0" dirty="0">
                <a:effectLst/>
              </a:rPr>
              <a:t> </a:t>
            </a:r>
            <a:r>
              <a:rPr lang="en-US" sz="1400" b="1" dirty="0"/>
              <a:t>Run</a:t>
            </a:r>
            <a:r>
              <a:rPr lang="en-US" sz="1400" dirty="0"/>
              <a:t> (interactive: you’ll be asked to pick the HTML instance):</a:t>
            </a:r>
          </a:p>
        </p:txBody>
      </p:sp>
      <p:sp>
        <p:nvSpPr>
          <p:cNvPr id="3" name="TextBox 2">
            <a:extLst>
              <a:ext uri="{FF2B5EF4-FFF2-40B4-BE49-F238E27FC236}">
                <a16:creationId xmlns:a16="http://schemas.microsoft.com/office/drawing/2014/main" id="{0896335E-FA09-4457-0096-F73A879A8DCF}"/>
              </a:ext>
            </a:extLst>
          </p:cNvPr>
          <p:cNvSpPr txBox="1"/>
          <p:nvPr/>
        </p:nvSpPr>
        <p:spPr>
          <a:xfrm>
            <a:off x="690879" y="1534581"/>
            <a:ext cx="5679099" cy="144655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Command:</a:t>
            </a:r>
          </a:p>
          <a:p>
            <a:endParaRPr lang="en-US" sz="1400" noProof="1"/>
          </a:p>
          <a:p>
            <a:r>
              <a:rPr lang="en-US" sz="1200" dirty="0">
                <a:solidFill>
                  <a:srgbClr val="FF0000"/>
                </a:solidFill>
                <a:latin typeface="Consolas" panose="020B0609020204030204" pitchFamily="49" charset="0"/>
                <a:cs typeface="Consolas" panose="020B0609020204030204" pitchFamily="49" charset="0"/>
              </a:rPr>
              <a:t>java</a:t>
            </a:r>
            <a:r>
              <a:rPr lang="en-US" sz="1200" dirty="0">
                <a:latin typeface="Consolas" panose="020B0609020204030204" pitchFamily="49" charset="0"/>
                <a:cs typeface="Consolas" panose="020B0609020204030204" pitchFamily="49" charset="0"/>
              </a:rPr>
              <a:t> -jar jd-create-ini-files-1.0.0.jar \</a:t>
            </a:r>
          </a:p>
          <a:p>
            <a:r>
              <a:rPr lang="en-US" sz="1200" noProof="1">
                <a:latin typeface="Consolas" panose="020B0609020204030204" pitchFamily="49" charset="0"/>
                <a:cs typeface="Consolas" panose="020B0609020204030204" pitchFamily="49" charset="0"/>
              </a:rPr>
              <a:t>  </a:t>
            </a:r>
            <a:r>
              <a:rPr lang="en-US" sz="1200" noProof="1">
                <a:solidFill>
                  <a:srgbClr val="FF0000"/>
                </a:solidFill>
                <a:latin typeface="Consolas" panose="020B0609020204030204" pitchFamily="49" charset="0"/>
                <a:cs typeface="Consolas" panose="020B0609020204030204" pitchFamily="49" charset="0"/>
              </a:rPr>
              <a:t>-u </a:t>
            </a:r>
            <a:r>
              <a:rPr lang="en-US" sz="1200" noProof="1">
                <a:latin typeface="Consolas" panose="020B0609020204030204" pitchFamily="49" charset="0"/>
                <a:cs typeface="Consolas" panose="020B0609020204030204" pitchFamily="49" charset="0"/>
              </a:rPr>
              <a:t>&lt;jde_admin&gt; \</a:t>
            </a:r>
          </a:p>
          <a:p>
            <a:r>
              <a:rPr lang="en-US" sz="1200" dirty="0">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-p </a:t>
            </a:r>
            <a:r>
              <a:rPr lang="en-US" sz="1200" dirty="0">
                <a:latin typeface="Consolas" panose="020B0609020204030204" pitchFamily="49" charset="0"/>
                <a:cs typeface="Consolas" panose="020B0609020204030204" pitchFamily="49" charset="0"/>
              </a:rPr>
              <a:t>&lt;password&gt; \</a:t>
            </a:r>
          </a:p>
          <a:p>
            <a:r>
              <a:rPr lang="en-US" sz="1200" dirty="0">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-s </a:t>
            </a:r>
            <a:r>
              <a:rPr lang="en-US" sz="1200" dirty="0">
                <a:latin typeface="Consolas" panose="020B0609020204030204" pitchFamily="49" charset="0"/>
                <a:cs typeface="Consolas" panose="020B0609020204030204" pitchFamily="49" charset="0"/>
              </a:rPr>
              <a:t>http://&lt;server-manager-host&gt;:8999/manage \</a:t>
            </a:r>
          </a:p>
          <a:p>
            <a:r>
              <a:rPr lang="en-US" sz="1200" dirty="0">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-e </a:t>
            </a:r>
            <a:r>
              <a:rPr lang="en-US" sz="1200" dirty="0">
                <a:latin typeface="Consolas" panose="020B0609020204030204" pitchFamily="49" charset="0"/>
                <a:cs typeface="Consolas" panose="020B0609020204030204" pitchFamily="49" charset="0"/>
              </a:rPr>
              <a:t>&lt;ENV ex. JDV920&gt;</a:t>
            </a:r>
          </a:p>
        </p:txBody>
      </p:sp>
      <p:pic>
        <p:nvPicPr>
          <p:cNvPr id="4" name="Picture 3">
            <a:extLst>
              <a:ext uri="{FF2B5EF4-FFF2-40B4-BE49-F238E27FC236}">
                <a16:creationId xmlns:a16="http://schemas.microsoft.com/office/drawing/2014/main" id="{E9B9F27D-4461-C52F-B27B-A7306E678C5B}"/>
              </a:ext>
            </a:extLst>
          </p:cNvPr>
          <p:cNvPicPr>
            <a:picLocks noChangeAspect="1"/>
          </p:cNvPicPr>
          <p:nvPr/>
        </p:nvPicPr>
        <p:blipFill>
          <a:blip r:embed="rId3"/>
          <a:stretch>
            <a:fillRect/>
          </a:stretch>
        </p:blipFill>
        <p:spPr>
          <a:xfrm>
            <a:off x="731976" y="3130476"/>
            <a:ext cx="3922231" cy="3314615"/>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BB939352-F267-F51B-9A2D-B875029CEECD}"/>
              </a:ext>
            </a:extLst>
          </p:cNvPr>
          <p:cNvPicPr>
            <a:picLocks noChangeAspect="1"/>
          </p:cNvPicPr>
          <p:nvPr/>
        </p:nvPicPr>
        <p:blipFill>
          <a:blip r:embed="rId4"/>
          <a:stretch>
            <a:fillRect/>
          </a:stretch>
        </p:blipFill>
        <p:spPr>
          <a:xfrm>
            <a:off x="0" y="0"/>
            <a:ext cx="9144000" cy="644018"/>
          </a:xfrm>
          <a:prstGeom prst="rect">
            <a:avLst/>
          </a:prstGeom>
        </p:spPr>
      </p:pic>
      <p:sp>
        <p:nvSpPr>
          <p:cNvPr id="10" name="Title 1">
            <a:extLst>
              <a:ext uri="{FF2B5EF4-FFF2-40B4-BE49-F238E27FC236}">
                <a16:creationId xmlns:a16="http://schemas.microsoft.com/office/drawing/2014/main" id="{7DFAF829-9753-44A3-D65E-A8D171490226}"/>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2 - Generate INI Files - Run</a:t>
            </a:r>
          </a:p>
        </p:txBody>
      </p:sp>
      <p:grpSp>
        <p:nvGrpSpPr>
          <p:cNvPr id="2" name="Group 1">
            <a:extLst>
              <a:ext uri="{FF2B5EF4-FFF2-40B4-BE49-F238E27FC236}">
                <a16:creationId xmlns:a16="http://schemas.microsoft.com/office/drawing/2014/main" id="{0FF11606-38B9-24C3-EEFF-452BC49B440A}"/>
              </a:ext>
            </a:extLst>
          </p:cNvPr>
          <p:cNvGrpSpPr/>
          <p:nvPr/>
        </p:nvGrpSpPr>
        <p:grpSpPr>
          <a:xfrm>
            <a:off x="6916728" y="978030"/>
            <a:ext cx="1956444" cy="407206"/>
            <a:chOff x="6822" y="542430"/>
            <a:chExt cx="2039104" cy="1223462"/>
          </a:xfrm>
        </p:grpSpPr>
        <p:sp>
          <p:nvSpPr>
            <p:cNvPr id="5" name="Rounded Rectangle 4">
              <a:extLst>
                <a:ext uri="{FF2B5EF4-FFF2-40B4-BE49-F238E27FC236}">
                  <a16:creationId xmlns:a16="http://schemas.microsoft.com/office/drawing/2014/main" id="{4CAC94EC-8B6B-A071-3CED-99F17FC4A88D}"/>
                </a:ext>
              </a:extLst>
            </p:cNvPr>
            <p:cNvSpPr/>
            <p:nvPr/>
          </p:nvSpPr>
          <p:spPr>
            <a:xfrm>
              <a:off x="6822" y="542430"/>
              <a:ext cx="2039104" cy="1223462"/>
            </a:xfrm>
            <a:prstGeom prst="roundRect">
              <a:avLst>
                <a:gd name="adj" fmla="val 10000"/>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6" name="Rounded Rectangle 4">
              <a:extLst>
                <a:ext uri="{FF2B5EF4-FFF2-40B4-BE49-F238E27FC236}">
                  <a16:creationId xmlns:a16="http://schemas.microsoft.com/office/drawing/2014/main" id="{172A3FA0-5518-DBC7-4BA5-D304BBD79E3A}"/>
                </a:ext>
              </a:extLst>
            </p:cNvPr>
            <p:cNvSpPr txBox="1"/>
            <p:nvPr/>
          </p:nvSpPr>
          <p:spPr>
            <a:xfrm>
              <a:off x="42656" y="578264"/>
              <a:ext cx="1967436" cy="1151794"/>
            </a:xfrm>
            <a:prstGeom prst="rect">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Download The Tool</a:t>
              </a:r>
              <a:endParaRPr lang="en-US" sz="1400" kern="1200" dirty="0"/>
            </a:p>
          </p:txBody>
        </p:sp>
      </p:grpSp>
      <p:grpSp>
        <p:nvGrpSpPr>
          <p:cNvPr id="8" name="Group 7">
            <a:extLst>
              <a:ext uri="{FF2B5EF4-FFF2-40B4-BE49-F238E27FC236}">
                <a16:creationId xmlns:a16="http://schemas.microsoft.com/office/drawing/2014/main" id="{08C56C24-AD73-104A-E8C1-0351A8775ED1}"/>
              </a:ext>
            </a:extLst>
          </p:cNvPr>
          <p:cNvGrpSpPr/>
          <p:nvPr/>
        </p:nvGrpSpPr>
        <p:grpSpPr>
          <a:xfrm rot="5400000">
            <a:off x="7721836" y="1440223"/>
            <a:ext cx="353688" cy="418952"/>
            <a:chOff x="2225367" y="901313"/>
            <a:chExt cx="432290" cy="505697"/>
          </a:xfrm>
        </p:grpSpPr>
        <p:sp>
          <p:nvSpPr>
            <p:cNvPr id="11" name="Right Arrow 10">
              <a:extLst>
                <a:ext uri="{FF2B5EF4-FFF2-40B4-BE49-F238E27FC236}">
                  <a16:creationId xmlns:a16="http://schemas.microsoft.com/office/drawing/2014/main" id="{448C0C17-E6C3-FCBE-17BF-424F3A588B5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2" name="Right Arrow 6">
              <a:extLst>
                <a:ext uri="{FF2B5EF4-FFF2-40B4-BE49-F238E27FC236}">
                  <a16:creationId xmlns:a16="http://schemas.microsoft.com/office/drawing/2014/main" id="{6F0F077E-55FE-DEBD-A965-9A8EFE3A48E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3" name="Group 12">
            <a:extLst>
              <a:ext uri="{FF2B5EF4-FFF2-40B4-BE49-F238E27FC236}">
                <a16:creationId xmlns:a16="http://schemas.microsoft.com/office/drawing/2014/main" id="{C8212D85-1B8E-ED04-EAE3-2291C60FF18B}"/>
              </a:ext>
            </a:extLst>
          </p:cNvPr>
          <p:cNvGrpSpPr/>
          <p:nvPr/>
        </p:nvGrpSpPr>
        <p:grpSpPr>
          <a:xfrm>
            <a:off x="6916727" y="1914162"/>
            <a:ext cx="1956444" cy="407206"/>
            <a:chOff x="6822" y="542430"/>
            <a:chExt cx="2039104" cy="1223462"/>
          </a:xfrm>
        </p:grpSpPr>
        <p:sp>
          <p:nvSpPr>
            <p:cNvPr id="14" name="Rounded Rectangle 13">
              <a:extLst>
                <a:ext uri="{FF2B5EF4-FFF2-40B4-BE49-F238E27FC236}">
                  <a16:creationId xmlns:a16="http://schemas.microsoft.com/office/drawing/2014/main" id="{D24E6121-6AAD-0A66-0F0B-D6AE83240E3A}"/>
                </a:ext>
              </a:extLst>
            </p:cNvPr>
            <p:cNvSpPr/>
            <p:nvPr/>
          </p:nvSpPr>
          <p:spPr>
            <a:xfrm>
              <a:off x="6822" y="542430"/>
              <a:ext cx="2039104" cy="122346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15" name="Rounded Rectangle 4">
              <a:extLst>
                <a:ext uri="{FF2B5EF4-FFF2-40B4-BE49-F238E27FC236}">
                  <a16:creationId xmlns:a16="http://schemas.microsoft.com/office/drawing/2014/main" id="{DECF221C-A772-61A0-DDC2-D620F95FF86A}"/>
                </a:ext>
              </a:extLst>
            </p:cNvPr>
            <p:cNvSpPr txBox="1"/>
            <p:nvPr/>
          </p:nvSpPr>
          <p:spPr>
            <a:xfrm>
              <a:off x="42656" y="578264"/>
              <a:ext cx="1967436" cy="11517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Run Generation</a:t>
              </a:r>
              <a:endParaRPr lang="en-US" sz="1400" kern="1200" dirty="0"/>
            </a:p>
          </p:txBody>
        </p:sp>
      </p:grpSp>
      <p:sp>
        <p:nvSpPr>
          <p:cNvPr id="17" name="TextBox 16">
            <a:extLst>
              <a:ext uri="{FF2B5EF4-FFF2-40B4-BE49-F238E27FC236}">
                <a16:creationId xmlns:a16="http://schemas.microsoft.com/office/drawing/2014/main" id="{050D398C-FC4C-B828-BA07-17320FFCBD7C}"/>
              </a:ext>
            </a:extLst>
          </p:cNvPr>
          <p:cNvSpPr txBox="1"/>
          <p:nvPr/>
        </p:nvSpPr>
        <p:spPr>
          <a:xfrm>
            <a:off x="5437520" y="5128149"/>
            <a:ext cx="3027175" cy="923330"/>
          </a:xfrm>
          <a:prstGeom prst="rect">
            <a:avLst/>
          </a:prstGeom>
          <a:noFill/>
        </p:spPr>
        <p:txBody>
          <a:bodyPr wrap="square">
            <a:spAutoFit/>
          </a:bodyPr>
          <a:lstStyle/>
          <a:p>
            <a:pPr>
              <a:buNone/>
            </a:pPr>
            <a:r>
              <a:rPr lang="en-US" b="1" dirty="0"/>
              <a:t>Review the generated INI files to verify that the values are correct</a:t>
            </a:r>
            <a:endParaRPr lang="en-US" dirty="0"/>
          </a:p>
        </p:txBody>
      </p:sp>
      <p:cxnSp>
        <p:nvCxnSpPr>
          <p:cNvPr id="19" name="Straight Arrow Connector 18">
            <a:extLst>
              <a:ext uri="{FF2B5EF4-FFF2-40B4-BE49-F238E27FC236}">
                <a16:creationId xmlns:a16="http://schemas.microsoft.com/office/drawing/2014/main" id="{B1744861-1AD6-F020-08C2-A3220C5A6091}"/>
              </a:ext>
            </a:extLst>
          </p:cNvPr>
          <p:cNvCxnSpPr>
            <a:cxnSpLocks/>
          </p:cNvCxnSpPr>
          <p:nvPr/>
        </p:nvCxnSpPr>
        <p:spPr>
          <a:xfrm flipH="1">
            <a:off x="3254149" y="5453442"/>
            <a:ext cx="2117667" cy="5137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Double Brace 21">
            <a:extLst>
              <a:ext uri="{FF2B5EF4-FFF2-40B4-BE49-F238E27FC236}">
                <a16:creationId xmlns:a16="http://schemas.microsoft.com/office/drawing/2014/main" id="{4D8BCE59-52CE-F276-25AA-9E3DF10863DA}"/>
              </a:ext>
            </a:extLst>
          </p:cNvPr>
          <p:cNvSpPr/>
          <p:nvPr/>
        </p:nvSpPr>
        <p:spPr>
          <a:xfrm>
            <a:off x="862781" y="5882824"/>
            <a:ext cx="2260563" cy="168655"/>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R"/>
          </a:p>
        </p:txBody>
      </p:sp>
    </p:spTree>
    <p:extLst>
      <p:ext uri="{BB962C8B-B14F-4D97-AF65-F5344CB8AC3E}">
        <p14:creationId xmlns:p14="http://schemas.microsoft.com/office/powerpoint/2010/main" val="3474620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2CA8-9AC4-D5EA-BFDC-0C65D5D598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05F2C3-8D19-8BA3-2480-B7BAF414FF26}"/>
              </a:ext>
            </a:extLst>
          </p:cNvPr>
          <p:cNvPicPr>
            <a:picLocks noChangeAspect="1"/>
          </p:cNvPicPr>
          <p:nvPr/>
        </p:nvPicPr>
        <p:blipFill>
          <a:blip r:embed="rId3"/>
          <a:stretch>
            <a:fillRect/>
          </a:stretch>
        </p:blipFill>
        <p:spPr>
          <a:xfrm>
            <a:off x="0" y="924674"/>
            <a:ext cx="9144000" cy="4864232"/>
          </a:xfrm>
          <a:prstGeom prst="rect">
            <a:avLst/>
          </a:prstGeom>
        </p:spPr>
      </p:pic>
      <p:sp>
        <p:nvSpPr>
          <p:cNvPr id="7" name="Title 1">
            <a:extLst>
              <a:ext uri="{FF2B5EF4-FFF2-40B4-BE49-F238E27FC236}">
                <a16:creationId xmlns:a16="http://schemas.microsoft.com/office/drawing/2014/main" id="{1A231E82-E2C6-D287-A4A3-D6008E01F49B}"/>
              </a:ext>
            </a:extLst>
          </p:cNvPr>
          <p:cNvSpPr txBox="1">
            <a:spLocks/>
          </p:cNvSpPr>
          <p:nvPr/>
        </p:nvSpPr>
        <p:spPr>
          <a:xfrm>
            <a:off x="490451" y="142681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GENERATE JARs Libraries</a:t>
            </a:r>
            <a:endParaRPr lang="en-US" sz="3200" noProof="1">
              <a:solidFill>
                <a:schemeClr val="bg1"/>
              </a:solidFill>
            </a:endParaRPr>
          </a:p>
        </p:txBody>
      </p:sp>
      <p:graphicFrame>
        <p:nvGraphicFramePr>
          <p:cNvPr id="2" name="TextBox 5">
            <a:extLst>
              <a:ext uri="{FF2B5EF4-FFF2-40B4-BE49-F238E27FC236}">
                <a16:creationId xmlns:a16="http://schemas.microsoft.com/office/drawing/2014/main" id="{9BBC10AD-E285-8FFC-645B-8A4DA81CF9A0}"/>
              </a:ext>
            </a:extLst>
          </p:cNvPr>
          <p:cNvGraphicFramePr/>
          <p:nvPr>
            <p:extLst>
              <p:ext uri="{D42A27DB-BD31-4B8C-83A1-F6EECF244321}">
                <p14:modId xmlns:p14="http://schemas.microsoft.com/office/powerpoint/2010/main" val="2592524908"/>
              </p:ext>
            </p:extLst>
          </p:nvPr>
        </p:nvGraphicFramePr>
        <p:xfrm>
          <a:off x="1067363" y="2616082"/>
          <a:ext cx="7254369" cy="16258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81549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3FFD-A8B1-83A6-BACD-FE1C7A8B2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C6596-4F43-7CA3-08B8-E0382E2C92BA}"/>
              </a:ext>
            </a:extLst>
          </p:cNvPr>
          <p:cNvSpPr>
            <a:spLocks noGrp="1"/>
          </p:cNvSpPr>
          <p:nvPr>
            <p:ph type="title"/>
          </p:nvPr>
        </p:nvSpPr>
        <p:spPr>
          <a:xfrm>
            <a:off x="524785" y="5490971"/>
            <a:ext cx="5221554" cy="1159200"/>
          </a:xfrm>
        </p:spPr>
        <p:txBody>
          <a:bodyPr vert="horz" lIns="91440" tIns="45720" rIns="91440" bIns="45720" rtlCol="0" anchor="ctr">
            <a:normAutofit/>
          </a:bodyPr>
          <a:lstStyle/>
          <a:p>
            <a:pPr algn="l" defTabSz="914400">
              <a:lnSpc>
                <a:spcPct val="90000"/>
              </a:lnSpc>
            </a:pPr>
            <a:r>
              <a:rPr lang="en-US" sz="3500" i="1" kern="1200" dirty="0">
                <a:solidFill>
                  <a:srgbClr val="FFFFFF"/>
                </a:solidFill>
                <a:latin typeface="+mj-lt"/>
                <a:ea typeface="+mj-ea"/>
                <a:cs typeface="+mj-cs"/>
              </a:rPr>
              <a:t>Quick Start – Understanding the Setup</a:t>
            </a:r>
            <a:endParaRPr lang="en-US" sz="3500" kern="1200" dirty="0">
              <a:solidFill>
                <a:srgbClr val="FFFFFF"/>
              </a:solidFill>
              <a:latin typeface="+mj-lt"/>
              <a:ea typeface="+mj-ea"/>
              <a:cs typeface="+mj-cs"/>
            </a:endParaRPr>
          </a:p>
        </p:txBody>
      </p:sp>
      <p:pic>
        <p:nvPicPr>
          <p:cNvPr id="5" name="Picture 4">
            <a:extLst>
              <a:ext uri="{FF2B5EF4-FFF2-40B4-BE49-F238E27FC236}">
                <a16:creationId xmlns:a16="http://schemas.microsoft.com/office/drawing/2014/main" id="{190A1006-82FF-D201-A783-7BB240FE92B3}"/>
              </a:ext>
            </a:extLst>
          </p:cNvPr>
          <p:cNvPicPr>
            <a:picLocks noChangeAspect="1"/>
          </p:cNvPicPr>
          <p:nvPr/>
        </p:nvPicPr>
        <p:blipFill>
          <a:blip r:embed="rId2"/>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3BE7D198-D66A-6856-4E12-3A7208389B1A}"/>
              </a:ext>
            </a:extLst>
          </p:cNvPr>
          <p:cNvSpPr txBox="1">
            <a:spLocks/>
          </p:cNvSpPr>
          <p:nvPr/>
        </p:nvSpPr>
        <p:spPr>
          <a:xfrm>
            <a:off x="318500" y="405854"/>
            <a:ext cx="88255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Custom Setup - Create JARs Libraries</a:t>
            </a:r>
            <a:endParaRPr lang="en-US" sz="3200" noProof="1">
              <a:solidFill>
                <a:schemeClr val="bg1"/>
              </a:solidFill>
            </a:endParaRPr>
          </a:p>
        </p:txBody>
      </p:sp>
      <p:sp>
        <p:nvSpPr>
          <p:cNvPr id="8" name="TextBox 7">
            <a:extLst>
              <a:ext uri="{FF2B5EF4-FFF2-40B4-BE49-F238E27FC236}">
                <a16:creationId xmlns:a16="http://schemas.microsoft.com/office/drawing/2014/main" id="{26598E31-AFEB-413F-099E-39A68FB00E07}"/>
              </a:ext>
            </a:extLst>
          </p:cNvPr>
          <p:cNvSpPr txBox="1"/>
          <p:nvPr/>
        </p:nvSpPr>
        <p:spPr>
          <a:xfrm>
            <a:off x="404476" y="1720946"/>
            <a:ext cx="7945120" cy="738664"/>
          </a:xfrm>
          <a:prstGeom prst="rect">
            <a:avLst/>
          </a:prstGeom>
          <a:noFill/>
        </p:spPr>
        <p:txBody>
          <a:bodyPr wrap="square">
            <a:spAutoFit/>
          </a:bodyPr>
          <a:lstStyle/>
          <a:p>
            <a:r>
              <a:rPr lang="en-US" sz="1400" dirty="0">
                <a:solidFill>
                  <a:schemeClr val="bg1"/>
                </a:solidFill>
              </a:rPr>
              <a:t>This tool packages the JD Edwards libraries into deployable JAR files that are required by the Atina JDE Microservice. It simplifies dependency management and ensures that all necessary classes are available at runtime.</a:t>
            </a:r>
            <a:endParaRPr lang="en-AR" sz="1100" dirty="0">
              <a:solidFill>
                <a:schemeClr val="bg1"/>
              </a:solidFill>
            </a:endParaRPr>
          </a:p>
        </p:txBody>
      </p:sp>
      <p:sp>
        <p:nvSpPr>
          <p:cNvPr id="9" name="TextBox 8">
            <a:extLst>
              <a:ext uri="{FF2B5EF4-FFF2-40B4-BE49-F238E27FC236}">
                <a16:creationId xmlns:a16="http://schemas.microsoft.com/office/drawing/2014/main" id="{EA3A3572-BD33-7928-EEB9-FC0C3411E9FB}"/>
              </a:ext>
            </a:extLst>
          </p:cNvPr>
          <p:cNvSpPr txBox="1"/>
          <p:nvPr/>
        </p:nvSpPr>
        <p:spPr>
          <a:xfrm>
            <a:off x="616224" y="4858939"/>
            <a:ext cx="5398813" cy="1264064"/>
          </a:xfrm>
          <a:prstGeom prst="rect">
            <a:avLst/>
          </a:prstGeom>
          <a:noFill/>
        </p:spPr>
        <p:txBody>
          <a:bodyPr wrap="square">
            <a:spAutoFit/>
          </a:bodyPr>
          <a:lstStyle/>
          <a:p>
            <a:r>
              <a:rPr lang="en-US" sz="1200" b="1" dirty="0"/>
              <a:t>Prerequisites</a:t>
            </a:r>
          </a:p>
          <a:p>
            <a:endParaRPr lang="en-US" sz="1200" b="1" dirty="0"/>
          </a:p>
          <a:p>
            <a:pPr marL="285750" indent="-285750">
              <a:lnSpc>
                <a:spcPct val="150000"/>
              </a:lnSpc>
              <a:buFont typeface="Arial" panose="020B0604020202020204" pitchFamily="34" charset="0"/>
              <a:buChar char="•"/>
            </a:pPr>
            <a:r>
              <a:rPr lang="en-US" sz="1200" b="1" dirty="0"/>
              <a:t>OpenJDK 8</a:t>
            </a:r>
            <a:r>
              <a:rPr lang="en-US" sz="1200" dirty="0"/>
              <a:t> installed (required by the tool)</a:t>
            </a:r>
          </a:p>
          <a:p>
            <a:pPr marL="285750" indent="-285750">
              <a:lnSpc>
                <a:spcPct val="150000"/>
              </a:lnSpc>
              <a:buFont typeface="Arial" panose="020B0604020202020204" pitchFamily="34" charset="0"/>
              <a:buChar char="•"/>
            </a:pPr>
            <a:r>
              <a:rPr lang="en-US" sz="1200" b="1" dirty="0"/>
              <a:t>Maven</a:t>
            </a:r>
            <a:r>
              <a:rPr lang="en-US" sz="1200" dirty="0"/>
              <a:t> 3.8.1 or higher</a:t>
            </a:r>
          </a:p>
          <a:p>
            <a:pPr marL="285750" indent="-285750">
              <a:lnSpc>
                <a:spcPct val="150000"/>
              </a:lnSpc>
              <a:buFont typeface="Arial" panose="020B0604020202020204" pitchFamily="34" charset="0"/>
              <a:buChar char="•"/>
            </a:pPr>
            <a:r>
              <a:rPr lang="en-US" sz="1200" dirty="0"/>
              <a:t>Access and Credentials to </a:t>
            </a:r>
            <a:r>
              <a:rPr lang="en-US" sz="1200" b="1" dirty="0"/>
              <a:t>JDE</a:t>
            </a:r>
            <a:r>
              <a:rPr lang="en-US" sz="1200" dirty="0"/>
              <a:t> </a:t>
            </a:r>
            <a:r>
              <a:rPr lang="en-US" sz="1200" b="1" dirty="0"/>
              <a:t>Deployment Server</a:t>
            </a:r>
            <a:endParaRPr lang="en-US" sz="1200" dirty="0"/>
          </a:p>
        </p:txBody>
      </p:sp>
      <p:sp>
        <p:nvSpPr>
          <p:cNvPr id="10" name="TextBox 9">
            <a:extLst>
              <a:ext uri="{FF2B5EF4-FFF2-40B4-BE49-F238E27FC236}">
                <a16:creationId xmlns:a16="http://schemas.microsoft.com/office/drawing/2014/main" id="{663D3E1F-4AB2-6024-5AAA-18FD53687365}"/>
              </a:ext>
            </a:extLst>
          </p:cNvPr>
          <p:cNvSpPr txBox="1"/>
          <p:nvPr/>
        </p:nvSpPr>
        <p:spPr>
          <a:xfrm>
            <a:off x="616224" y="2916299"/>
            <a:ext cx="6048895" cy="1818062"/>
          </a:xfrm>
          <a:prstGeom prst="rect">
            <a:avLst/>
          </a:prstGeom>
          <a:noFill/>
        </p:spPr>
        <p:txBody>
          <a:bodyPr wrap="square">
            <a:spAutoFit/>
          </a:bodyPr>
          <a:lstStyle/>
          <a:p>
            <a:pPr algn="l">
              <a:buNone/>
            </a:pPr>
            <a:r>
              <a:rPr lang="en-US" sz="1200" b="0" i="0" dirty="0">
                <a:effectLst/>
              </a:rPr>
              <a:t>The tool will generate the following artifacts:</a:t>
            </a:r>
          </a:p>
          <a:p>
            <a:pPr algn="l">
              <a:buNone/>
            </a:pPr>
            <a:endParaRPr lang="en-US" sz="1200" b="0" i="0" dirty="0">
              <a:effectLst/>
            </a:endParaRPr>
          </a:p>
          <a:p>
            <a:pPr marL="285750" indent="-285750">
              <a:lnSpc>
                <a:spcPct val="150000"/>
              </a:lnSpc>
              <a:buFont typeface="Arial" panose="020B0604020202020204" pitchFamily="34" charset="0"/>
              <a:buChar char="•"/>
            </a:pPr>
            <a:r>
              <a:rPr lang="en-US" sz="1200" b="1" noProof="1">
                <a:cs typeface="Consolas" panose="020B0609020204030204" pitchFamily="49" charset="0"/>
              </a:rPr>
              <a:t>JDEAtinaOverrideServicesConstants-1.0.0.jar</a:t>
            </a:r>
            <a:r>
              <a:rPr lang="en-US" sz="1200" noProof="1">
                <a:cs typeface="Consolas" panose="020B0609020204030204" pitchFamily="49" charset="0"/>
              </a:rPr>
              <a:t>. Provides local override of web service properties, avoiding the need to modify JDE configuration.</a:t>
            </a:r>
            <a:endParaRPr lang="en-US" sz="1200" dirty="0"/>
          </a:p>
          <a:p>
            <a:pPr marL="285750" indent="-285750" algn="l">
              <a:lnSpc>
                <a:spcPct val="150000"/>
              </a:lnSpc>
              <a:buFont typeface="Arial" panose="020B0604020202020204" pitchFamily="34" charset="0"/>
              <a:buChar char="•"/>
            </a:pPr>
            <a:r>
              <a:rPr lang="en-US" sz="1200" b="1" i="0" dirty="0">
                <a:effectLst/>
              </a:rPr>
              <a:t>jde-lib-wrapped-1.0.0.jar</a:t>
            </a:r>
            <a:r>
              <a:rPr lang="en-US" sz="1200" b="0" i="0" dirty="0">
                <a:effectLst/>
              </a:rPr>
              <a:t>: Bundles the core JD Edwards interoperability libraries required for integration.</a:t>
            </a:r>
          </a:p>
          <a:p>
            <a:pPr marL="285750" indent="-285750" algn="l">
              <a:lnSpc>
                <a:spcPct val="150000"/>
              </a:lnSpc>
              <a:buFont typeface="Arial" panose="020B0604020202020204" pitchFamily="34" charset="0"/>
              <a:buChar char="•"/>
            </a:pPr>
            <a:r>
              <a:rPr lang="en-US" sz="1200" b="1" i="0" dirty="0">
                <a:effectLst/>
              </a:rPr>
              <a:t>StdWebService-1.0.0.jar</a:t>
            </a:r>
            <a:r>
              <a:rPr lang="en-US" sz="1200" b="0" i="0" dirty="0">
                <a:effectLst/>
              </a:rPr>
              <a:t>:  Includes wrappers for standard JD Edwards web services.</a:t>
            </a:r>
          </a:p>
        </p:txBody>
      </p:sp>
      <p:grpSp>
        <p:nvGrpSpPr>
          <p:cNvPr id="3" name="Group 2">
            <a:extLst>
              <a:ext uri="{FF2B5EF4-FFF2-40B4-BE49-F238E27FC236}">
                <a16:creationId xmlns:a16="http://schemas.microsoft.com/office/drawing/2014/main" id="{E0F54654-5F20-A920-3F40-74D15CAEFB07}"/>
              </a:ext>
            </a:extLst>
          </p:cNvPr>
          <p:cNvGrpSpPr/>
          <p:nvPr/>
        </p:nvGrpSpPr>
        <p:grpSpPr>
          <a:xfrm>
            <a:off x="7002453" y="2916299"/>
            <a:ext cx="1862940" cy="279265"/>
            <a:chOff x="6822" y="542430"/>
            <a:chExt cx="2039104" cy="533039"/>
          </a:xfrm>
        </p:grpSpPr>
        <p:sp>
          <p:nvSpPr>
            <p:cNvPr id="4" name="Rounded Rectangle 3">
              <a:extLst>
                <a:ext uri="{FF2B5EF4-FFF2-40B4-BE49-F238E27FC236}">
                  <a16:creationId xmlns:a16="http://schemas.microsoft.com/office/drawing/2014/main" id="{333593A4-978C-3CE8-8D6B-18CB2144BB0D}"/>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 name="Rounded Rectangle 4">
              <a:extLst>
                <a:ext uri="{FF2B5EF4-FFF2-40B4-BE49-F238E27FC236}">
                  <a16:creationId xmlns:a16="http://schemas.microsoft.com/office/drawing/2014/main" id="{BAAA1AA0-9548-0737-C75A-63B7CF2AA1F2}"/>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11" name="Group 10">
            <a:extLst>
              <a:ext uri="{FF2B5EF4-FFF2-40B4-BE49-F238E27FC236}">
                <a16:creationId xmlns:a16="http://schemas.microsoft.com/office/drawing/2014/main" id="{96E207EA-1B7E-DC97-8E1F-CA4F4F40F940}"/>
              </a:ext>
            </a:extLst>
          </p:cNvPr>
          <p:cNvGrpSpPr/>
          <p:nvPr/>
        </p:nvGrpSpPr>
        <p:grpSpPr>
          <a:xfrm rot="5400000">
            <a:off x="7764226" y="3233998"/>
            <a:ext cx="213569" cy="217113"/>
            <a:chOff x="2225367" y="901313"/>
            <a:chExt cx="432290" cy="505697"/>
          </a:xfrm>
        </p:grpSpPr>
        <p:sp>
          <p:nvSpPr>
            <p:cNvPr id="12" name="Right Arrow 11">
              <a:extLst>
                <a:ext uri="{FF2B5EF4-FFF2-40B4-BE49-F238E27FC236}">
                  <a16:creationId xmlns:a16="http://schemas.microsoft.com/office/drawing/2014/main" id="{29DBA97B-CD83-EA84-7C39-0567FF9EC21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3" name="Right Arrow 6">
              <a:extLst>
                <a:ext uri="{FF2B5EF4-FFF2-40B4-BE49-F238E27FC236}">
                  <a16:creationId xmlns:a16="http://schemas.microsoft.com/office/drawing/2014/main" id="{1087591E-9080-C274-8582-0F20834E5D4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0" name="Group 19">
            <a:extLst>
              <a:ext uri="{FF2B5EF4-FFF2-40B4-BE49-F238E27FC236}">
                <a16:creationId xmlns:a16="http://schemas.microsoft.com/office/drawing/2014/main" id="{0A899BE9-1CC4-E40A-756A-515471F48C77}"/>
              </a:ext>
            </a:extLst>
          </p:cNvPr>
          <p:cNvGrpSpPr/>
          <p:nvPr/>
        </p:nvGrpSpPr>
        <p:grpSpPr>
          <a:xfrm rot="5400000">
            <a:off x="7764225" y="3808893"/>
            <a:ext cx="213569" cy="217113"/>
            <a:chOff x="2225367" y="901313"/>
            <a:chExt cx="432290" cy="505697"/>
          </a:xfrm>
        </p:grpSpPr>
        <p:sp>
          <p:nvSpPr>
            <p:cNvPr id="21" name="Right Arrow 20">
              <a:extLst>
                <a:ext uri="{FF2B5EF4-FFF2-40B4-BE49-F238E27FC236}">
                  <a16:creationId xmlns:a16="http://schemas.microsoft.com/office/drawing/2014/main" id="{3D8109B6-9018-1049-04F1-245BEB5CFF6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2" name="Right Arrow 6">
              <a:extLst>
                <a:ext uri="{FF2B5EF4-FFF2-40B4-BE49-F238E27FC236}">
                  <a16:creationId xmlns:a16="http://schemas.microsoft.com/office/drawing/2014/main" id="{8838510E-A0F6-821A-C3A5-71BF0DF3F05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3" name="Group 22">
            <a:extLst>
              <a:ext uri="{FF2B5EF4-FFF2-40B4-BE49-F238E27FC236}">
                <a16:creationId xmlns:a16="http://schemas.microsoft.com/office/drawing/2014/main" id="{7CD4431A-2DA2-3143-8A4C-E9A0B76B27BE}"/>
              </a:ext>
            </a:extLst>
          </p:cNvPr>
          <p:cNvGrpSpPr/>
          <p:nvPr/>
        </p:nvGrpSpPr>
        <p:grpSpPr>
          <a:xfrm rot="5400000">
            <a:off x="7764225" y="4365649"/>
            <a:ext cx="213569" cy="217113"/>
            <a:chOff x="2225367" y="901313"/>
            <a:chExt cx="432290" cy="505697"/>
          </a:xfrm>
        </p:grpSpPr>
        <p:sp>
          <p:nvSpPr>
            <p:cNvPr id="24" name="Right Arrow 23">
              <a:extLst>
                <a:ext uri="{FF2B5EF4-FFF2-40B4-BE49-F238E27FC236}">
                  <a16:creationId xmlns:a16="http://schemas.microsoft.com/office/drawing/2014/main" id="{3BBDE78E-AE05-4E30-9CAC-06668BAE2F8A}"/>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5" name="Right Arrow 6">
              <a:extLst>
                <a:ext uri="{FF2B5EF4-FFF2-40B4-BE49-F238E27FC236}">
                  <a16:creationId xmlns:a16="http://schemas.microsoft.com/office/drawing/2014/main" id="{86C291E7-FEBA-C77C-D565-457A5F4C913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9" name="Group 28">
            <a:extLst>
              <a:ext uri="{FF2B5EF4-FFF2-40B4-BE49-F238E27FC236}">
                <a16:creationId xmlns:a16="http://schemas.microsoft.com/office/drawing/2014/main" id="{F8C6EB92-2A63-CFA8-320E-FDB87474AC4A}"/>
              </a:ext>
            </a:extLst>
          </p:cNvPr>
          <p:cNvGrpSpPr/>
          <p:nvPr/>
        </p:nvGrpSpPr>
        <p:grpSpPr>
          <a:xfrm rot="5400000">
            <a:off x="7763043" y="4930650"/>
            <a:ext cx="213569" cy="217113"/>
            <a:chOff x="2225367" y="901313"/>
            <a:chExt cx="432290" cy="505697"/>
          </a:xfrm>
        </p:grpSpPr>
        <p:sp>
          <p:nvSpPr>
            <p:cNvPr id="30" name="Right Arrow 29">
              <a:extLst>
                <a:ext uri="{FF2B5EF4-FFF2-40B4-BE49-F238E27FC236}">
                  <a16:creationId xmlns:a16="http://schemas.microsoft.com/office/drawing/2014/main" id="{56D686DC-C9C5-F4A6-3C72-80F42213629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1" name="Right Arrow 6">
              <a:extLst>
                <a:ext uri="{FF2B5EF4-FFF2-40B4-BE49-F238E27FC236}">
                  <a16:creationId xmlns:a16="http://schemas.microsoft.com/office/drawing/2014/main" id="{2B1B28A3-EF43-AA0F-FF38-6D3BCF20CBF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75E0B5CB-2EB7-D310-002F-9041599100B2}"/>
              </a:ext>
            </a:extLst>
          </p:cNvPr>
          <p:cNvGrpSpPr/>
          <p:nvPr/>
        </p:nvGrpSpPr>
        <p:grpSpPr>
          <a:xfrm rot="5400000">
            <a:off x="7763042" y="5505545"/>
            <a:ext cx="213569" cy="217113"/>
            <a:chOff x="2225367" y="901313"/>
            <a:chExt cx="432290" cy="505697"/>
          </a:xfrm>
        </p:grpSpPr>
        <p:sp>
          <p:nvSpPr>
            <p:cNvPr id="39" name="Right Arrow 38">
              <a:extLst>
                <a:ext uri="{FF2B5EF4-FFF2-40B4-BE49-F238E27FC236}">
                  <a16:creationId xmlns:a16="http://schemas.microsoft.com/office/drawing/2014/main" id="{3EA69320-AE5C-E756-5E3D-A50085A30DD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0" name="Right Arrow 6">
              <a:extLst>
                <a:ext uri="{FF2B5EF4-FFF2-40B4-BE49-F238E27FC236}">
                  <a16:creationId xmlns:a16="http://schemas.microsoft.com/office/drawing/2014/main" id="{3CB8C64B-6047-F4CC-B5BF-2802770F580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1" name="Group 40">
            <a:extLst>
              <a:ext uri="{FF2B5EF4-FFF2-40B4-BE49-F238E27FC236}">
                <a16:creationId xmlns:a16="http://schemas.microsoft.com/office/drawing/2014/main" id="{35676A29-347C-0CD2-9AB2-34228522F665}"/>
              </a:ext>
            </a:extLst>
          </p:cNvPr>
          <p:cNvGrpSpPr/>
          <p:nvPr/>
        </p:nvGrpSpPr>
        <p:grpSpPr>
          <a:xfrm rot="5400000">
            <a:off x="7763042" y="6062301"/>
            <a:ext cx="213569" cy="217113"/>
            <a:chOff x="2225367" y="901313"/>
            <a:chExt cx="432290" cy="505697"/>
          </a:xfrm>
        </p:grpSpPr>
        <p:sp>
          <p:nvSpPr>
            <p:cNvPr id="42" name="Right Arrow 41">
              <a:extLst>
                <a:ext uri="{FF2B5EF4-FFF2-40B4-BE49-F238E27FC236}">
                  <a16:creationId xmlns:a16="http://schemas.microsoft.com/office/drawing/2014/main" id="{C4BB181A-09AF-E820-18DD-362DAF225B1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314E31D7-FD2C-1D1F-EE77-B3FC5DAB488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8E1F2ADC-30B3-F44F-7254-65E2659B4864}"/>
              </a:ext>
            </a:extLst>
          </p:cNvPr>
          <p:cNvGrpSpPr/>
          <p:nvPr/>
        </p:nvGrpSpPr>
        <p:grpSpPr>
          <a:xfrm>
            <a:off x="7002453" y="3493605"/>
            <a:ext cx="1862940" cy="279265"/>
            <a:chOff x="6822" y="542430"/>
            <a:chExt cx="2039104" cy="533039"/>
          </a:xfrm>
        </p:grpSpPr>
        <p:sp>
          <p:nvSpPr>
            <p:cNvPr id="48" name="Rounded Rectangle 47">
              <a:extLst>
                <a:ext uri="{FF2B5EF4-FFF2-40B4-BE49-F238E27FC236}">
                  <a16:creationId xmlns:a16="http://schemas.microsoft.com/office/drawing/2014/main" id="{99BEC5AF-8A49-5AA6-0D8B-321787698956}"/>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9" name="Rounded Rectangle 4">
              <a:extLst>
                <a:ext uri="{FF2B5EF4-FFF2-40B4-BE49-F238E27FC236}">
                  <a16:creationId xmlns:a16="http://schemas.microsoft.com/office/drawing/2014/main" id="{CEC53730-105E-2694-6DC9-EDE892335BF1}"/>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0" name="Group 49">
            <a:extLst>
              <a:ext uri="{FF2B5EF4-FFF2-40B4-BE49-F238E27FC236}">
                <a16:creationId xmlns:a16="http://schemas.microsoft.com/office/drawing/2014/main" id="{D6BDA3F2-BA2A-8061-19DB-A499F1EDF21A}"/>
              </a:ext>
            </a:extLst>
          </p:cNvPr>
          <p:cNvGrpSpPr/>
          <p:nvPr/>
        </p:nvGrpSpPr>
        <p:grpSpPr>
          <a:xfrm>
            <a:off x="7002452" y="4054590"/>
            <a:ext cx="1862940" cy="279265"/>
            <a:chOff x="6822" y="542430"/>
            <a:chExt cx="2039104" cy="533039"/>
          </a:xfrm>
        </p:grpSpPr>
        <p:sp>
          <p:nvSpPr>
            <p:cNvPr id="51" name="Rounded Rectangle 50">
              <a:extLst>
                <a:ext uri="{FF2B5EF4-FFF2-40B4-BE49-F238E27FC236}">
                  <a16:creationId xmlns:a16="http://schemas.microsoft.com/office/drawing/2014/main" id="{A516B850-669D-C35F-48EC-149F8CCA76AE}"/>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EE54791E-36D6-5852-6F64-B03375170E96}"/>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3" name="Group 52">
            <a:extLst>
              <a:ext uri="{FF2B5EF4-FFF2-40B4-BE49-F238E27FC236}">
                <a16:creationId xmlns:a16="http://schemas.microsoft.com/office/drawing/2014/main" id="{5470305F-3C03-D328-9C66-708D0BF7587F}"/>
              </a:ext>
            </a:extLst>
          </p:cNvPr>
          <p:cNvGrpSpPr/>
          <p:nvPr/>
        </p:nvGrpSpPr>
        <p:grpSpPr>
          <a:xfrm>
            <a:off x="7002452" y="4589086"/>
            <a:ext cx="1862940" cy="279265"/>
            <a:chOff x="6822" y="542430"/>
            <a:chExt cx="2039104" cy="533039"/>
          </a:xfrm>
        </p:grpSpPr>
        <p:sp>
          <p:nvSpPr>
            <p:cNvPr id="54" name="Rounded Rectangle 53">
              <a:extLst>
                <a:ext uri="{FF2B5EF4-FFF2-40B4-BE49-F238E27FC236}">
                  <a16:creationId xmlns:a16="http://schemas.microsoft.com/office/drawing/2014/main" id="{43BF1C0D-AA2C-A63A-99FC-8B202595B03F}"/>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5" name="Rounded Rectangle 4">
              <a:extLst>
                <a:ext uri="{FF2B5EF4-FFF2-40B4-BE49-F238E27FC236}">
                  <a16:creationId xmlns:a16="http://schemas.microsoft.com/office/drawing/2014/main" id="{56CAAD68-0F42-0ABF-267D-9DEA182F95EC}"/>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56" name="Group 55">
            <a:extLst>
              <a:ext uri="{FF2B5EF4-FFF2-40B4-BE49-F238E27FC236}">
                <a16:creationId xmlns:a16="http://schemas.microsoft.com/office/drawing/2014/main" id="{38E5BEE3-74A3-62A0-35C1-ED3AE223D5EE}"/>
              </a:ext>
            </a:extLst>
          </p:cNvPr>
          <p:cNvGrpSpPr/>
          <p:nvPr/>
        </p:nvGrpSpPr>
        <p:grpSpPr>
          <a:xfrm>
            <a:off x="7006024" y="5177952"/>
            <a:ext cx="1862940" cy="279265"/>
            <a:chOff x="6822" y="542430"/>
            <a:chExt cx="2039104" cy="533039"/>
          </a:xfrm>
        </p:grpSpPr>
        <p:sp>
          <p:nvSpPr>
            <p:cNvPr id="78" name="Rounded Rectangle 77">
              <a:extLst>
                <a:ext uri="{FF2B5EF4-FFF2-40B4-BE49-F238E27FC236}">
                  <a16:creationId xmlns:a16="http://schemas.microsoft.com/office/drawing/2014/main" id="{9943ACF6-7F46-55BB-7E7D-423C3670E61F}"/>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9" name="Rounded Rectangle 4">
              <a:extLst>
                <a:ext uri="{FF2B5EF4-FFF2-40B4-BE49-F238E27FC236}">
                  <a16:creationId xmlns:a16="http://schemas.microsoft.com/office/drawing/2014/main" id="{377D7C9F-F8FF-327E-F972-4F9005CDF3A7}"/>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80" name="Group 79">
            <a:extLst>
              <a:ext uri="{FF2B5EF4-FFF2-40B4-BE49-F238E27FC236}">
                <a16:creationId xmlns:a16="http://schemas.microsoft.com/office/drawing/2014/main" id="{A0D6EF97-7782-91A7-452D-CE00FBA48B24}"/>
              </a:ext>
            </a:extLst>
          </p:cNvPr>
          <p:cNvGrpSpPr/>
          <p:nvPr/>
        </p:nvGrpSpPr>
        <p:grpSpPr>
          <a:xfrm>
            <a:off x="7002452" y="5752847"/>
            <a:ext cx="1862940" cy="279265"/>
            <a:chOff x="6822" y="542430"/>
            <a:chExt cx="2039104" cy="533039"/>
          </a:xfrm>
        </p:grpSpPr>
        <p:sp>
          <p:nvSpPr>
            <p:cNvPr id="81" name="Rounded Rectangle 80">
              <a:extLst>
                <a:ext uri="{FF2B5EF4-FFF2-40B4-BE49-F238E27FC236}">
                  <a16:creationId xmlns:a16="http://schemas.microsoft.com/office/drawing/2014/main" id="{DADCA2BF-0893-AF78-70D6-E6D71EC8DA94}"/>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2" name="Rounded Rectangle 4">
              <a:extLst>
                <a:ext uri="{FF2B5EF4-FFF2-40B4-BE49-F238E27FC236}">
                  <a16:creationId xmlns:a16="http://schemas.microsoft.com/office/drawing/2014/main" id="{9FA3A3A4-E1F9-1243-65F2-1265D4EC4615}"/>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83" name="Group 82">
            <a:extLst>
              <a:ext uri="{FF2B5EF4-FFF2-40B4-BE49-F238E27FC236}">
                <a16:creationId xmlns:a16="http://schemas.microsoft.com/office/drawing/2014/main" id="{0FAA32DD-E800-C2B2-3D9D-26007A9B0E63}"/>
              </a:ext>
            </a:extLst>
          </p:cNvPr>
          <p:cNvGrpSpPr/>
          <p:nvPr/>
        </p:nvGrpSpPr>
        <p:grpSpPr>
          <a:xfrm>
            <a:off x="7009594" y="6312513"/>
            <a:ext cx="1862940" cy="279265"/>
            <a:chOff x="6822" y="542430"/>
            <a:chExt cx="2039104" cy="533039"/>
          </a:xfrm>
        </p:grpSpPr>
        <p:sp>
          <p:nvSpPr>
            <p:cNvPr id="84" name="Rounded Rectangle 83">
              <a:extLst>
                <a:ext uri="{FF2B5EF4-FFF2-40B4-BE49-F238E27FC236}">
                  <a16:creationId xmlns:a16="http://schemas.microsoft.com/office/drawing/2014/main" id="{AEA64759-2790-D2A2-F17B-F3CEDBDFB022}"/>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5" name="Rounded Rectangle 4">
              <a:extLst>
                <a:ext uri="{FF2B5EF4-FFF2-40B4-BE49-F238E27FC236}">
                  <a16:creationId xmlns:a16="http://schemas.microsoft.com/office/drawing/2014/main" id="{39D4C914-6536-9ABD-78FC-2DFF2680E1D8}"/>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graphicFrame>
        <p:nvGraphicFramePr>
          <p:cNvPr id="14" name="TextBox 5">
            <a:extLst>
              <a:ext uri="{FF2B5EF4-FFF2-40B4-BE49-F238E27FC236}">
                <a16:creationId xmlns:a16="http://schemas.microsoft.com/office/drawing/2014/main" id="{C1970619-7D34-E9E0-3AB1-29DC8882DC21}"/>
              </a:ext>
            </a:extLst>
          </p:cNvPr>
          <p:cNvGraphicFramePr/>
          <p:nvPr>
            <p:extLst>
              <p:ext uri="{D42A27DB-BD31-4B8C-83A1-F6EECF244321}">
                <p14:modId xmlns:p14="http://schemas.microsoft.com/office/powerpoint/2010/main" val="762728679"/>
              </p:ext>
            </p:extLst>
          </p:nvPr>
        </p:nvGraphicFramePr>
        <p:xfrm>
          <a:off x="2862169" y="1181677"/>
          <a:ext cx="3029734" cy="3693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8006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337A8-E383-970C-F8F6-2AD96CAB1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516C9-E853-7D70-B0DC-5DF47A8E9482}"/>
              </a:ext>
            </a:extLst>
          </p:cNvPr>
          <p:cNvSpPr>
            <a:spLocks noGrp="1"/>
          </p:cNvSpPr>
          <p:nvPr>
            <p:ph type="title"/>
          </p:nvPr>
        </p:nvSpPr>
        <p:spPr>
          <a:xfrm>
            <a:off x="524785" y="5490971"/>
            <a:ext cx="5221554" cy="1159200"/>
          </a:xfrm>
        </p:spPr>
        <p:txBody>
          <a:bodyPr vert="horz" lIns="91440" tIns="45720" rIns="91440" bIns="45720" rtlCol="0" anchor="ctr">
            <a:normAutofit/>
          </a:bodyPr>
          <a:lstStyle/>
          <a:p>
            <a:pPr algn="l" defTabSz="914400">
              <a:lnSpc>
                <a:spcPct val="90000"/>
              </a:lnSpc>
            </a:pPr>
            <a:r>
              <a:rPr lang="en-US" sz="3500" i="1" kern="1200" dirty="0">
                <a:solidFill>
                  <a:srgbClr val="FFFFFF"/>
                </a:solidFill>
                <a:latin typeface="+mj-lt"/>
                <a:ea typeface="+mj-ea"/>
                <a:cs typeface="+mj-cs"/>
              </a:rPr>
              <a:t>Quick Start – Understanding the Setup</a:t>
            </a:r>
            <a:endParaRPr lang="en-US" sz="3500" kern="1200" dirty="0">
              <a:solidFill>
                <a:srgbClr val="FFFFFF"/>
              </a:solidFill>
              <a:latin typeface="+mj-lt"/>
              <a:ea typeface="+mj-ea"/>
              <a:cs typeface="+mj-cs"/>
            </a:endParaRPr>
          </a:p>
        </p:txBody>
      </p:sp>
      <p:pic>
        <p:nvPicPr>
          <p:cNvPr id="5" name="Picture 4">
            <a:extLst>
              <a:ext uri="{FF2B5EF4-FFF2-40B4-BE49-F238E27FC236}">
                <a16:creationId xmlns:a16="http://schemas.microsoft.com/office/drawing/2014/main" id="{5410A2AC-2257-A0ED-7DC9-CE18FDDA01B1}"/>
              </a:ext>
            </a:extLst>
          </p:cNvPr>
          <p:cNvPicPr>
            <a:picLocks noChangeAspect="1"/>
          </p:cNvPicPr>
          <p:nvPr/>
        </p:nvPicPr>
        <p:blipFill>
          <a:blip r:embed="rId4"/>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1F9B512C-02D0-6D54-8469-EFA48D5FEF1F}"/>
              </a:ext>
            </a:extLst>
          </p:cNvPr>
          <p:cNvSpPr txBox="1">
            <a:spLocks/>
          </p:cNvSpPr>
          <p:nvPr/>
        </p:nvSpPr>
        <p:spPr>
          <a:xfrm>
            <a:off x="318500" y="405854"/>
            <a:ext cx="88255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Custom Setup - Create JARs Libraries</a:t>
            </a:r>
            <a:endParaRPr lang="en-US" sz="3200" noProof="1">
              <a:solidFill>
                <a:schemeClr val="bg1"/>
              </a:solidFill>
            </a:endParaRPr>
          </a:p>
        </p:txBody>
      </p:sp>
      <p:sp>
        <p:nvSpPr>
          <p:cNvPr id="8" name="TextBox 7">
            <a:extLst>
              <a:ext uri="{FF2B5EF4-FFF2-40B4-BE49-F238E27FC236}">
                <a16:creationId xmlns:a16="http://schemas.microsoft.com/office/drawing/2014/main" id="{33CA0EAE-FE74-8FCF-C756-EF62A2BA9B0C}"/>
              </a:ext>
            </a:extLst>
          </p:cNvPr>
          <p:cNvSpPr txBox="1"/>
          <p:nvPr/>
        </p:nvSpPr>
        <p:spPr>
          <a:xfrm>
            <a:off x="404476" y="1720946"/>
            <a:ext cx="7945120" cy="738664"/>
          </a:xfrm>
          <a:prstGeom prst="rect">
            <a:avLst/>
          </a:prstGeom>
          <a:noFill/>
        </p:spPr>
        <p:txBody>
          <a:bodyPr wrap="square">
            <a:spAutoFit/>
          </a:bodyPr>
          <a:lstStyle/>
          <a:p>
            <a:r>
              <a:rPr lang="en-US" sz="1400" dirty="0">
                <a:solidFill>
                  <a:schemeClr val="bg1"/>
                </a:solidFill>
              </a:rPr>
              <a:t>This tool packages the JD Edwards libraries into deployable JAR files that are required by the Atina JDE Microservice. It simplifies dependency management and ensures that all necessary classes are available at runtime.</a:t>
            </a:r>
            <a:endParaRPr lang="en-AR" sz="1100" dirty="0">
              <a:solidFill>
                <a:schemeClr val="bg1"/>
              </a:solidFill>
            </a:endParaRPr>
          </a:p>
        </p:txBody>
      </p:sp>
      <p:grpSp>
        <p:nvGrpSpPr>
          <p:cNvPr id="3" name="Group 2">
            <a:extLst>
              <a:ext uri="{FF2B5EF4-FFF2-40B4-BE49-F238E27FC236}">
                <a16:creationId xmlns:a16="http://schemas.microsoft.com/office/drawing/2014/main" id="{29B5AD22-059A-1CA7-81BC-3EFEF61A5F9B}"/>
              </a:ext>
            </a:extLst>
          </p:cNvPr>
          <p:cNvGrpSpPr/>
          <p:nvPr/>
        </p:nvGrpSpPr>
        <p:grpSpPr>
          <a:xfrm>
            <a:off x="7002453" y="2916299"/>
            <a:ext cx="1862940" cy="279265"/>
            <a:chOff x="6822" y="542430"/>
            <a:chExt cx="2039104" cy="533039"/>
          </a:xfrm>
        </p:grpSpPr>
        <p:sp>
          <p:nvSpPr>
            <p:cNvPr id="4" name="Rounded Rectangle 3">
              <a:extLst>
                <a:ext uri="{FF2B5EF4-FFF2-40B4-BE49-F238E27FC236}">
                  <a16:creationId xmlns:a16="http://schemas.microsoft.com/office/drawing/2014/main" id="{D469ACE9-4979-9B57-7C14-EF658C6377F2}"/>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 name="Rounded Rectangle 4">
              <a:extLst>
                <a:ext uri="{FF2B5EF4-FFF2-40B4-BE49-F238E27FC236}">
                  <a16:creationId xmlns:a16="http://schemas.microsoft.com/office/drawing/2014/main" id="{508B19D8-9E10-79FE-05E2-673EBD89944E}"/>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11" name="Group 10">
            <a:extLst>
              <a:ext uri="{FF2B5EF4-FFF2-40B4-BE49-F238E27FC236}">
                <a16:creationId xmlns:a16="http://schemas.microsoft.com/office/drawing/2014/main" id="{50737AA7-CAB6-3AD5-A2DC-CAF47E451904}"/>
              </a:ext>
            </a:extLst>
          </p:cNvPr>
          <p:cNvGrpSpPr/>
          <p:nvPr/>
        </p:nvGrpSpPr>
        <p:grpSpPr>
          <a:xfrm rot="5400000">
            <a:off x="7764226" y="3233998"/>
            <a:ext cx="213569" cy="217113"/>
            <a:chOff x="2225367" y="901313"/>
            <a:chExt cx="432290" cy="505697"/>
          </a:xfrm>
        </p:grpSpPr>
        <p:sp>
          <p:nvSpPr>
            <p:cNvPr id="12" name="Right Arrow 11">
              <a:extLst>
                <a:ext uri="{FF2B5EF4-FFF2-40B4-BE49-F238E27FC236}">
                  <a16:creationId xmlns:a16="http://schemas.microsoft.com/office/drawing/2014/main" id="{9DF3AC28-855F-31EA-B1DA-DAECED345C3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3" name="Right Arrow 6">
              <a:extLst>
                <a:ext uri="{FF2B5EF4-FFF2-40B4-BE49-F238E27FC236}">
                  <a16:creationId xmlns:a16="http://schemas.microsoft.com/office/drawing/2014/main" id="{CC34AB0D-AEB9-FB02-1A2A-A60A9033B6C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0" name="Group 19">
            <a:extLst>
              <a:ext uri="{FF2B5EF4-FFF2-40B4-BE49-F238E27FC236}">
                <a16:creationId xmlns:a16="http://schemas.microsoft.com/office/drawing/2014/main" id="{648B8D3C-4029-5B4A-E3D3-8913676413EA}"/>
              </a:ext>
            </a:extLst>
          </p:cNvPr>
          <p:cNvGrpSpPr/>
          <p:nvPr/>
        </p:nvGrpSpPr>
        <p:grpSpPr>
          <a:xfrm rot="5400000">
            <a:off x="7764225" y="3808893"/>
            <a:ext cx="213569" cy="217113"/>
            <a:chOff x="2225367" y="901313"/>
            <a:chExt cx="432290" cy="505697"/>
          </a:xfrm>
        </p:grpSpPr>
        <p:sp>
          <p:nvSpPr>
            <p:cNvPr id="21" name="Right Arrow 20">
              <a:extLst>
                <a:ext uri="{FF2B5EF4-FFF2-40B4-BE49-F238E27FC236}">
                  <a16:creationId xmlns:a16="http://schemas.microsoft.com/office/drawing/2014/main" id="{5D4E35EC-2B46-1D58-4C88-1BE3CC37647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2" name="Right Arrow 6">
              <a:extLst>
                <a:ext uri="{FF2B5EF4-FFF2-40B4-BE49-F238E27FC236}">
                  <a16:creationId xmlns:a16="http://schemas.microsoft.com/office/drawing/2014/main" id="{2BA582DE-9D27-505A-B088-16EDA6A3534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3" name="Group 22">
            <a:extLst>
              <a:ext uri="{FF2B5EF4-FFF2-40B4-BE49-F238E27FC236}">
                <a16:creationId xmlns:a16="http://schemas.microsoft.com/office/drawing/2014/main" id="{D597D6A7-6E90-77E3-4A2E-25FF2BCFCE8E}"/>
              </a:ext>
            </a:extLst>
          </p:cNvPr>
          <p:cNvGrpSpPr/>
          <p:nvPr/>
        </p:nvGrpSpPr>
        <p:grpSpPr>
          <a:xfrm rot="5400000">
            <a:off x="7764225" y="4365649"/>
            <a:ext cx="213569" cy="217113"/>
            <a:chOff x="2225367" y="901313"/>
            <a:chExt cx="432290" cy="505697"/>
          </a:xfrm>
        </p:grpSpPr>
        <p:sp>
          <p:nvSpPr>
            <p:cNvPr id="24" name="Right Arrow 23">
              <a:extLst>
                <a:ext uri="{FF2B5EF4-FFF2-40B4-BE49-F238E27FC236}">
                  <a16:creationId xmlns:a16="http://schemas.microsoft.com/office/drawing/2014/main" id="{99B11E95-8176-FD91-A295-230779364BF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5" name="Right Arrow 6">
              <a:extLst>
                <a:ext uri="{FF2B5EF4-FFF2-40B4-BE49-F238E27FC236}">
                  <a16:creationId xmlns:a16="http://schemas.microsoft.com/office/drawing/2014/main" id="{DA69FFA8-EF34-397C-0C00-38B42B67475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9" name="Group 28">
            <a:extLst>
              <a:ext uri="{FF2B5EF4-FFF2-40B4-BE49-F238E27FC236}">
                <a16:creationId xmlns:a16="http://schemas.microsoft.com/office/drawing/2014/main" id="{958977E4-3803-DC68-2601-C01A3D9389FD}"/>
              </a:ext>
            </a:extLst>
          </p:cNvPr>
          <p:cNvGrpSpPr/>
          <p:nvPr/>
        </p:nvGrpSpPr>
        <p:grpSpPr>
          <a:xfrm rot="5400000">
            <a:off x="7763043" y="4930650"/>
            <a:ext cx="213569" cy="217113"/>
            <a:chOff x="2225367" y="901313"/>
            <a:chExt cx="432290" cy="505697"/>
          </a:xfrm>
        </p:grpSpPr>
        <p:sp>
          <p:nvSpPr>
            <p:cNvPr id="30" name="Right Arrow 29">
              <a:extLst>
                <a:ext uri="{FF2B5EF4-FFF2-40B4-BE49-F238E27FC236}">
                  <a16:creationId xmlns:a16="http://schemas.microsoft.com/office/drawing/2014/main" id="{F17BBB15-264B-EF7C-F2B7-0A9907FE330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1" name="Right Arrow 6">
              <a:extLst>
                <a:ext uri="{FF2B5EF4-FFF2-40B4-BE49-F238E27FC236}">
                  <a16:creationId xmlns:a16="http://schemas.microsoft.com/office/drawing/2014/main" id="{9408A17C-9175-17C3-4B75-9C50F16DFE2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C374189C-9161-F4A1-55BC-BC39BB172E2C}"/>
              </a:ext>
            </a:extLst>
          </p:cNvPr>
          <p:cNvGrpSpPr/>
          <p:nvPr/>
        </p:nvGrpSpPr>
        <p:grpSpPr>
          <a:xfrm rot="5400000">
            <a:off x="7763042" y="5505545"/>
            <a:ext cx="213569" cy="217113"/>
            <a:chOff x="2225367" y="901313"/>
            <a:chExt cx="432290" cy="505697"/>
          </a:xfrm>
        </p:grpSpPr>
        <p:sp>
          <p:nvSpPr>
            <p:cNvPr id="39" name="Right Arrow 38">
              <a:extLst>
                <a:ext uri="{FF2B5EF4-FFF2-40B4-BE49-F238E27FC236}">
                  <a16:creationId xmlns:a16="http://schemas.microsoft.com/office/drawing/2014/main" id="{4F2FF037-4F18-6FF3-0207-28AB0DED3D5A}"/>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0" name="Right Arrow 6">
              <a:extLst>
                <a:ext uri="{FF2B5EF4-FFF2-40B4-BE49-F238E27FC236}">
                  <a16:creationId xmlns:a16="http://schemas.microsoft.com/office/drawing/2014/main" id="{DE9ED681-8BF2-444E-9941-5A5FA3F4981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1" name="Group 40">
            <a:extLst>
              <a:ext uri="{FF2B5EF4-FFF2-40B4-BE49-F238E27FC236}">
                <a16:creationId xmlns:a16="http://schemas.microsoft.com/office/drawing/2014/main" id="{9AF6BE7C-2E3B-03FF-05CC-7C4FE97EFA2F}"/>
              </a:ext>
            </a:extLst>
          </p:cNvPr>
          <p:cNvGrpSpPr/>
          <p:nvPr/>
        </p:nvGrpSpPr>
        <p:grpSpPr>
          <a:xfrm rot="5400000">
            <a:off x="7763042" y="6062301"/>
            <a:ext cx="213569" cy="217113"/>
            <a:chOff x="2225367" y="901313"/>
            <a:chExt cx="432290" cy="505697"/>
          </a:xfrm>
        </p:grpSpPr>
        <p:sp>
          <p:nvSpPr>
            <p:cNvPr id="42" name="Right Arrow 41">
              <a:extLst>
                <a:ext uri="{FF2B5EF4-FFF2-40B4-BE49-F238E27FC236}">
                  <a16:creationId xmlns:a16="http://schemas.microsoft.com/office/drawing/2014/main" id="{61CF9784-8341-20F4-B8C8-DBBB7F6A31F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D335A9A8-5120-53FB-DE3D-2B7594204DFB}"/>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BC4B3AEE-8472-9080-EA57-17DAD5017EFC}"/>
              </a:ext>
            </a:extLst>
          </p:cNvPr>
          <p:cNvGrpSpPr/>
          <p:nvPr/>
        </p:nvGrpSpPr>
        <p:grpSpPr>
          <a:xfrm>
            <a:off x="7002453" y="3493605"/>
            <a:ext cx="1862940" cy="279265"/>
            <a:chOff x="6822" y="542430"/>
            <a:chExt cx="2039104" cy="533039"/>
          </a:xfrm>
        </p:grpSpPr>
        <p:sp>
          <p:nvSpPr>
            <p:cNvPr id="48" name="Rounded Rectangle 47">
              <a:extLst>
                <a:ext uri="{FF2B5EF4-FFF2-40B4-BE49-F238E27FC236}">
                  <a16:creationId xmlns:a16="http://schemas.microsoft.com/office/drawing/2014/main" id="{7EC59705-65A2-771A-886A-1F1D032E704E}"/>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9" name="Rounded Rectangle 4">
              <a:extLst>
                <a:ext uri="{FF2B5EF4-FFF2-40B4-BE49-F238E27FC236}">
                  <a16:creationId xmlns:a16="http://schemas.microsoft.com/office/drawing/2014/main" id="{6CB615BE-6C81-34AA-9B08-C30BE7F65919}"/>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0" name="Group 49">
            <a:extLst>
              <a:ext uri="{FF2B5EF4-FFF2-40B4-BE49-F238E27FC236}">
                <a16:creationId xmlns:a16="http://schemas.microsoft.com/office/drawing/2014/main" id="{17D8B654-F4CF-1B92-D110-671109B07AE7}"/>
              </a:ext>
            </a:extLst>
          </p:cNvPr>
          <p:cNvGrpSpPr/>
          <p:nvPr/>
        </p:nvGrpSpPr>
        <p:grpSpPr>
          <a:xfrm>
            <a:off x="7002452" y="4054590"/>
            <a:ext cx="1862940" cy="279265"/>
            <a:chOff x="6822" y="542430"/>
            <a:chExt cx="2039104" cy="533039"/>
          </a:xfrm>
        </p:grpSpPr>
        <p:sp>
          <p:nvSpPr>
            <p:cNvPr id="51" name="Rounded Rectangle 50">
              <a:extLst>
                <a:ext uri="{FF2B5EF4-FFF2-40B4-BE49-F238E27FC236}">
                  <a16:creationId xmlns:a16="http://schemas.microsoft.com/office/drawing/2014/main" id="{46AB468E-7B19-D8DD-3999-9E3532E600A3}"/>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08A751EE-88C3-C5BE-739D-1AAB7052A23E}"/>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3" name="Group 52">
            <a:extLst>
              <a:ext uri="{FF2B5EF4-FFF2-40B4-BE49-F238E27FC236}">
                <a16:creationId xmlns:a16="http://schemas.microsoft.com/office/drawing/2014/main" id="{956C3A57-3360-8CA2-1F7C-6537DC26363C}"/>
              </a:ext>
            </a:extLst>
          </p:cNvPr>
          <p:cNvGrpSpPr/>
          <p:nvPr/>
        </p:nvGrpSpPr>
        <p:grpSpPr>
          <a:xfrm>
            <a:off x="7002452" y="4589086"/>
            <a:ext cx="1862940" cy="279265"/>
            <a:chOff x="6822" y="542430"/>
            <a:chExt cx="2039104" cy="533039"/>
          </a:xfrm>
        </p:grpSpPr>
        <p:sp>
          <p:nvSpPr>
            <p:cNvPr id="54" name="Rounded Rectangle 53">
              <a:extLst>
                <a:ext uri="{FF2B5EF4-FFF2-40B4-BE49-F238E27FC236}">
                  <a16:creationId xmlns:a16="http://schemas.microsoft.com/office/drawing/2014/main" id="{4872CC0F-6008-65BE-5A33-8244A360E9B5}"/>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5" name="Rounded Rectangle 4">
              <a:extLst>
                <a:ext uri="{FF2B5EF4-FFF2-40B4-BE49-F238E27FC236}">
                  <a16:creationId xmlns:a16="http://schemas.microsoft.com/office/drawing/2014/main" id="{5CAE7A9D-383E-B5EA-32ED-4AD613C620D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56" name="Group 55">
            <a:extLst>
              <a:ext uri="{FF2B5EF4-FFF2-40B4-BE49-F238E27FC236}">
                <a16:creationId xmlns:a16="http://schemas.microsoft.com/office/drawing/2014/main" id="{51B171F1-C002-C4B4-6656-324ADF4BF6CD}"/>
              </a:ext>
            </a:extLst>
          </p:cNvPr>
          <p:cNvGrpSpPr/>
          <p:nvPr/>
        </p:nvGrpSpPr>
        <p:grpSpPr>
          <a:xfrm>
            <a:off x="7006024" y="5177952"/>
            <a:ext cx="1862940" cy="279265"/>
            <a:chOff x="6822" y="542430"/>
            <a:chExt cx="2039104" cy="533039"/>
          </a:xfrm>
        </p:grpSpPr>
        <p:sp>
          <p:nvSpPr>
            <p:cNvPr id="78" name="Rounded Rectangle 77">
              <a:extLst>
                <a:ext uri="{FF2B5EF4-FFF2-40B4-BE49-F238E27FC236}">
                  <a16:creationId xmlns:a16="http://schemas.microsoft.com/office/drawing/2014/main" id="{1EB81911-FC70-6A92-B7D3-83716E35755C}"/>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9" name="Rounded Rectangle 4">
              <a:extLst>
                <a:ext uri="{FF2B5EF4-FFF2-40B4-BE49-F238E27FC236}">
                  <a16:creationId xmlns:a16="http://schemas.microsoft.com/office/drawing/2014/main" id="{4F9E881A-7472-67CF-ECF4-02DBB9ECD735}"/>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80" name="Group 79">
            <a:extLst>
              <a:ext uri="{FF2B5EF4-FFF2-40B4-BE49-F238E27FC236}">
                <a16:creationId xmlns:a16="http://schemas.microsoft.com/office/drawing/2014/main" id="{321A1C3D-407E-9A04-5483-5822B96422E0}"/>
              </a:ext>
            </a:extLst>
          </p:cNvPr>
          <p:cNvGrpSpPr/>
          <p:nvPr/>
        </p:nvGrpSpPr>
        <p:grpSpPr>
          <a:xfrm>
            <a:off x="7002452" y="5752847"/>
            <a:ext cx="1862940" cy="279265"/>
            <a:chOff x="6822" y="542430"/>
            <a:chExt cx="2039104" cy="533039"/>
          </a:xfrm>
        </p:grpSpPr>
        <p:sp>
          <p:nvSpPr>
            <p:cNvPr id="81" name="Rounded Rectangle 80">
              <a:extLst>
                <a:ext uri="{FF2B5EF4-FFF2-40B4-BE49-F238E27FC236}">
                  <a16:creationId xmlns:a16="http://schemas.microsoft.com/office/drawing/2014/main" id="{123D6916-8C36-6CB1-9438-0DA620CD5DD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2" name="Rounded Rectangle 4">
              <a:extLst>
                <a:ext uri="{FF2B5EF4-FFF2-40B4-BE49-F238E27FC236}">
                  <a16:creationId xmlns:a16="http://schemas.microsoft.com/office/drawing/2014/main" id="{6D7325B1-7336-43FF-5D29-9BB6A7552E13}"/>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83" name="Group 82">
            <a:extLst>
              <a:ext uri="{FF2B5EF4-FFF2-40B4-BE49-F238E27FC236}">
                <a16:creationId xmlns:a16="http://schemas.microsoft.com/office/drawing/2014/main" id="{8610E86A-50E3-9210-1126-F77004CE1C8E}"/>
              </a:ext>
            </a:extLst>
          </p:cNvPr>
          <p:cNvGrpSpPr/>
          <p:nvPr/>
        </p:nvGrpSpPr>
        <p:grpSpPr>
          <a:xfrm>
            <a:off x="7009594" y="6312513"/>
            <a:ext cx="1862940" cy="279265"/>
            <a:chOff x="6822" y="542430"/>
            <a:chExt cx="2039104" cy="533039"/>
          </a:xfrm>
        </p:grpSpPr>
        <p:sp>
          <p:nvSpPr>
            <p:cNvPr id="84" name="Rounded Rectangle 83">
              <a:extLst>
                <a:ext uri="{FF2B5EF4-FFF2-40B4-BE49-F238E27FC236}">
                  <a16:creationId xmlns:a16="http://schemas.microsoft.com/office/drawing/2014/main" id="{0F53CE6A-1B9F-491A-9248-62621E0481EE}"/>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5" name="Rounded Rectangle 4">
              <a:extLst>
                <a:ext uri="{FF2B5EF4-FFF2-40B4-BE49-F238E27FC236}">
                  <a16:creationId xmlns:a16="http://schemas.microsoft.com/office/drawing/2014/main" id="{239B3FDE-B937-80B8-1D39-9A03ADCB073D}"/>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graphicFrame>
        <p:nvGraphicFramePr>
          <p:cNvPr id="14" name="TextBox 5">
            <a:extLst>
              <a:ext uri="{FF2B5EF4-FFF2-40B4-BE49-F238E27FC236}">
                <a16:creationId xmlns:a16="http://schemas.microsoft.com/office/drawing/2014/main" id="{EA0224A2-EF67-55C7-2813-37381A695582}"/>
              </a:ext>
            </a:extLst>
          </p:cNvPr>
          <p:cNvGraphicFramePr/>
          <p:nvPr/>
        </p:nvGraphicFramePr>
        <p:xfrm>
          <a:off x="2862169" y="1181677"/>
          <a:ext cx="3029734" cy="3693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5" name="Online Media 1" descr="02 Create Constants">
            <a:hlinkClick r:id="" action="ppaction://media"/>
            <a:extLst>
              <a:ext uri="{FF2B5EF4-FFF2-40B4-BE49-F238E27FC236}">
                <a16:creationId xmlns:a16="http://schemas.microsoft.com/office/drawing/2014/main" id="{61BA81E1-1B36-6CCA-A6BC-21257CC78689}"/>
              </a:ext>
            </a:extLst>
          </p:cNvPr>
          <p:cNvPicPr>
            <a:picLocks noRot="1" noChangeAspect="1"/>
          </p:cNvPicPr>
          <p:nvPr>
            <a:videoFile r:link="rId1"/>
          </p:nvPr>
        </p:nvPicPr>
        <p:blipFill>
          <a:blip r:embed="rId10"/>
          <a:stretch>
            <a:fillRect/>
          </a:stretch>
        </p:blipFill>
        <p:spPr>
          <a:xfrm>
            <a:off x="524785" y="3642624"/>
            <a:ext cx="2845158" cy="2133869"/>
          </a:xfrm>
          <a:prstGeom prst="rect">
            <a:avLst/>
          </a:prstGeom>
        </p:spPr>
      </p:pic>
      <p:pic>
        <p:nvPicPr>
          <p:cNvPr id="16" name="Online Media 15" descr="03 Create JARS Files">
            <a:hlinkClick r:id="" action="ppaction://media"/>
            <a:extLst>
              <a:ext uri="{FF2B5EF4-FFF2-40B4-BE49-F238E27FC236}">
                <a16:creationId xmlns:a16="http://schemas.microsoft.com/office/drawing/2014/main" id="{25BBD9D6-2D47-F50D-79C5-64998647249C}"/>
              </a:ext>
            </a:extLst>
          </p:cNvPr>
          <p:cNvPicPr>
            <a:picLocks noRot="1" noChangeAspect="1"/>
          </p:cNvPicPr>
          <p:nvPr>
            <a:videoFile r:link="rId2"/>
          </p:nvPr>
        </p:nvPicPr>
        <p:blipFill>
          <a:blip r:embed="rId11"/>
          <a:stretch>
            <a:fillRect/>
          </a:stretch>
        </p:blipFill>
        <p:spPr>
          <a:xfrm>
            <a:off x="3487725" y="3626938"/>
            <a:ext cx="2845158" cy="2133869"/>
          </a:xfrm>
          <a:prstGeom prst="rect">
            <a:avLst/>
          </a:prstGeom>
        </p:spPr>
      </p:pic>
    </p:spTree>
    <p:extLst>
      <p:ext uri="{BB962C8B-B14F-4D97-AF65-F5344CB8AC3E}">
        <p14:creationId xmlns:p14="http://schemas.microsoft.com/office/powerpoint/2010/main" val="7359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15"/>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5"/>
                                        </p:tgtEl>
                                      </p:cBhvr>
                                    </p:cmd>
                                  </p:childTnLst>
                                </p:cTn>
                              </p:par>
                            </p:childTnLst>
                          </p:cTn>
                        </p:par>
                      </p:childTnLst>
                    </p:cTn>
                  </p:par>
                </p:childTnLst>
              </p:cTn>
              <p:nextCondLst>
                <p:cond evt="onClick" delay="0">
                  <p:tgtEl>
                    <p:spTgt spid="15"/>
                  </p:tgtEl>
                </p:cond>
              </p:nextCondLst>
            </p:seq>
            <p:video>
              <p:cMediaNode vol="80000">
                <p:cTn id="16" fill="hold" display="0">
                  <p:stCondLst>
                    <p:cond delay="indefinite"/>
                  </p:stCondLst>
                </p:cTn>
                <p:tgtEl>
                  <p:spTgt spid="15"/>
                </p:tgtEl>
              </p:cMediaNode>
            </p:video>
            <p:video>
              <p:cMediaNode vol="80000">
                <p:cTn id="17" fill="hold" display="0">
                  <p:stCondLst>
                    <p:cond delay="indefinite"/>
                  </p:stCondLst>
                </p:cTn>
                <p:tgtEl>
                  <p:spTgt spid="16"/>
                </p:tgtEl>
              </p:cMediaNode>
            </p:video>
            <p:seq concurrent="1" nextAc="seek">
              <p:cTn id="18" restart="whenNotActive" fill="hold" evtFilter="cancelBubble" nodeType="interactiveSeq">
                <p:stCondLst>
                  <p:cond evt="onClick" delay="0">
                    <p:tgtEl>
                      <p:spTgt spid="1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7A68-9121-BA55-F306-83AAFF6720B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8359DF-626C-DA8F-5153-40EDDC4EC058}"/>
              </a:ext>
            </a:extLst>
          </p:cNvPr>
          <p:cNvSpPr txBox="1"/>
          <p:nvPr/>
        </p:nvSpPr>
        <p:spPr>
          <a:xfrm>
            <a:off x="599440" y="1417638"/>
            <a:ext cx="7945120" cy="307777"/>
          </a:xfrm>
          <a:prstGeom prst="rect">
            <a:avLst/>
          </a:prstGeom>
          <a:noFill/>
        </p:spPr>
        <p:txBody>
          <a:bodyPr wrap="square">
            <a:spAutoFit/>
          </a:bodyPr>
          <a:lstStyle/>
          <a:p>
            <a:r>
              <a:rPr lang="en-US" sz="1400" b="1" i="0" noProof="1">
                <a:effectLst/>
              </a:rPr>
              <a:t>Step 1 -</a:t>
            </a:r>
            <a:r>
              <a:rPr lang="en-US" sz="1400" i="0" noProof="1">
                <a:effectLst/>
              </a:rPr>
              <a:t> </a:t>
            </a:r>
            <a:r>
              <a:rPr lang="en-US" sz="1400" noProof="1"/>
              <a:t> Create the </a:t>
            </a:r>
            <a:r>
              <a:rPr lang="en-US" sz="1400" b="1" noProof="1"/>
              <a:t>service-constants.properties </a:t>
            </a:r>
            <a:r>
              <a:rPr lang="en-US" sz="1400" noProof="1"/>
              <a:t>File </a:t>
            </a:r>
          </a:p>
        </p:txBody>
      </p:sp>
      <p:sp>
        <p:nvSpPr>
          <p:cNvPr id="9" name="TextBox 8">
            <a:extLst>
              <a:ext uri="{FF2B5EF4-FFF2-40B4-BE49-F238E27FC236}">
                <a16:creationId xmlns:a16="http://schemas.microsoft.com/office/drawing/2014/main" id="{7CD8423B-FFD7-2A68-68E0-6ACD5A4E0042}"/>
              </a:ext>
            </a:extLst>
          </p:cNvPr>
          <p:cNvSpPr txBox="1"/>
          <p:nvPr/>
        </p:nvSpPr>
        <p:spPr>
          <a:xfrm>
            <a:off x="599440" y="2783923"/>
            <a:ext cx="5061268" cy="276999"/>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nano</a:t>
            </a:r>
            <a:r>
              <a:rPr lang="en-US" sz="1200" noProof="1">
                <a:latin typeface="Consolas" panose="020B0609020204030204" pitchFamily="49" charset="0"/>
                <a:cs typeface="Consolas" panose="020B0609020204030204" pitchFamily="49" charset="0"/>
              </a:rPr>
              <a:t> /tmp/build_jde_libs/service-constants.properties</a:t>
            </a:r>
            <a:endParaRPr lang="en-US" sz="1050" b="0" i="0" noProof="1">
              <a:effectLst/>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332D082C-F58C-FB9E-4287-04E18F79A569}"/>
              </a:ext>
            </a:extLst>
          </p:cNvPr>
          <p:cNvSpPr txBox="1"/>
          <p:nvPr/>
        </p:nvSpPr>
        <p:spPr>
          <a:xfrm>
            <a:off x="599440" y="3510893"/>
            <a:ext cx="4572000" cy="307777"/>
          </a:xfrm>
          <a:prstGeom prst="rect">
            <a:avLst/>
          </a:prstGeom>
          <a:noFill/>
        </p:spPr>
        <p:txBody>
          <a:bodyPr wrap="square">
            <a:spAutoFit/>
          </a:bodyPr>
          <a:lstStyle/>
          <a:p>
            <a:r>
              <a:rPr lang="en-US" sz="1400" b="0" i="0" dirty="0">
                <a:effectLst/>
              </a:rPr>
              <a:t>Copy and paste the following content into the file:</a:t>
            </a:r>
            <a:endParaRPr lang="en-AR" sz="1400" dirty="0"/>
          </a:p>
        </p:txBody>
      </p:sp>
      <p:sp>
        <p:nvSpPr>
          <p:cNvPr id="6" name="TextBox 5">
            <a:extLst>
              <a:ext uri="{FF2B5EF4-FFF2-40B4-BE49-F238E27FC236}">
                <a16:creationId xmlns:a16="http://schemas.microsoft.com/office/drawing/2014/main" id="{278FAE4D-493A-73C8-F84E-054DF2AF343C}"/>
              </a:ext>
            </a:extLst>
          </p:cNvPr>
          <p:cNvSpPr txBox="1"/>
          <p:nvPr/>
        </p:nvSpPr>
        <p:spPr>
          <a:xfrm>
            <a:off x="599440" y="1866188"/>
            <a:ext cx="5126768" cy="738664"/>
          </a:xfrm>
          <a:prstGeom prst="rect">
            <a:avLst/>
          </a:prstGeom>
          <a:noFill/>
        </p:spPr>
        <p:txBody>
          <a:bodyPr wrap="square">
            <a:spAutoFit/>
          </a:bodyPr>
          <a:lstStyle/>
          <a:p>
            <a:r>
              <a:rPr lang="en-US" sz="1400" b="0" i="0" dirty="0">
                <a:effectLst/>
              </a:rPr>
              <a:t>In this step, you’ll define runtime parameters for JD Edwards Web Services by creating the service-</a:t>
            </a:r>
            <a:r>
              <a:rPr lang="en-US" sz="1400" b="0" i="0" dirty="0" err="1">
                <a:effectLst/>
              </a:rPr>
              <a:t>constants.properties</a:t>
            </a:r>
            <a:r>
              <a:rPr lang="en-US" sz="1400" b="0" i="0" dirty="0">
                <a:effectLst/>
              </a:rPr>
              <a:t> configuration file.</a:t>
            </a:r>
            <a:endParaRPr lang="en-AR" sz="1400" dirty="0"/>
          </a:p>
        </p:txBody>
      </p:sp>
      <p:sp>
        <p:nvSpPr>
          <p:cNvPr id="8" name="TextBox 7">
            <a:extLst>
              <a:ext uri="{FF2B5EF4-FFF2-40B4-BE49-F238E27FC236}">
                <a16:creationId xmlns:a16="http://schemas.microsoft.com/office/drawing/2014/main" id="{8E95BB3A-E6CA-3557-7543-34F1B8834C9A}"/>
              </a:ext>
            </a:extLst>
          </p:cNvPr>
          <p:cNvSpPr txBox="1"/>
          <p:nvPr/>
        </p:nvSpPr>
        <p:spPr>
          <a:xfrm>
            <a:off x="599440" y="4043321"/>
            <a:ext cx="5061268" cy="181588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800" dirty="0">
                <a:latin typeface="Consolas" panose="020B0609020204030204" pitchFamily="49" charset="0"/>
                <a:cs typeface="Consolas" panose="020B0609020204030204" pitchFamily="49" charset="0"/>
              </a:rPr>
              <a:t>J0100002_MAX_ROWS=10</a:t>
            </a:r>
          </a:p>
          <a:p>
            <a:r>
              <a:rPr lang="en-US" sz="800" dirty="0">
                <a:latin typeface="Consolas" panose="020B0609020204030204" pitchFamily="49" charset="0"/>
                <a:cs typeface="Consolas" panose="020B0609020204030204" pitchFamily="49" charset="0"/>
              </a:rPr>
              <a:t>J0000110_MAX_ROWS=10</a:t>
            </a:r>
          </a:p>
          <a:p>
            <a:r>
              <a:rPr lang="en-US" sz="800" dirty="0">
                <a:latin typeface="Consolas" panose="020B0609020204030204" pitchFamily="49" charset="0"/>
                <a:cs typeface="Consolas" panose="020B0609020204030204" pitchFamily="49" charset="0"/>
              </a:rPr>
              <a:t>J0100004_MAX_ROWS=10</a:t>
            </a:r>
          </a:p>
          <a:p>
            <a:r>
              <a:rPr lang="en-US" sz="800" dirty="0">
                <a:latin typeface="Consolas" panose="020B0609020204030204" pitchFamily="49" charset="0"/>
                <a:cs typeface="Consolas" panose="020B0609020204030204" pitchFamily="49" charset="0"/>
              </a:rPr>
              <a:t>J0400002_MAX_ROWS=10</a:t>
            </a:r>
          </a:p>
          <a:p>
            <a:r>
              <a:rPr lang="en-US" sz="800" dirty="0">
                <a:latin typeface="Consolas" panose="020B0609020204030204" pitchFamily="49" charset="0"/>
                <a:cs typeface="Consolas" panose="020B0609020204030204" pitchFamily="49" charset="0"/>
              </a:rPr>
              <a:t>J4200010_SOE_MBF_VERSION=</a:t>
            </a:r>
          </a:p>
          <a:p>
            <a:r>
              <a:rPr lang="en-US" sz="800" dirty="0">
                <a:latin typeface="Consolas" panose="020B0609020204030204" pitchFamily="49" charset="0"/>
                <a:cs typeface="Consolas" panose="020B0609020204030204" pitchFamily="49" charset="0"/>
              </a:rPr>
              <a:t>J4200010_BYPASS_WARNINGS=2</a:t>
            </a:r>
          </a:p>
          <a:p>
            <a:r>
              <a:rPr lang="en-US" sz="800" dirty="0">
                <a:latin typeface="Consolas" panose="020B0609020204030204" pitchFamily="49" charset="0"/>
                <a:cs typeface="Consolas" panose="020B0609020204030204" pitchFamily="49" charset="0"/>
              </a:rPr>
              <a:t>J4200010_PREFIX_5=ATINA</a:t>
            </a:r>
          </a:p>
          <a:p>
            <a:r>
              <a:rPr lang="en-US" sz="800" dirty="0">
                <a:latin typeface="Consolas" panose="020B0609020204030204" pitchFamily="49" charset="0"/>
                <a:cs typeface="Consolas" panose="020B0609020204030204" pitchFamily="49" charset="0"/>
              </a:rPr>
              <a:t>J4200010_PREFIX_2=ATINA</a:t>
            </a:r>
          </a:p>
          <a:p>
            <a:r>
              <a:rPr lang="en-US" sz="800" dirty="0">
                <a:latin typeface="Consolas" panose="020B0609020204030204" pitchFamily="49" charset="0"/>
                <a:cs typeface="Consolas" panose="020B0609020204030204" pitchFamily="49" charset="0"/>
              </a:rPr>
              <a:t>J4200050_MAX_ROWS=10</a:t>
            </a:r>
          </a:p>
          <a:p>
            <a:r>
              <a:rPr lang="en-US" sz="800" dirty="0">
                <a:latin typeface="Consolas" panose="020B0609020204030204" pitchFamily="49" charset="0"/>
                <a:cs typeface="Consolas" panose="020B0609020204030204" pitchFamily="49" charset="0"/>
              </a:rPr>
              <a:t>J0100022_MAX_ROWS=10</a:t>
            </a:r>
          </a:p>
          <a:p>
            <a:r>
              <a:rPr lang="en-US" sz="800" dirty="0">
                <a:latin typeface="Consolas" panose="020B0609020204030204" pitchFamily="49" charset="0"/>
                <a:cs typeface="Consolas" panose="020B0609020204030204" pitchFamily="49" charset="0"/>
              </a:rPr>
              <a:t>J0100007_MAX_ROWS=10</a:t>
            </a:r>
          </a:p>
          <a:p>
            <a:r>
              <a:rPr lang="en-US" sz="800" dirty="0">
                <a:latin typeface="Consolas" panose="020B0609020204030204" pitchFamily="49" charset="0"/>
                <a:cs typeface="Consolas" panose="020B0609020204030204" pitchFamily="49" charset="0"/>
              </a:rPr>
              <a:t>J4300010_PO_MBF_VERSION=ZJDE0001</a:t>
            </a:r>
          </a:p>
          <a:p>
            <a:r>
              <a:rPr lang="en-US" sz="800" dirty="0">
                <a:latin typeface="Consolas" panose="020B0609020204030204" pitchFamily="49" charset="0"/>
                <a:cs typeface="Consolas" panose="020B0609020204030204" pitchFamily="49" charset="0"/>
              </a:rPr>
              <a:t>J4300010_BYPASS_BSFN_WARNINGS=1</a:t>
            </a:r>
          </a:p>
          <a:p>
            <a:r>
              <a:rPr lang="en-US" sz="800" dirty="0">
                <a:latin typeface="Consolas" panose="020B0609020204030204" pitchFamily="49" charset="0"/>
                <a:cs typeface="Consolas" panose="020B0609020204030204" pitchFamily="49" charset="0"/>
              </a:rPr>
              <a:t>J4300010_PREFIX_1=</a:t>
            </a:r>
          </a:p>
        </p:txBody>
      </p:sp>
      <p:pic>
        <p:nvPicPr>
          <p:cNvPr id="10" name="Picture 9">
            <a:extLst>
              <a:ext uri="{FF2B5EF4-FFF2-40B4-BE49-F238E27FC236}">
                <a16:creationId xmlns:a16="http://schemas.microsoft.com/office/drawing/2014/main" id="{D6CDB1EC-66A6-EEAC-F05E-21E6A5198E23}"/>
              </a:ext>
            </a:extLst>
          </p:cNvPr>
          <p:cNvPicPr>
            <a:picLocks noChangeAspect="1"/>
          </p:cNvPicPr>
          <p:nvPr/>
        </p:nvPicPr>
        <p:blipFill>
          <a:blip r:embed="rId2"/>
          <a:stretch>
            <a:fillRect/>
          </a:stretch>
        </p:blipFill>
        <p:spPr>
          <a:xfrm>
            <a:off x="0" y="0"/>
            <a:ext cx="9144000" cy="644018"/>
          </a:xfrm>
          <a:prstGeom prst="rect">
            <a:avLst/>
          </a:prstGeom>
        </p:spPr>
      </p:pic>
      <p:sp>
        <p:nvSpPr>
          <p:cNvPr id="11" name="Title 1">
            <a:extLst>
              <a:ext uri="{FF2B5EF4-FFF2-40B4-BE49-F238E27FC236}">
                <a16:creationId xmlns:a16="http://schemas.microsoft.com/office/drawing/2014/main" id="{5566245B-B71F-9223-B413-4D604C0F2F84}"/>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1 – Create JARs Libraries - Properties</a:t>
            </a:r>
          </a:p>
        </p:txBody>
      </p:sp>
      <p:grpSp>
        <p:nvGrpSpPr>
          <p:cNvPr id="48" name="Group 47">
            <a:extLst>
              <a:ext uri="{FF2B5EF4-FFF2-40B4-BE49-F238E27FC236}">
                <a16:creationId xmlns:a16="http://schemas.microsoft.com/office/drawing/2014/main" id="{614C3942-EBE8-11A3-E499-F44A5473EC9F}"/>
              </a:ext>
            </a:extLst>
          </p:cNvPr>
          <p:cNvGrpSpPr/>
          <p:nvPr/>
        </p:nvGrpSpPr>
        <p:grpSpPr>
          <a:xfrm>
            <a:off x="6845291" y="1586923"/>
            <a:ext cx="1862940" cy="279265"/>
            <a:chOff x="6822" y="542430"/>
            <a:chExt cx="2039104" cy="533039"/>
          </a:xfrm>
        </p:grpSpPr>
        <p:sp>
          <p:nvSpPr>
            <p:cNvPr id="49" name="Rounded Rectangle 48">
              <a:extLst>
                <a:ext uri="{FF2B5EF4-FFF2-40B4-BE49-F238E27FC236}">
                  <a16:creationId xmlns:a16="http://schemas.microsoft.com/office/drawing/2014/main" id="{794EE1F2-C6B2-1D45-2BB6-DCFE7DEF0EAD}"/>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0" name="Rounded Rectangle 4">
              <a:extLst>
                <a:ext uri="{FF2B5EF4-FFF2-40B4-BE49-F238E27FC236}">
                  <a16:creationId xmlns:a16="http://schemas.microsoft.com/office/drawing/2014/main" id="{3C5E3A84-46A7-82EB-3C35-9CF46B8BCCF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51" name="Group 50">
            <a:extLst>
              <a:ext uri="{FF2B5EF4-FFF2-40B4-BE49-F238E27FC236}">
                <a16:creationId xmlns:a16="http://schemas.microsoft.com/office/drawing/2014/main" id="{D8BB5C20-7A5B-7902-B390-0060F7CEF72F}"/>
              </a:ext>
            </a:extLst>
          </p:cNvPr>
          <p:cNvGrpSpPr/>
          <p:nvPr/>
        </p:nvGrpSpPr>
        <p:grpSpPr>
          <a:xfrm rot="5400000">
            <a:off x="7607064" y="1904622"/>
            <a:ext cx="213569" cy="217113"/>
            <a:chOff x="2225367" y="901313"/>
            <a:chExt cx="432290" cy="505697"/>
          </a:xfrm>
        </p:grpSpPr>
        <p:sp>
          <p:nvSpPr>
            <p:cNvPr id="52" name="Right Arrow 51">
              <a:extLst>
                <a:ext uri="{FF2B5EF4-FFF2-40B4-BE49-F238E27FC236}">
                  <a16:creationId xmlns:a16="http://schemas.microsoft.com/office/drawing/2014/main" id="{75030363-8663-707F-1AF1-7B0262D816EA}"/>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3" name="Right Arrow 6">
              <a:extLst>
                <a:ext uri="{FF2B5EF4-FFF2-40B4-BE49-F238E27FC236}">
                  <a16:creationId xmlns:a16="http://schemas.microsoft.com/office/drawing/2014/main" id="{F71EFFBC-C93B-EC4D-A3D3-8015F36EAE0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4" name="Group 53">
            <a:extLst>
              <a:ext uri="{FF2B5EF4-FFF2-40B4-BE49-F238E27FC236}">
                <a16:creationId xmlns:a16="http://schemas.microsoft.com/office/drawing/2014/main" id="{76146854-FE49-128D-B8D4-6F22140F5E22}"/>
              </a:ext>
            </a:extLst>
          </p:cNvPr>
          <p:cNvGrpSpPr/>
          <p:nvPr/>
        </p:nvGrpSpPr>
        <p:grpSpPr>
          <a:xfrm rot="5400000">
            <a:off x="7607063" y="2479517"/>
            <a:ext cx="213569" cy="217113"/>
            <a:chOff x="2225367" y="901313"/>
            <a:chExt cx="432290" cy="505697"/>
          </a:xfrm>
        </p:grpSpPr>
        <p:sp>
          <p:nvSpPr>
            <p:cNvPr id="55" name="Right Arrow 54">
              <a:extLst>
                <a:ext uri="{FF2B5EF4-FFF2-40B4-BE49-F238E27FC236}">
                  <a16:creationId xmlns:a16="http://schemas.microsoft.com/office/drawing/2014/main" id="{A8B8B06F-38E9-7AE9-99C7-5D8472CC347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6" name="Right Arrow 6">
              <a:extLst>
                <a:ext uri="{FF2B5EF4-FFF2-40B4-BE49-F238E27FC236}">
                  <a16:creationId xmlns:a16="http://schemas.microsoft.com/office/drawing/2014/main" id="{85F26B03-95B3-5BE6-3DEE-5FC43639DE6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7" name="Group 56">
            <a:extLst>
              <a:ext uri="{FF2B5EF4-FFF2-40B4-BE49-F238E27FC236}">
                <a16:creationId xmlns:a16="http://schemas.microsoft.com/office/drawing/2014/main" id="{13673FF3-3144-1F87-6C45-0B3301BB8867}"/>
              </a:ext>
            </a:extLst>
          </p:cNvPr>
          <p:cNvGrpSpPr/>
          <p:nvPr/>
        </p:nvGrpSpPr>
        <p:grpSpPr>
          <a:xfrm rot="5400000">
            <a:off x="7607063" y="3036273"/>
            <a:ext cx="213569" cy="217113"/>
            <a:chOff x="2225367" y="901313"/>
            <a:chExt cx="432290" cy="505697"/>
          </a:xfrm>
        </p:grpSpPr>
        <p:sp>
          <p:nvSpPr>
            <p:cNvPr id="58" name="Right Arrow 57">
              <a:extLst>
                <a:ext uri="{FF2B5EF4-FFF2-40B4-BE49-F238E27FC236}">
                  <a16:creationId xmlns:a16="http://schemas.microsoft.com/office/drawing/2014/main" id="{36EB4EF7-2390-C795-3AAB-DFBCDC21331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9" name="Right Arrow 6">
              <a:extLst>
                <a:ext uri="{FF2B5EF4-FFF2-40B4-BE49-F238E27FC236}">
                  <a16:creationId xmlns:a16="http://schemas.microsoft.com/office/drawing/2014/main" id="{49B98DFE-9000-4DDC-ECB0-12F8F700317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0" name="Group 59">
            <a:extLst>
              <a:ext uri="{FF2B5EF4-FFF2-40B4-BE49-F238E27FC236}">
                <a16:creationId xmlns:a16="http://schemas.microsoft.com/office/drawing/2014/main" id="{3257F376-3548-FBFF-A952-DCEF351EF595}"/>
              </a:ext>
            </a:extLst>
          </p:cNvPr>
          <p:cNvGrpSpPr/>
          <p:nvPr/>
        </p:nvGrpSpPr>
        <p:grpSpPr>
          <a:xfrm rot="5400000">
            <a:off x="7605881" y="3601274"/>
            <a:ext cx="213569" cy="217113"/>
            <a:chOff x="2225367" y="901313"/>
            <a:chExt cx="432290" cy="505697"/>
          </a:xfrm>
        </p:grpSpPr>
        <p:sp>
          <p:nvSpPr>
            <p:cNvPr id="61" name="Right Arrow 60">
              <a:extLst>
                <a:ext uri="{FF2B5EF4-FFF2-40B4-BE49-F238E27FC236}">
                  <a16:creationId xmlns:a16="http://schemas.microsoft.com/office/drawing/2014/main" id="{5FB99EBC-336B-7D89-7F06-CA645059103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2" name="Right Arrow 6">
              <a:extLst>
                <a:ext uri="{FF2B5EF4-FFF2-40B4-BE49-F238E27FC236}">
                  <a16:creationId xmlns:a16="http://schemas.microsoft.com/office/drawing/2014/main" id="{BCB6D993-8757-8E79-5EF7-3B79B6DCD05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3" name="Group 62">
            <a:extLst>
              <a:ext uri="{FF2B5EF4-FFF2-40B4-BE49-F238E27FC236}">
                <a16:creationId xmlns:a16="http://schemas.microsoft.com/office/drawing/2014/main" id="{12C7886F-454F-EE17-B324-078D122CF52B}"/>
              </a:ext>
            </a:extLst>
          </p:cNvPr>
          <p:cNvGrpSpPr/>
          <p:nvPr/>
        </p:nvGrpSpPr>
        <p:grpSpPr>
          <a:xfrm rot="5400000">
            <a:off x="7605880" y="4176169"/>
            <a:ext cx="213569" cy="217113"/>
            <a:chOff x="2225367" y="901313"/>
            <a:chExt cx="432290" cy="505697"/>
          </a:xfrm>
        </p:grpSpPr>
        <p:sp>
          <p:nvSpPr>
            <p:cNvPr id="64" name="Right Arrow 63">
              <a:extLst>
                <a:ext uri="{FF2B5EF4-FFF2-40B4-BE49-F238E27FC236}">
                  <a16:creationId xmlns:a16="http://schemas.microsoft.com/office/drawing/2014/main" id="{31967245-6B0F-A03D-6DFE-026B845794C7}"/>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5" name="Right Arrow 6">
              <a:extLst>
                <a:ext uri="{FF2B5EF4-FFF2-40B4-BE49-F238E27FC236}">
                  <a16:creationId xmlns:a16="http://schemas.microsoft.com/office/drawing/2014/main" id="{FD8974FA-DF13-6560-CF18-318246988BA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6" name="Group 65">
            <a:extLst>
              <a:ext uri="{FF2B5EF4-FFF2-40B4-BE49-F238E27FC236}">
                <a16:creationId xmlns:a16="http://schemas.microsoft.com/office/drawing/2014/main" id="{C7471078-87C9-A41A-3593-1C8A2750A2A3}"/>
              </a:ext>
            </a:extLst>
          </p:cNvPr>
          <p:cNvGrpSpPr/>
          <p:nvPr/>
        </p:nvGrpSpPr>
        <p:grpSpPr>
          <a:xfrm rot="5400000">
            <a:off x="7605880" y="4732925"/>
            <a:ext cx="213569" cy="217113"/>
            <a:chOff x="2225367" y="901313"/>
            <a:chExt cx="432290" cy="505697"/>
          </a:xfrm>
        </p:grpSpPr>
        <p:sp>
          <p:nvSpPr>
            <p:cNvPr id="67" name="Right Arrow 66">
              <a:extLst>
                <a:ext uri="{FF2B5EF4-FFF2-40B4-BE49-F238E27FC236}">
                  <a16:creationId xmlns:a16="http://schemas.microsoft.com/office/drawing/2014/main" id="{94C896CC-CC9B-44B1-D13D-FAB38FA0450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8" name="Right Arrow 6">
              <a:extLst>
                <a:ext uri="{FF2B5EF4-FFF2-40B4-BE49-F238E27FC236}">
                  <a16:creationId xmlns:a16="http://schemas.microsoft.com/office/drawing/2014/main" id="{34D8DC2B-5BD6-69A8-2065-E4C8E6A59BB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9" name="Group 68">
            <a:extLst>
              <a:ext uri="{FF2B5EF4-FFF2-40B4-BE49-F238E27FC236}">
                <a16:creationId xmlns:a16="http://schemas.microsoft.com/office/drawing/2014/main" id="{D3B6E813-7A71-D7D4-F144-87FB4A4C456F}"/>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0" name="Rounded Rectangle 69">
              <a:extLst>
                <a:ext uri="{FF2B5EF4-FFF2-40B4-BE49-F238E27FC236}">
                  <a16:creationId xmlns:a16="http://schemas.microsoft.com/office/drawing/2014/main" id="{0CA6BC77-2B44-8AA7-2BC3-9D9EE8C2E96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1" name="Rounded Rectangle 4">
              <a:extLst>
                <a:ext uri="{FF2B5EF4-FFF2-40B4-BE49-F238E27FC236}">
                  <a16:creationId xmlns:a16="http://schemas.microsoft.com/office/drawing/2014/main" id="{89CE3160-85B6-4762-48DD-28D1AE4143D7}"/>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72" name="Group 71">
            <a:extLst>
              <a:ext uri="{FF2B5EF4-FFF2-40B4-BE49-F238E27FC236}">
                <a16:creationId xmlns:a16="http://schemas.microsoft.com/office/drawing/2014/main" id="{E5AB3AD9-C534-D073-934A-8D66203211CF}"/>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3" name="Rounded Rectangle 72">
              <a:extLst>
                <a:ext uri="{FF2B5EF4-FFF2-40B4-BE49-F238E27FC236}">
                  <a16:creationId xmlns:a16="http://schemas.microsoft.com/office/drawing/2014/main" id="{F8217655-C07B-574D-5625-6342667A2442}"/>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4" name="Rounded Rectangle 4">
              <a:extLst>
                <a:ext uri="{FF2B5EF4-FFF2-40B4-BE49-F238E27FC236}">
                  <a16:creationId xmlns:a16="http://schemas.microsoft.com/office/drawing/2014/main" id="{9CF8D3F6-E1B8-ECE0-91B4-6D73BB79D7B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75" name="Group 74">
            <a:extLst>
              <a:ext uri="{FF2B5EF4-FFF2-40B4-BE49-F238E27FC236}">
                <a16:creationId xmlns:a16="http://schemas.microsoft.com/office/drawing/2014/main" id="{8BAB0C86-84DF-CE64-1F6B-8489DBF0A2E4}"/>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6" name="Rounded Rectangle 75">
              <a:extLst>
                <a:ext uri="{FF2B5EF4-FFF2-40B4-BE49-F238E27FC236}">
                  <a16:creationId xmlns:a16="http://schemas.microsoft.com/office/drawing/2014/main" id="{FA56398B-52E0-39CD-ADCA-C8D1D21FB11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7" name="Rounded Rectangle 4">
              <a:extLst>
                <a:ext uri="{FF2B5EF4-FFF2-40B4-BE49-F238E27FC236}">
                  <a16:creationId xmlns:a16="http://schemas.microsoft.com/office/drawing/2014/main" id="{4CFDDD8E-522B-7980-2D2F-6D5D8510E77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78" name="Group 77">
            <a:extLst>
              <a:ext uri="{FF2B5EF4-FFF2-40B4-BE49-F238E27FC236}">
                <a16:creationId xmlns:a16="http://schemas.microsoft.com/office/drawing/2014/main" id="{1EED3082-692B-DD16-6BDF-1755DFB82D9D}"/>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9" name="Rounded Rectangle 78">
              <a:extLst>
                <a:ext uri="{FF2B5EF4-FFF2-40B4-BE49-F238E27FC236}">
                  <a16:creationId xmlns:a16="http://schemas.microsoft.com/office/drawing/2014/main" id="{80D4781E-E7DB-1EC8-08D9-A81FC5FB8347}"/>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0" name="Rounded Rectangle 4">
              <a:extLst>
                <a:ext uri="{FF2B5EF4-FFF2-40B4-BE49-F238E27FC236}">
                  <a16:creationId xmlns:a16="http://schemas.microsoft.com/office/drawing/2014/main" id="{212FD899-8C56-6431-EB91-E4793E7D209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81" name="Group 80">
            <a:extLst>
              <a:ext uri="{FF2B5EF4-FFF2-40B4-BE49-F238E27FC236}">
                <a16:creationId xmlns:a16="http://schemas.microsoft.com/office/drawing/2014/main" id="{C944BE94-97EC-134F-01D2-FEDDE9F16B39}"/>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82" name="Rounded Rectangle 81">
              <a:extLst>
                <a:ext uri="{FF2B5EF4-FFF2-40B4-BE49-F238E27FC236}">
                  <a16:creationId xmlns:a16="http://schemas.microsoft.com/office/drawing/2014/main" id="{97672EBE-1720-6D3D-CEF0-8E9890034B1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3" name="Rounded Rectangle 4">
              <a:extLst>
                <a:ext uri="{FF2B5EF4-FFF2-40B4-BE49-F238E27FC236}">
                  <a16:creationId xmlns:a16="http://schemas.microsoft.com/office/drawing/2014/main" id="{85A7F716-438D-185F-707E-88EE4F544907}"/>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84" name="Group 83">
            <a:extLst>
              <a:ext uri="{FF2B5EF4-FFF2-40B4-BE49-F238E27FC236}">
                <a16:creationId xmlns:a16="http://schemas.microsoft.com/office/drawing/2014/main" id="{8D740ECF-6071-8202-07DE-D1D35B8CB7CD}"/>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85" name="Rounded Rectangle 84">
              <a:extLst>
                <a:ext uri="{FF2B5EF4-FFF2-40B4-BE49-F238E27FC236}">
                  <a16:creationId xmlns:a16="http://schemas.microsoft.com/office/drawing/2014/main" id="{B775C373-C3D3-3ECA-0643-62F7ADD0C44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6" name="Rounded Rectangle 4">
              <a:extLst>
                <a:ext uri="{FF2B5EF4-FFF2-40B4-BE49-F238E27FC236}">
                  <a16:creationId xmlns:a16="http://schemas.microsoft.com/office/drawing/2014/main" id="{AE75E42C-7420-D376-F3AC-901D9B2C79A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2198442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AE87-F6A6-52C4-1081-260083B158C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B49052-EA73-3358-4730-49E1D4D6759B}"/>
              </a:ext>
            </a:extLst>
          </p:cNvPr>
          <p:cNvSpPr txBox="1"/>
          <p:nvPr/>
        </p:nvSpPr>
        <p:spPr>
          <a:xfrm>
            <a:off x="599440" y="1446129"/>
            <a:ext cx="7945120" cy="307777"/>
          </a:xfrm>
          <a:prstGeom prst="rect">
            <a:avLst/>
          </a:prstGeom>
          <a:noFill/>
        </p:spPr>
        <p:txBody>
          <a:bodyPr wrap="square">
            <a:spAutoFit/>
          </a:bodyPr>
          <a:lstStyle/>
          <a:p>
            <a:r>
              <a:rPr lang="en-US" sz="1400" b="1" noProof="1"/>
              <a:t>Step 2 -</a:t>
            </a:r>
            <a:r>
              <a:rPr lang="en-US" sz="1400" noProof="1"/>
              <a:t>  Download the JDEAtinaOverrideServicesConstants Library</a:t>
            </a:r>
          </a:p>
        </p:txBody>
      </p:sp>
      <p:sp>
        <p:nvSpPr>
          <p:cNvPr id="6" name="TextBox 5">
            <a:extLst>
              <a:ext uri="{FF2B5EF4-FFF2-40B4-BE49-F238E27FC236}">
                <a16:creationId xmlns:a16="http://schemas.microsoft.com/office/drawing/2014/main" id="{E34D7F21-F5BF-7B68-D1E1-6A2D4F341E73}"/>
              </a:ext>
            </a:extLst>
          </p:cNvPr>
          <p:cNvSpPr txBox="1"/>
          <p:nvPr/>
        </p:nvSpPr>
        <p:spPr>
          <a:xfrm>
            <a:off x="599440" y="1843951"/>
            <a:ext cx="6437154" cy="738664"/>
          </a:xfrm>
          <a:prstGeom prst="rect">
            <a:avLst/>
          </a:prstGeom>
          <a:noFill/>
        </p:spPr>
        <p:txBody>
          <a:bodyPr wrap="square">
            <a:spAutoFit/>
          </a:bodyPr>
          <a:lstStyle/>
          <a:p>
            <a:r>
              <a:rPr lang="en-US" sz="1400" b="0" i="0" noProof="1">
                <a:effectLst/>
              </a:rPr>
              <a:t>The system requires a supporting library to override default JD Edwards service properties with the values defined in your service-constants.properties file. This enables more flexible and file-driven configuration without modifying JDE directly.</a:t>
            </a:r>
            <a:endParaRPr lang="en-US" sz="1400" noProof="1"/>
          </a:p>
        </p:txBody>
      </p:sp>
      <p:sp>
        <p:nvSpPr>
          <p:cNvPr id="3" name="TextBox 2">
            <a:extLst>
              <a:ext uri="{FF2B5EF4-FFF2-40B4-BE49-F238E27FC236}">
                <a16:creationId xmlns:a16="http://schemas.microsoft.com/office/drawing/2014/main" id="{A613DE62-31EC-49B0-6381-8545EAD24CDB}"/>
              </a:ext>
            </a:extLst>
          </p:cNvPr>
          <p:cNvSpPr txBox="1"/>
          <p:nvPr/>
        </p:nvSpPr>
        <p:spPr>
          <a:xfrm>
            <a:off x="599440" y="2890391"/>
            <a:ext cx="6044248" cy="1261884"/>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Linux</a:t>
            </a:r>
          </a:p>
          <a:p>
            <a:endParaRPr lang="en-US" sz="1400" noProof="1"/>
          </a:p>
          <a:p>
            <a:r>
              <a:rPr lang="en-US" sz="1200" noProof="1">
                <a:solidFill>
                  <a:srgbClr val="FF0000"/>
                </a:solidFill>
                <a:latin typeface="Consolas" panose="020B0609020204030204" pitchFamily="49" charset="0"/>
                <a:cs typeface="Consolas" panose="020B0609020204030204" pitchFamily="49" charset="0"/>
              </a:rPr>
              <a:t>curl -L </a:t>
            </a:r>
            <a:r>
              <a:rPr lang="en-US" sz="1200" noProof="1">
                <a:latin typeface="Consolas" panose="020B0609020204030204" pitchFamily="49" charset="0"/>
                <a:cs typeface="Consolas" panose="020B0609020204030204" pitchFamily="49" charset="0"/>
              </a:rPr>
              <a:t>https://jfrog.atina-connection.com/artifactory/libs-release-local/com/atina/JDEAtinaOverrideServicesConstants/1.0.0/JDEAtinaOverrideServicesConstants-1.0.0.jar </a:t>
            </a:r>
            <a:r>
              <a:rPr lang="en-US" sz="1200" noProof="1">
                <a:solidFill>
                  <a:srgbClr val="FF0000"/>
                </a:solidFill>
                <a:latin typeface="Consolas" panose="020B0609020204030204" pitchFamily="49" charset="0"/>
                <a:cs typeface="Consolas" panose="020B0609020204030204" pitchFamily="49" charset="0"/>
              </a:rPr>
              <a:t>--output </a:t>
            </a:r>
            <a:r>
              <a:rPr lang="en-US" sz="1200" noProof="1">
                <a:latin typeface="Consolas" panose="020B0609020204030204" pitchFamily="49" charset="0"/>
                <a:cs typeface="Consolas" panose="020B0609020204030204" pitchFamily="49" charset="0"/>
              </a:rPr>
              <a:t>/tmp/build_jde_libs/JDEAtinaOverrideServicesConstants-1.0.0.jar</a:t>
            </a:r>
            <a:endParaRPr lang="en-US" sz="1050" b="0" i="0" noProof="1">
              <a:effectLst/>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3AF812AA-6326-4A06-E0AA-D6217F500F8E}"/>
              </a:ext>
            </a:extLst>
          </p:cNvPr>
          <p:cNvSpPr txBox="1"/>
          <p:nvPr/>
        </p:nvSpPr>
        <p:spPr>
          <a:xfrm>
            <a:off x="599440" y="4455477"/>
            <a:ext cx="2225953" cy="1800493"/>
          </a:xfrm>
          <a:prstGeom prst="rect">
            <a:avLst/>
          </a:prstGeom>
          <a:noFill/>
        </p:spPr>
        <p:txBody>
          <a:bodyPr wrap="square">
            <a:spAutoFit/>
          </a:bodyPr>
          <a:lstStyle/>
          <a:p>
            <a:pPr algn="l">
              <a:buNone/>
            </a:pPr>
            <a:r>
              <a:rPr lang="en-US" sz="1200" b="0" i="1" noProof="1">
                <a:effectLst/>
              </a:rPr>
              <a:t>Ensure</a:t>
            </a:r>
            <a:r>
              <a:rPr lang="en-US" sz="1100" b="0" i="1" noProof="1">
                <a:effectLst/>
              </a:rPr>
              <a:t> this JAR file is located in the /tmp/build_jde_libs/ folder along with the service-constants.properties file.</a:t>
            </a:r>
          </a:p>
          <a:p>
            <a:pPr algn="l">
              <a:buNone/>
            </a:pPr>
            <a:r>
              <a:rPr lang="en-US" sz="1100" b="0" i="1" noProof="1">
                <a:effectLst/>
              </a:rPr>
              <a:t>The system will automatically detect the presence of this library and use it to load web service configuration from the local file instead of querying JDE’s internal property store.</a:t>
            </a:r>
          </a:p>
        </p:txBody>
      </p:sp>
      <p:pic>
        <p:nvPicPr>
          <p:cNvPr id="13" name="Picture 12">
            <a:extLst>
              <a:ext uri="{FF2B5EF4-FFF2-40B4-BE49-F238E27FC236}">
                <a16:creationId xmlns:a16="http://schemas.microsoft.com/office/drawing/2014/main" id="{81BC9824-04E8-2CB7-C71E-B7E7D060A7F0}"/>
              </a:ext>
            </a:extLst>
          </p:cNvPr>
          <p:cNvPicPr>
            <a:picLocks noChangeAspect="1"/>
          </p:cNvPicPr>
          <p:nvPr/>
        </p:nvPicPr>
        <p:blipFill>
          <a:blip r:embed="rId2"/>
          <a:stretch>
            <a:fillRect/>
          </a:stretch>
        </p:blipFill>
        <p:spPr>
          <a:xfrm>
            <a:off x="0" y="0"/>
            <a:ext cx="9144000" cy="644018"/>
          </a:xfrm>
          <a:prstGeom prst="rect">
            <a:avLst/>
          </a:prstGeom>
        </p:spPr>
      </p:pic>
      <p:sp>
        <p:nvSpPr>
          <p:cNvPr id="14" name="Title 1">
            <a:extLst>
              <a:ext uri="{FF2B5EF4-FFF2-40B4-BE49-F238E27FC236}">
                <a16:creationId xmlns:a16="http://schemas.microsoft.com/office/drawing/2014/main" id="{4E7E3DDE-5288-0C1F-F2C3-83D34DC7B0CE}"/>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2 – Create JARs Libraries – Download Library</a:t>
            </a:r>
          </a:p>
        </p:txBody>
      </p:sp>
      <p:grpSp>
        <p:nvGrpSpPr>
          <p:cNvPr id="47" name="Group 46">
            <a:extLst>
              <a:ext uri="{FF2B5EF4-FFF2-40B4-BE49-F238E27FC236}">
                <a16:creationId xmlns:a16="http://schemas.microsoft.com/office/drawing/2014/main" id="{0D237DC1-FF51-2DB3-AF16-C1AD04F5DA34}"/>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8" name="Rounded Rectangle 47">
              <a:extLst>
                <a:ext uri="{FF2B5EF4-FFF2-40B4-BE49-F238E27FC236}">
                  <a16:creationId xmlns:a16="http://schemas.microsoft.com/office/drawing/2014/main" id="{7CA6BAD9-0D38-609F-4D49-2140D42496B5}"/>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9" name="Rounded Rectangle 4">
              <a:extLst>
                <a:ext uri="{FF2B5EF4-FFF2-40B4-BE49-F238E27FC236}">
                  <a16:creationId xmlns:a16="http://schemas.microsoft.com/office/drawing/2014/main" id="{59AFC219-4FF3-7B0A-0D55-4C3CC0EE533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50" name="Group 49">
            <a:extLst>
              <a:ext uri="{FF2B5EF4-FFF2-40B4-BE49-F238E27FC236}">
                <a16:creationId xmlns:a16="http://schemas.microsoft.com/office/drawing/2014/main" id="{B3F8B085-8F41-B9C9-3995-E1F5348891E0}"/>
              </a:ext>
            </a:extLst>
          </p:cNvPr>
          <p:cNvGrpSpPr/>
          <p:nvPr/>
        </p:nvGrpSpPr>
        <p:grpSpPr>
          <a:xfrm rot="5400000">
            <a:off x="7607064" y="1904622"/>
            <a:ext cx="213569" cy="217113"/>
            <a:chOff x="2225367" y="901313"/>
            <a:chExt cx="432290" cy="505697"/>
          </a:xfrm>
        </p:grpSpPr>
        <p:sp>
          <p:nvSpPr>
            <p:cNvPr id="51" name="Right Arrow 50">
              <a:extLst>
                <a:ext uri="{FF2B5EF4-FFF2-40B4-BE49-F238E27FC236}">
                  <a16:creationId xmlns:a16="http://schemas.microsoft.com/office/drawing/2014/main" id="{91FC4BE9-D637-C936-D970-634DC1A0899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2" name="Right Arrow 6">
              <a:extLst>
                <a:ext uri="{FF2B5EF4-FFF2-40B4-BE49-F238E27FC236}">
                  <a16:creationId xmlns:a16="http://schemas.microsoft.com/office/drawing/2014/main" id="{70198325-D32B-40A5-E0F4-F9F8E2771E1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3" name="Group 52">
            <a:extLst>
              <a:ext uri="{FF2B5EF4-FFF2-40B4-BE49-F238E27FC236}">
                <a16:creationId xmlns:a16="http://schemas.microsoft.com/office/drawing/2014/main" id="{919AD6D7-9EDF-02A7-E5EB-1A1288B802D0}"/>
              </a:ext>
            </a:extLst>
          </p:cNvPr>
          <p:cNvGrpSpPr/>
          <p:nvPr/>
        </p:nvGrpSpPr>
        <p:grpSpPr>
          <a:xfrm rot="5400000">
            <a:off x="7607063" y="2479517"/>
            <a:ext cx="213569" cy="217113"/>
            <a:chOff x="2225367" y="901313"/>
            <a:chExt cx="432290" cy="505697"/>
          </a:xfrm>
        </p:grpSpPr>
        <p:sp>
          <p:nvSpPr>
            <p:cNvPr id="54" name="Right Arrow 53">
              <a:extLst>
                <a:ext uri="{FF2B5EF4-FFF2-40B4-BE49-F238E27FC236}">
                  <a16:creationId xmlns:a16="http://schemas.microsoft.com/office/drawing/2014/main" id="{CF0C6554-8FA2-80E1-2C5A-36B804CB855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5" name="Right Arrow 6">
              <a:extLst>
                <a:ext uri="{FF2B5EF4-FFF2-40B4-BE49-F238E27FC236}">
                  <a16:creationId xmlns:a16="http://schemas.microsoft.com/office/drawing/2014/main" id="{0E3B9342-1C35-7296-B485-81469964B99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6" name="Group 55">
            <a:extLst>
              <a:ext uri="{FF2B5EF4-FFF2-40B4-BE49-F238E27FC236}">
                <a16:creationId xmlns:a16="http://schemas.microsoft.com/office/drawing/2014/main" id="{267FF6E2-98D8-F1DA-6A48-CF998AE77AA1}"/>
              </a:ext>
            </a:extLst>
          </p:cNvPr>
          <p:cNvGrpSpPr/>
          <p:nvPr/>
        </p:nvGrpSpPr>
        <p:grpSpPr>
          <a:xfrm rot="5400000">
            <a:off x="7607063" y="3036273"/>
            <a:ext cx="213569" cy="217113"/>
            <a:chOff x="2225367" y="901313"/>
            <a:chExt cx="432290" cy="505697"/>
          </a:xfrm>
        </p:grpSpPr>
        <p:sp>
          <p:nvSpPr>
            <p:cNvPr id="57" name="Right Arrow 56">
              <a:extLst>
                <a:ext uri="{FF2B5EF4-FFF2-40B4-BE49-F238E27FC236}">
                  <a16:creationId xmlns:a16="http://schemas.microsoft.com/office/drawing/2014/main" id="{698D21A5-CBCD-4185-82BA-9AFF34AF187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8" name="Right Arrow 6">
              <a:extLst>
                <a:ext uri="{FF2B5EF4-FFF2-40B4-BE49-F238E27FC236}">
                  <a16:creationId xmlns:a16="http://schemas.microsoft.com/office/drawing/2014/main" id="{2DAFC569-A81C-9621-379F-DB06E44FC02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9" name="Group 58">
            <a:extLst>
              <a:ext uri="{FF2B5EF4-FFF2-40B4-BE49-F238E27FC236}">
                <a16:creationId xmlns:a16="http://schemas.microsoft.com/office/drawing/2014/main" id="{CA2E1BD3-52C6-E497-ACFD-10B59353BC2B}"/>
              </a:ext>
            </a:extLst>
          </p:cNvPr>
          <p:cNvGrpSpPr/>
          <p:nvPr/>
        </p:nvGrpSpPr>
        <p:grpSpPr>
          <a:xfrm rot="5400000">
            <a:off x="7605881" y="3601274"/>
            <a:ext cx="213569" cy="217113"/>
            <a:chOff x="2225367" y="901313"/>
            <a:chExt cx="432290" cy="505697"/>
          </a:xfrm>
        </p:grpSpPr>
        <p:sp>
          <p:nvSpPr>
            <p:cNvPr id="60" name="Right Arrow 59">
              <a:extLst>
                <a:ext uri="{FF2B5EF4-FFF2-40B4-BE49-F238E27FC236}">
                  <a16:creationId xmlns:a16="http://schemas.microsoft.com/office/drawing/2014/main" id="{2574093C-3A35-5957-6145-CDB0C6F639C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1" name="Right Arrow 6">
              <a:extLst>
                <a:ext uri="{FF2B5EF4-FFF2-40B4-BE49-F238E27FC236}">
                  <a16:creationId xmlns:a16="http://schemas.microsoft.com/office/drawing/2014/main" id="{630ECE73-8667-8309-3225-9F2C94876FD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2" name="Group 61">
            <a:extLst>
              <a:ext uri="{FF2B5EF4-FFF2-40B4-BE49-F238E27FC236}">
                <a16:creationId xmlns:a16="http://schemas.microsoft.com/office/drawing/2014/main" id="{9E777923-06A3-E2C3-66B4-095C6CA3BFD1}"/>
              </a:ext>
            </a:extLst>
          </p:cNvPr>
          <p:cNvGrpSpPr/>
          <p:nvPr/>
        </p:nvGrpSpPr>
        <p:grpSpPr>
          <a:xfrm rot="5400000">
            <a:off x="7605880" y="4176169"/>
            <a:ext cx="213569" cy="217113"/>
            <a:chOff x="2225367" y="901313"/>
            <a:chExt cx="432290" cy="505697"/>
          </a:xfrm>
        </p:grpSpPr>
        <p:sp>
          <p:nvSpPr>
            <p:cNvPr id="63" name="Right Arrow 62">
              <a:extLst>
                <a:ext uri="{FF2B5EF4-FFF2-40B4-BE49-F238E27FC236}">
                  <a16:creationId xmlns:a16="http://schemas.microsoft.com/office/drawing/2014/main" id="{7D418B67-A6F4-CA99-F8D0-16009C3C298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4" name="Right Arrow 6">
              <a:extLst>
                <a:ext uri="{FF2B5EF4-FFF2-40B4-BE49-F238E27FC236}">
                  <a16:creationId xmlns:a16="http://schemas.microsoft.com/office/drawing/2014/main" id="{37855118-BFEB-4A83-CB55-1AE4D7B7A64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5" name="Group 64">
            <a:extLst>
              <a:ext uri="{FF2B5EF4-FFF2-40B4-BE49-F238E27FC236}">
                <a16:creationId xmlns:a16="http://schemas.microsoft.com/office/drawing/2014/main" id="{30320AC1-FBAE-CAE5-60A3-860AB7F4FAAE}"/>
              </a:ext>
            </a:extLst>
          </p:cNvPr>
          <p:cNvGrpSpPr/>
          <p:nvPr/>
        </p:nvGrpSpPr>
        <p:grpSpPr>
          <a:xfrm rot="5400000">
            <a:off x="7605880" y="4732925"/>
            <a:ext cx="213569" cy="217113"/>
            <a:chOff x="2225367" y="901313"/>
            <a:chExt cx="432290" cy="505697"/>
          </a:xfrm>
        </p:grpSpPr>
        <p:sp>
          <p:nvSpPr>
            <p:cNvPr id="66" name="Right Arrow 65">
              <a:extLst>
                <a:ext uri="{FF2B5EF4-FFF2-40B4-BE49-F238E27FC236}">
                  <a16:creationId xmlns:a16="http://schemas.microsoft.com/office/drawing/2014/main" id="{BA8518C0-A81F-97BE-36B4-D93DD8788D6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7" name="Right Arrow 6">
              <a:extLst>
                <a:ext uri="{FF2B5EF4-FFF2-40B4-BE49-F238E27FC236}">
                  <a16:creationId xmlns:a16="http://schemas.microsoft.com/office/drawing/2014/main" id="{30E0628B-6DBF-F82F-9A17-EAC32102B9D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8" name="Group 67">
            <a:extLst>
              <a:ext uri="{FF2B5EF4-FFF2-40B4-BE49-F238E27FC236}">
                <a16:creationId xmlns:a16="http://schemas.microsoft.com/office/drawing/2014/main" id="{BCF42B86-CF97-7759-DAD3-6339E72DE975}"/>
              </a:ext>
            </a:extLst>
          </p:cNvPr>
          <p:cNvGrpSpPr/>
          <p:nvPr/>
        </p:nvGrpSpPr>
        <p:grpSpPr>
          <a:xfrm>
            <a:off x="6845291" y="2164229"/>
            <a:ext cx="1862940" cy="279265"/>
            <a:chOff x="6822" y="542430"/>
            <a:chExt cx="2039104" cy="533039"/>
          </a:xfrm>
        </p:grpSpPr>
        <p:sp>
          <p:nvSpPr>
            <p:cNvPr id="69" name="Rounded Rectangle 68">
              <a:extLst>
                <a:ext uri="{FF2B5EF4-FFF2-40B4-BE49-F238E27FC236}">
                  <a16:creationId xmlns:a16="http://schemas.microsoft.com/office/drawing/2014/main" id="{83482764-3717-3F54-8583-864604230B5A}"/>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0" name="Rounded Rectangle 4">
              <a:extLst>
                <a:ext uri="{FF2B5EF4-FFF2-40B4-BE49-F238E27FC236}">
                  <a16:creationId xmlns:a16="http://schemas.microsoft.com/office/drawing/2014/main" id="{6C79EC6D-89A8-A9EA-13DB-1120BB0E7200}"/>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71" name="Group 70">
            <a:extLst>
              <a:ext uri="{FF2B5EF4-FFF2-40B4-BE49-F238E27FC236}">
                <a16:creationId xmlns:a16="http://schemas.microsoft.com/office/drawing/2014/main" id="{68E2C0FE-91DD-4458-F8BC-B8C812E4DEA3}"/>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2" name="Rounded Rectangle 71">
              <a:extLst>
                <a:ext uri="{FF2B5EF4-FFF2-40B4-BE49-F238E27FC236}">
                  <a16:creationId xmlns:a16="http://schemas.microsoft.com/office/drawing/2014/main" id="{58B9CD4F-3192-F47D-E0A3-EEBBF665F7B6}"/>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3" name="Rounded Rectangle 4">
              <a:extLst>
                <a:ext uri="{FF2B5EF4-FFF2-40B4-BE49-F238E27FC236}">
                  <a16:creationId xmlns:a16="http://schemas.microsoft.com/office/drawing/2014/main" id="{B458CDE7-B5D7-E661-7E26-31C3925A5F5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74" name="Group 73">
            <a:extLst>
              <a:ext uri="{FF2B5EF4-FFF2-40B4-BE49-F238E27FC236}">
                <a16:creationId xmlns:a16="http://schemas.microsoft.com/office/drawing/2014/main" id="{EE86C4C1-FDDE-6D99-E5C2-3F130E51764D}"/>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5" name="Rounded Rectangle 74">
              <a:extLst>
                <a:ext uri="{FF2B5EF4-FFF2-40B4-BE49-F238E27FC236}">
                  <a16:creationId xmlns:a16="http://schemas.microsoft.com/office/drawing/2014/main" id="{142658C0-1815-C5A1-5C4D-BD4DBF3E5CA9}"/>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6" name="Rounded Rectangle 4">
              <a:extLst>
                <a:ext uri="{FF2B5EF4-FFF2-40B4-BE49-F238E27FC236}">
                  <a16:creationId xmlns:a16="http://schemas.microsoft.com/office/drawing/2014/main" id="{D2772350-7070-F9C2-3850-0AA6A160DE44}"/>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77" name="Group 76">
            <a:extLst>
              <a:ext uri="{FF2B5EF4-FFF2-40B4-BE49-F238E27FC236}">
                <a16:creationId xmlns:a16="http://schemas.microsoft.com/office/drawing/2014/main" id="{1680EC13-E1A5-CE0A-6C45-E1E1431F2852}"/>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8" name="Rounded Rectangle 77">
              <a:extLst>
                <a:ext uri="{FF2B5EF4-FFF2-40B4-BE49-F238E27FC236}">
                  <a16:creationId xmlns:a16="http://schemas.microsoft.com/office/drawing/2014/main" id="{98C15AF1-B2E8-CD68-C242-8728B5C3D31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9" name="Rounded Rectangle 4">
              <a:extLst>
                <a:ext uri="{FF2B5EF4-FFF2-40B4-BE49-F238E27FC236}">
                  <a16:creationId xmlns:a16="http://schemas.microsoft.com/office/drawing/2014/main" id="{77B78123-A77A-FA65-AB07-5B3BD6B7EFC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80" name="Group 79">
            <a:extLst>
              <a:ext uri="{FF2B5EF4-FFF2-40B4-BE49-F238E27FC236}">
                <a16:creationId xmlns:a16="http://schemas.microsoft.com/office/drawing/2014/main" id="{C6B213CA-91F9-DF27-721B-0661C6993E14}"/>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81" name="Rounded Rectangle 80">
              <a:extLst>
                <a:ext uri="{FF2B5EF4-FFF2-40B4-BE49-F238E27FC236}">
                  <a16:creationId xmlns:a16="http://schemas.microsoft.com/office/drawing/2014/main" id="{A7F45B88-2123-B46A-D833-7498B8CE559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2" name="Rounded Rectangle 4">
              <a:extLst>
                <a:ext uri="{FF2B5EF4-FFF2-40B4-BE49-F238E27FC236}">
                  <a16:creationId xmlns:a16="http://schemas.microsoft.com/office/drawing/2014/main" id="{DDDDF8E4-17EF-DD6D-CA39-3923E2620B8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83" name="Group 82">
            <a:extLst>
              <a:ext uri="{FF2B5EF4-FFF2-40B4-BE49-F238E27FC236}">
                <a16:creationId xmlns:a16="http://schemas.microsoft.com/office/drawing/2014/main" id="{49CB5A01-6C89-8D93-5CAA-8AC3C766F60D}"/>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84" name="Rounded Rectangle 83">
              <a:extLst>
                <a:ext uri="{FF2B5EF4-FFF2-40B4-BE49-F238E27FC236}">
                  <a16:creationId xmlns:a16="http://schemas.microsoft.com/office/drawing/2014/main" id="{1890420A-089D-F468-888A-B5CD323D662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5" name="Rounded Rectangle 4">
              <a:extLst>
                <a:ext uri="{FF2B5EF4-FFF2-40B4-BE49-F238E27FC236}">
                  <a16:creationId xmlns:a16="http://schemas.microsoft.com/office/drawing/2014/main" id="{26944915-70A4-E632-5A4A-1D309B5424B7}"/>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3837603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11C3-5E54-4DE4-B835-89A3AED5A3F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3CDE50F-0C45-B62F-ED27-E7C8676DD713}"/>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3 -</a:t>
            </a:r>
            <a:r>
              <a:rPr lang="en-US" sz="1400" i="0" dirty="0">
                <a:effectLst/>
              </a:rPr>
              <a:t> </a:t>
            </a:r>
            <a:r>
              <a:rPr lang="en-US" sz="1400" dirty="0"/>
              <a:t>Download the tool Create Jars File</a:t>
            </a:r>
          </a:p>
        </p:txBody>
      </p:sp>
      <p:sp>
        <p:nvSpPr>
          <p:cNvPr id="9" name="TextBox 8">
            <a:extLst>
              <a:ext uri="{FF2B5EF4-FFF2-40B4-BE49-F238E27FC236}">
                <a16:creationId xmlns:a16="http://schemas.microsoft.com/office/drawing/2014/main" id="{413E0C8E-BF9C-0B25-B295-100546342706}"/>
              </a:ext>
            </a:extLst>
          </p:cNvPr>
          <p:cNvSpPr txBox="1"/>
          <p:nvPr/>
        </p:nvSpPr>
        <p:spPr>
          <a:xfrm>
            <a:off x="599440" y="2007389"/>
            <a:ext cx="5804218" cy="1077218"/>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Linux</a:t>
            </a:r>
          </a:p>
          <a:p>
            <a:endParaRPr lang="en-US" sz="1400" noProof="1"/>
          </a:p>
          <a:p>
            <a:r>
              <a:rPr lang="en-US" sz="1200" noProof="1">
                <a:solidFill>
                  <a:srgbClr val="FF0000"/>
                </a:solidFill>
                <a:latin typeface="Consolas" panose="020B0609020204030204" pitchFamily="49" charset="0"/>
                <a:cs typeface="Consolas" panose="020B0609020204030204" pitchFamily="49" charset="0"/>
              </a:rPr>
              <a:t>curl</a:t>
            </a:r>
            <a:r>
              <a:rPr lang="en-US" sz="1200" noProof="1">
                <a:latin typeface="Consolas" panose="020B0609020204030204" pitchFamily="49" charset="0"/>
                <a:cs typeface="Consolas" panose="020B0609020204030204" pitchFamily="49" charset="0"/>
              </a:rPr>
              <a:t> https://jfrog.atina-connection.com/artifactory/libs-release-local/com/atina/jd-create-jar-files/1.0.0/jd-create-jar-files-1.0.0.jar </a:t>
            </a:r>
            <a:r>
              <a:rPr lang="en-US" sz="1200" noProof="1">
                <a:solidFill>
                  <a:srgbClr val="FF0000"/>
                </a:solidFill>
                <a:latin typeface="Consolas" panose="020B0609020204030204" pitchFamily="49" charset="0"/>
                <a:cs typeface="Consolas" panose="020B0609020204030204" pitchFamily="49" charset="0"/>
              </a:rPr>
              <a:t>--output </a:t>
            </a:r>
            <a:r>
              <a:rPr lang="en-US" sz="1200" noProof="1">
                <a:latin typeface="Consolas" panose="020B0609020204030204" pitchFamily="49" charset="0"/>
                <a:cs typeface="Consolas" panose="020B0609020204030204" pitchFamily="49" charset="0"/>
              </a:rPr>
              <a:t>jd-create-jar-files-1.0.0.jar</a:t>
            </a:r>
            <a:endParaRPr lang="en-US" sz="1050" b="0" i="0" noProof="1">
              <a:effectLst/>
              <a:latin typeface="Consolas" panose="020B0609020204030204" pitchFamily="49" charset="0"/>
              <a:cs typeface="Consolas" panose="020B0609020204030204" pitchFamily="49" charset="0"/>
            </a:endParaRPr>
          </a:p>
        </p:txBody>
      </p:sp>
      <p:pic>
        <p:nvPicPr>
          <p:cNvPr id="6" name="Picture 5">
            <a:extLst>
              <a:ext uri="{FF2B5EF4-FFF2-40B4-BE49-F238E27FC236}">
                <a16:creationId xmlns:a16="http://schemas.microsoft.com/office/drawing/2014/main" id="{B3BDB37D-793D-CAD6-050D-85E775823DF7}"/>
              </a:ext>
            </a:extLst>
          </p:cNvPr>
          <p:cNvPicPr>
            <a:picLocks noChangeAspect="1"/>
          </p:cNvPicPr>
          <p:nvPr/>
        </p:nvPicPr>
        <p:blipFill>
          <a:blip r:embed="rId3"/>
          <a:stretch>
            <a:fillRect/>
          </a:stretch>
        </p:blipFill>
        <p:spPr>
          <a:xfrm>
            <a:off x="0" y="0"/>
            <a:ext cx="9144000" cy="644018"/>
          </a:xfrm>
          <a:prstGeom prst="rect">
            <a:avLst/>
          </a:prstGeom>
        </p:spPr>
      </p:pic>
      <p:sp>
        <p:nvSpPr>
          <p:cNvPr id="8" name="Title 1">
            <a:extLst>
              <a:ext uri="{FF2B5EF4-FFF2-40B4-BE49-F238E27FC236}">
                <a16:creationId xmlns:a16="http://schemas.microsoft.com/office/drawing/2014/main" id="{7195772D-5943-81A2-66EB-0D873961D992}"/>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3 – Create JARs Libraries – Download Tool</a:t>
            </a:r>
          </a:p>
        </p:txBody>
      </p:sp>
      <p:grpSp>
        <p:nvGrpSpPr>
          <p:cNvPr id="2" name="Group 1">
            <a:extLst>
              <a:ext uri="{FF2B5EF4-FFF2-40B4-BE49-F238E27FC236}">
                <a16:creationId xmlns:a16="http://schemas.microsoft.com/office/drawing/2014/main" id="{EB8FAB5B-6E75-03B1-7EED-1ABBC773D9F4}"/>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 name="Rounded Rectangle 2">
              <a:extLst>
                <a:ext uri="{FF2B5EF4-FFF2-40B4-BE49-F238E27FC236}">
                  <a16:creationId xmlns:a16="http://schemas.microsoft.com/office/drawing/2014/main" id="{3C4592A6-D6E9-AC3D-CB1A-AF55692882F7}"/>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 name="Rounded Rectangle 4">
              <a:extLst>
                <a:ext uri="{FF2B5EF4-FFF2-40B4-BE49-F238E27FC236}">
                  <a16:creationId xmlns:a16="http://schemas.microsoft.com/office/drawing/2014/main" id="{1E83B0DB-F742-E198-285C-A50ABCBE548A}"/>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5" name="Group 4">
            <a:extLst>
              <a:ext uri="{FF2B5EF4-FFF2-40B4-BE49-F238E27FC236}">
                <a16:creationId xmlns:a16="http://schemas.microsoft.com/office/drawing/2014/main" id="{0543B382-3A3C-41DA-E20C-17D3287A7067}"/>
              </a:ext>
            </a:extLst>
          </p:cNvPr>
          <p:cNvGrpSpPr/>
          <p:nvPr/>
        </p:nvGrpSpPr>
        <p:grpSpPr>
          <a:xfrm rot="5400000">
            <a:off x="7607064" y="1904622"/>
            <a:ext cx="213569" cy="217113"/>
            <a:chOff x="2225367" y="901313"/>
            <a:chExt cx="432290" cy="505697"/>
          </a:xfrm>
        </p:grpSpPr>
        <p:sp>
          <p:nvSpPr>
            <p:cNvPr id="10" name="Right Arrow 9">
              <a:extLst>
                <a:ext uri="{FF2B5EF4-FFF2-40B4-BE49-F238E27FC236}">
                  <a16:creationId xmlns:a16="http://schemas.microsoft.com/office/drawing/2014/main" id="{5D54F21A-CBBF-79BB-5AC3-9B97AAF422F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1" name="Right Arrow 6">
              <a:extLst>
                <a:ext uri="{FF2B5EF4-FFF2-40B4-BE49-F238E27FC236}">
                  <a16:creationId xmlns:a16="http://schemas.microsoft.com/office/drawing/2014/main" id="{C5E56A55-F6AD-B1F5-A56D-7A111CD1D16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2" name="Group 11">
            <a:extLst>
              <a:ext uri="{FF2B5EF4-FFF2-40B4-BE49-F238E27FC236}">
                <a16:creationId xmlns:a16="http://schemas.microsoft.com/office/drawing/2014/main" id="{CFBAE9FA-FC83-03DC-8D27-78FAD8397CEF}"/>
              </a:ext>
            </a:extLst>
          </p:cNvPr>
          <p:cNvGrpSpPr/>
          <p:nvPr/>
        </p:nvGrpSpPr>
        <p:grpSpPr>
          <a:xfrm rot="5400000">
            <a:off x="7607063" y="2479517"/>
            <a:ext cx="213569" cy="217113"/>
            <a:chOff x="2225367" y="901313"/>
            <a:chExt cx="432290" cy="505697"/>
          </a:xfrm>
        </p:grpSpPr>
        <p:sp>
          <p:nvSpPr>
            <p:cNvPr id="13" name="Right Arrow 12">
              <a:extLst>
                <a:ext uri="{FF2B5EF4-FFF2-40B4-BE49-F238E27FC236}">
                  <a16:creationId xmlns:a16="http://schemas.microsoft.com/office/drawing/2014/main" id="{96981C86-25BE-2CB5-BCF6-B8A9A551D33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4" name="Right Arrow 6">
              <a:extLst>
                <a:ext uri="{FF2B5EF4-FFF2-40B4-BE49-F238E27FC236}">
                  <a16:creationId xmlns:a16="http://schemas.microsoft.com/office/drawing/2014/main" id="{88E972D5-381B-A333-708E-46A1F85F407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5" name="Group 14">
            <a:extLst>
              <a:ext uri="{FF2B5EF4-FFF2-40B4-BE49-F238E27FC236}">
                <a16:creationId xmlns:a16="http://schemas.microsoft.com/office/drawing/2014/main" id="{5B1223DB-A1B8-AB0C-6928-56F5869FD347}"/>
              </a:ext>
            </a:extLst>
          </p:cNvPr>
          <p:cNvGrpSpPr/>
          <p:nvPr/>
        </p:nvGrpSpPr>
        <p:grpSpPr>
          <a:xfrm rot="5400000">
            <a:off x="7607063" y="3036273"/>
            <a:ext cx="213569" cy="217113"/>
            <a:chOff x="2225367" y="901313"/>
            <a:chExt cx="432290" cy="505697"/>
          </a:xfrm>
        </p:grpSpPr>
        <p:sp>
          <p:nvSpPr>
            <p:cNvPr id="16" name="Right Arrow 15">
              <a:extLst>
                <a:ext uri="{FF2B5EF4-FFF2-40B4-BE49-F238E27FC236}">
                  <a16:creationId xmlns:a16="http://schemas.microsoft.com/office/drawing/2014/main" id="{DCA9DE64-2044-4694-61AB-47ED14D73023}"/>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7" name="Right Arrow 6">
              <a:extLst>
                <a:ext uri="{FF2B5EF4-FFF2-40B4-BE49-F238E27FC236}">
                  <a16:creationId xmlns:a16="http://schemas.microsoft.com/office/drawing/2014/main" id="{4310CC2F-6D59-BAB7-7BC8-30D780046C0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8" name="Group 17">
            <a:extLst>
              <a:ext uri="{FF2B5EF4-FFF2-40B4-BE49-F238E27FC236}">
                <a16:creationId xmlns:a16="http://schemas.microsoft.com/office/drawing/2014/main" id="{48B5E5D7-2550-4237-8C10-E7844C3B5D5E}"/>
              </a:ext>
            </a:extLst>
          </p:cNvPr>
          <p:cNvGrpSpPr/>
          <p:nvPr/>
        </p:nvGrpSpPr>
        <p:grpSpPr>
          <a:xfrm rot="5400000">
            <a:off x="7605881" y="3601274"/>
            <a:ext cx="213569" cy="217113"/>
            <a:chOff x="2225367" y="901313"/>
            <a:chExt cx="432290" cy="505697"/>
          </a:xfrm>
        </p:grpSpPr>
        <p:sp>
          <p:nvSpPr>
            <p:cNvPr id="19" name="Right Arrow 18">
              <a:extLst>
                <a:ext uri="{FF2B5EF4-FFF2-40B4-BE49-F238E27FC236}">
                  <a16:creationId xmlns:a16="http://schemas.microsoft.com/office/drawing/2014/main" id="{086CCB98-299C-5C9B-3121-A8CC7E34E96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0" name="Right Arrow 6">
              <a:extLst>
                <a:ext uri="{FF2B5EF4-FFF2-40B4-BE49-F238E27FC236}">
                  <a16:creationId xmlns:a16="http://schemas.microsoft.com/office/drawing/2014/main" id="{21B55DC0-A226-A0BF-45CD-F04B2C4714A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1" name="Group 20">
            <a:extLst>
              <a:ext uri="{FF2B5EF4-FFF2-40B4-BE49-F238E27FC236}">
                <a16:creationId xmlns:a16="http://schemas.microsoft.com/office/drawing/2014/main" id="{44ECA34D-9152-E8A6-92B8-13F1343381F7}"/>
              </a:ext>
            </a:extLst>
          </p:cNvPr>
          <p:cNvGrpSpPr/>
          <p:nvPr/>
        </p:nvGrpSpPr>
        <p:grpSpPr>
          <a:xfrm rot="5400000">
            <a:off x="7605880" y="4176169"/>
            <a:ext cx="213569" cy="217113"/>
            <a:chOff x="2225367" y="901313"/>
            <a:chExt cx="432290" cy="505697"/>
          </a:xfrm>
        </p:grpSpPr>
        <p:sp>
          <p:nvSpPr>
            <p:cNvPr id="22" name="Right Arrow 21">
              <a:extLst>
                <a:ext uri="{FF2B5EF4-FFF2-40B4-BE49-F238E27FC236}">
                  <a16:creationId xmlns:a16="http://schemas.microsoft.com/office/drawing/2014/main" id="{991FB161-7842-FA0C-9809-7E75D4D38FE3}"/>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3" name="Right Arrow 6">
              <a:extLst>
                <a:ext uri="{FF2B5EF4-FFF2-40B4-BE49-F238E27FC236}">
                  <a16:creationId xmlns:a16="http://schemas.microsoft.com/office/drawing/2014/main" id="{8415E348-866A-390A-BADE-C489DCE8F77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4" name="Group 23">
            <a:extLst>
              <a:ext uri="{FF2B5EF4-FFF2-40B4-BE49-F238E27FC236}">
                <a16:creationId xmlns:a16="http://schemas.microsoft.com/office/drawing/2014/main" id="{F7D33161-0DD4-93CF-2D44-0C444B3EA22A}"/>
              </a:ext>
            </a:extLst>
          </p:cNvPr>
          <p:cNvGrpSpPr/>
          <p:nvPr/>
        </p:nvGrpSpPr>
        <p:grpSpPr>
          <a:xfrm rot="5400000">
            <a:off x="7605880" y="4732925"/>
            <a:ext cx="213569" cy="217113"/>
            <a:chOff x="2225367" y="901313"/>
            <a:chExt cx="432290" cy="505697"/>
          </a:xfrm>
        </p:grpSpPr>
        <p:sp>
          <p:nvSpPr>
            <p:cNvPr id="25" name="Right Arrow 24">
              <a:extLst>
                <a:ext uri="{FF2B5EF4-FFF2-40B4-BE49-F238E27FC236}">
                  <a16:creationId xmlns:a16="http://schemas.microsoft.com/office/drawing/2014/main" id="{5C60DE2D-8113-8415-6027-221F37AF9DB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6" name="Right Arrow 6">
              <a:extLst>
                <a:ext uri="{FF2B5EF4-FFF2-40B4-BE49-F238E27FC236}">
                  <a16:creationId xmlns:a16="http://schemas.microsoft.com/office/drawing/2014/main" id="{58145530-A0A0-D8F7-5815-B51C2857EEC8}"/>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7" name="Group 26">
            <a:extLst>
              <a:ext uri="{FF2B5EF4-FFF2-40B4-BE49-F238E27FC236}">
                <a16:creationId xmlns:a16="http://schemas.microsoft.com/office/drawing/2014/main" id="{76F339A5-A328-8E25-7C5D-C7EDEA580B14}"/>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9" name="Rounded Rectangle 48">
              <a:extLst>
                <a:ext uri="{FF2B5EF4-FFF2-40B4-BE49-F238E27FC236}">
                  <a16:creationId xmlns:a16="http://schemas.microsoft.com/office/drawing/2014/main" id="{E6742B10-583B-F848-9F25-BFF09D972CA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0" name="Rounded Rectangle 4">
              <a:extLst>
                <a:ext uri="{FF2B5EF4-FFF2-40B4-BE49-F238E27FC236}">
                  <a16:creationId xmlns:a16="http://schemas.microsoft.com/office/drawing/2014/main" id="{646E8A0B-2E37-A6C1-601D-718EFE53606C}"/>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1" name="Group 50">
            <a:extLst>
              <a:ext uri="{FF2B5EF4-FFF2-40B4-BE49-F238E27FC236}">
                <a16:creationId xmlns:a16="http://schemas.microsoft.com/office/drawing/2014/main" id="{9ED065D2-6D30-2698-4937-FA58AE78DB58}"/>
              </a:ext>
            </a:extLst>
          </p:cNvPr>
          <p:cNvGrpSpPr/>
          <p:nvPr/>
        </p:nvGrpSpPr>
        <p:grpSpPr>
          <a:xfrm>
            <a:off x="6845290" y="2725214"/>
            <a:ext cx="1862940" cy="279265"/>
            <a:chOff x="6822" y="542430"/>
            <a:chExt cx="2039104" cy="533039"/>
          </a:xfrm>
        </p:grpSpPr>
        <p:sp>
          <p:nvSpPr>
            <p:cNvPr id="52" name="Rounded Rectangle 51">
              <a:extLst>
                <a:ext uri="{FF2B5EF4-FFF2-40B4-BE49-F238E27FC236}">
                  <a16:creationId xmlns:a16="http://schemas.microsoft.com/office/drawing/2014/main" id="{08C7AB24-BBEF-6747-9226-0ED4A03B877B}"/>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3" name="Rounded Rectangle 4">
              <a:extLst>
                <a:ext uri="{FF2B5EF4-FFF2-40B4-BE49-F238E27FC236}">
                  <a16:creationId xmlns:a16="http://schemas.microsoft.com/office/drawing/2014/main" id="{3467A3AB-4C7C-8512-A9BA-C5DFBC9362DB}"/>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4" name="Group 53">
            <a:extLst>
              <a:ext uri="{FF2B5EF4-FFF2-40B4-BE49-F238E27FC236}">
                <a16:creationId xmlns:a16="http://schemas.microsoft.com/office/drawing/2014/main" id="{231F0F43-A69D-C4B7-8E53-78E4CC43A8AB}"/>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5" name="Rounded Rectangle 54">
              <a:extLst>
                <a:ext uri="{FF2B5EF4-FFF2-40B4-BE49-F238E27FC236}">
                  <a16:creationId xmlns:a16="http://schemas.microsoft.com/office/drawing/2014/main" id="{CBF2AC2E-2A85-5A54-5595-94FF060605E5}"/>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6" name="Rounded Rectangle 4">
              <a:extLst>
                <a:ext uri="{FF2B5EF4-FFF2-40B4-BE49-F238E27FC236}">
                  <a16:creationId xmlns:a16="http://schemas.microsoft.com/office/drawing/2014/main" id="{8AD46D81-C42D-98AE-C677-4AA0B756F8E2}"/>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57" name="Group 56">
            <a:extLst>
              <a:ext uri="{FF2B5EF4-FFF2-40B4-BE49-F238E27FC236}">
                <a16:creationId xmlns:a16="http://schemas.microsoft.com/office/drawing/2014/main" id="{04B08A92-BEF8-18E3-8D0A-CE7CD4B289C7}"/>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8" name="Rounded Rectangle 57">
              <a:extLst>
                <a:ext uri="{FF2B5EF4-FFF2-40B4-BE49-F238E27FC236}">
                  <a16:creationId xmlns:a16="http://schemas.microsoft.com/office/drawing/2014/main" id="{CC7FE8F9-CEA5-4EEE-160F-DF39FFA558D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9" name="Rounded Rectangle 4">
              <a:extLst>
                <a:ext uri="{FF2B5EF4-FFF2-40B4-BE49-F238E27FC236}">
                  <a16:creationId xmlns:a16="http://schemas.microsoft.com/office/drawing/2014/main" id="{F3F41115-2A1F-1F12-0413-B8A4A7C14A34}"/>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60" name="Group 59">
            <a:extLst>
              <a:ext uri="{FF2B5EF4-FFF2-40B4-BE49-F238E27FC236}">
                <a16:creationId xmlns:a16="http://schemas.microsoft.com/office/drawing/2014/main" id="{938EE894-F8D7-0AC5-4CB1-0A056400DB72}"/>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1" name="Rounded Rectangle 60">
              <a:extLst>
                <a:ext uri="{FF2B5EF4-FFF2-40B4-BE49-F238E27FC236}">
                  <a16:creationId xmlns:a16="http://schemas.microsoft.com/office/drawing/2014/main" id="{479703D9-A13F-3DC0-A6AC-048615AB9A3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2" name="Rounded Rectangle 4">
              <a:extLst>
                <a:ext uri="{FF2B5EF4-FFF2-40B4-BE49-F238E27FC236}">
                  <a16:creationId xmlns:a16="http://schemas.microsoft.com/office/drawing/2014/main" id="{09B114E1-347E-51EF-2041-86972B1A73C1}"/>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63" name="Group 62">
            <a:extLst>
              <a:ext uri="{FF2B5EF4-FFF2-40B4-BE49-F238E27FC236}">
                <a16:creationId xmlns:a16="http://schemas.microsoft.com/office/drawing/2014/main" id="{0951CFDA-A056-F922-85C8-23FA2EE20EDB}"/>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4" name="Rounded Rectangle 63">
              <a:extLst>
                <a:ext uri="{FF2B5EF4-FFF2-40B4-BE49-F238E27FC236}">
                  <a16:creationId xmlns:a16="http://schemas.microsoft.com/office/drawing/2014/main" id="{D3E9ED8C-5872-1351-DC28-70F2B78AF42D}"/>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5" name="Rounded Rectangle 4">
              <a:extLst>
                <a:ext uri="{FF2B5EF4-FFF2-40B4-BE49-F238E27FC236}">
                  <a16:creationId xmlns:a16="http://schemas.microsoft.com/office/drawing/2014/main" id="{C29A55FD-56E6-282F-8C9E-F936B5DD04B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1008807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AC98-CEE8-6D81-B597-D0C52554989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44C4C73-A865-A07A-1690-1361FCEEE703}"/>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4 –</a:t>
            </a:r>
            <a:r>
              <a:rPr lang="en-US" sz="1400" i="0" dirty="0">
                <a:effectLst/>
              </a:rPr>
              <a:t> Adding required Folder Structure</a:t>
            </a:r>
            <a:endParaRPr lang="en-US" sz="1400" dirty="0"/>
          </a:p>
        </p:txBody>
      </p:sp>
      <p:sp>
        <p:nvSpPr>
          <p:cNvPr id="5" name="TextBox 4">
            <a:extLst>
              <a:ext uri="{FF2B5EF4-FFF2-40B4-BE49-F238E27FC236}">
                <a16:creationId xmlns:a16="http://schemas.microsoft.com/office/drawing/2014/main" id="{F02FC1DB-B6D3-2EE5-9326-65A57A6EDE52}"/>
              </a:ext>
            </a:extLst>
          </p:cNvPr>
          <p:cNvSpPr txBox="1"/>
          <p:nvPr/>
        </p:nvSpPr>
        <p:spPr>
          <a:xfrm>
            <a:off x="599440" y="1972563"/>
            <a:ext cx="5337016" cy="523220"/>
          </a:xfrm>
          <a:prstGeom prst="rect">
            <a:avLst/>
          </a:prstGeom>
          <a:noFill/>
        </p:spPr>
        <p:txBody>
          <a:bodyPr wrap="square">
            <a:spAutoFit/>
          </a:bodyPr>
          <a:lstStyle/>
          <a:p>
            <a:r>
              <a:rPr lang="en-US" sz="1400" b="0" i="0" dirty="0">
                <a:effectLst/>
              </a:rPr>
              <a:t>Create the following directory layout and populate it with the required files from the deployment server:</a:t>
            </a:r>
            <a:endParaRPr lang="en-AR" sz="1400" dirty="0"/>
          </a:p>
        </p:txBody>
      </p:sp>
      <p:pic>
        <p:nvPicPr>
          <p:cNvPr id="10" name="Picture 9">
            <a:extLst>
              <a:ext uri="{FF2B5EF4-FFF2-40B4-BE49-F238E27FC236}">
                <a16:creationId xmlns:a16="http://schemas.microsoft.com/office/drawing/2014/main" id="{C851D336-DAAC-1629-A42F-AA0805E460EC}"/>
              </a:ext>
            </a:extLst>
          </p:cNvPr>
          <p:cNvPicPr>
            <a:picLocks noChangeAspect="1"/>
          </p:cNvPicPr>
          <p:nvPr/>
        </p:nvPicPr>
        <p:blipFill>
          <a:blip r:embed="rId2"/>
          <a:stretch>
            <a:fillRect/>
          </a:stretch>
        </p:blipFill>
        <p:spPr>
          <a:xfrm>
            <a:off x="599440" y="2741187"/>
            <a:ext cx="5337016" cy="1158338"/>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2DDE2638-888D-724F-D19C-849154547E2C}"/>
              </a:ext>
            </a:extLst>
          </p:cNvPr>
          <p:cNvPicPr>
            <a:picLocks noChangeAspect="1"/>
          </p:cNvPicPr>
          <p:nvPr/>
        </p:nvPicPr>
        <p:blipFill>
          <a:blip r:embed="rId3"/>
          <a:stretch>
            <a:fillRect/>
          </a:stretch>
        </p:blipFill>
        <p:spPr>
          <a:xfrm>
            <a:off x="0" y="0"/>
            <a:ext cx="9144000" cy="644018"/>
          </a:xfrm>
          <a:prstGeom prst="rect">
            <a:avLst/>
          </a:prstGeom>
        </p:spPr>
      </p:pic>
      <p:sp>
        <p:nvSpPr>
          <p:cNvPr id="14" name="Title 1">
            <a:extLst>
              <a:ext uri="{FF2B5EF4-FFF2-40B4-BE49-F238E27FC236}">
                <a16:creationId xmlns:a16="http://schemas.microsoft.com/office/drawing/2014/main" id="{E3597BE6-A782-665C-CE7E-BB191EDF5D29}"/>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4 – Create JARs Libraries – Create Folders</a:t>
            </a:r>
          </a:p>
        </p:txBody>
      </p:sp>
      <p:sp>
        <p:nvSpPr>
          <p:cNvPr id="2" name="TextBox 1">
            <a:extLst>
              <a:ext uri="{FF2B5EF4-FFF2-40B4-BE49-F238E27FC236}">
                <a16:creationId xmlns:a16="http://schemas.microsoft.com/office/drawing/2014/main" id="{DF83CE28-1B72-7700-7329-EE03CE014569}"/>
              </a:ext>
            </a:extLst>
          </p:cNvPr>
          <p:cNvSpPr txBox="1"/>
          <p:nvPr/>
        </p:nvSpPr>
        <p:spPr>
          <a:xfrm>
            <a:off x="599440" y="4367745"/>
            <a:ext cx="5804218" cy="830997"/>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mkdir -p </a:t>
            </a:r>
            <a:r>
              <a:rPr lang="en-US" sz="1200" noProof="1">
                <a:latin typeface="Consolas" panose="020B0609020204030204" pitchFamily="49" charset="0"/>
                <a:cs typeface="Consolas" panose="020B0609020204030204" pitchFamily="49" charset="0"/>
              </a:rPr>
              <a:t>/tmp/build_jde_libs/JDBC_Vendor_Drivers</a:t>
            </a:r>
            <a:r>
              <a:rPr lang="en-US" sz="1200" noProof="1">
                <a:solidFill>
                  <a:srgbClr val="FF0000"/>
                </a:solidFill>
                <a:latin typeface="Consolas" panose="020B0609020204030204" pitchFamily="49" charset="0"/>
                <a:cs typeface="Consolas" panose="020B0609020204030204" pitchFamily="49" charset="0"/>
              </a:rPr>
              <a:t> \</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/tmp/build_jde_libs/system/Classes</a:t>
            </a:r>
            <a:r>
              <a:rPr lang="en-US" sz="1200" noProof="1">
                <a:solidFill>
                  <a:srgbClr val="FF0000"/>
                </a:solidFill>
                <a:latin typeface="Consolas" panose="020B0609020204030204" pitchFamily="49" charset="0"/>
                <a:cs typeface="Consolas" panose="020B0609020204030204" pitchFamily="49" charset="0"/>
              </a:rPr>
              <a:t> \</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/tmp/build_jde_libs/system/JAS </a:t>
            </a:r>
            <a:r>
              <a:rPr lang="en-US" sz="1200" noProof="1">
                <a:solidFill>
                  <a:srgbClr val="FF0000"/>
                </a:solidFill>
                <a:latin typeface="Consolas" panose="020B0609020204030204" pitchFamily="49" charset="0"/>
                <a:cs typeface="Consolas" panose="020B0609020204030204" pitchFamily="49" charset="0"/>
              </a:rPr>
              <a:t>\</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/tmp/build_jde_libs/system/WS</a:t>
            </a:r>
            <a:endParaRPr lang="en-US" sz="1050" b="0" i="0" noProof="1">
              <a:effectLst/>
              <a:latin typeface="Consolas" panose="020B0609020204030204" pitchFamily="49" charset="0"/>
              <a:cs typeface="Consolas" panose="020B0609020204030204" pitchFamily="49" charset="0"/>
            </a:endParaRPr>
          </a:p>
        </p:txBody>
      </p:sp>
      <p:grpSp>
        <p:nvGrpSpPr>
          <p:cNvPr id="29" name="Group 28">
            <a:extLst>
              <a:ext uri="{FF2B5EF4-FFF2-40B4-BE49-F238E27FC236}">
                <a16:creationId xmlns:a16="http://schemas.microsoft.com/office/drawing/2014/main" id="{2DA3560E-209D-AB5B-B45A-0032FE9A2DC6}"/>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0" name="Rounded Rectangle 29">
              <a:extLst>
                <a:ext uri="{FF2B5EF4-FFF2-40B4-BE49-F238E27FC236}">
                  <a16:creationId xmlns:a16="http://schemas.microsoft.com/office/drawing/2014/main" id="{CF51A5D2-9739-1B60-FA1D-BDE8F978E000}"/>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1" name="Rounded Rectangle 4">
              <a:extLst>
                <a:ext uri="{FF2B5EF4-FFF2-40B4-BE49-F238E27FC236}">
                  <a16:creationId xmlns:a16="http://schemas.microsoft.com/office/drawing/2014/main" id="{368E5444-57B3-64B1-B6BE-A109A7199F9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32" name="Group 31">
            <a:extLst>
              <a:ext uri="{FF2B5EF4-FFF2-40B4-BE49-F238E27FC236}">
                <a16:creationId xmlns:a16="http://schemas.microsoft.com/office/drawing/2014/main" id="{4D3FBD63-3F4F-5E9D-73FE-281C7184EB55}"/>
              </a:ext>
            </a:extLst>
          </p:cNvPr>
          <p:cNvGrpSpPr/>
          <p:nvPr/>
        </p:nvGrpSpPr>
        <p:grpSpPr>
          <a:xfrm rot="5400000">
            <a:off x="7607064" y="1904622"/>
            <a:ext cx="213569" cy="217113"/>
            <a:chOff x="2225367" y="901313"/>
            <a:chExt cx="432290" cy="505697"/>
          </a:xfrm>
        </p:grpSpPr>
        <p:sp>
          <p:nvSpPr>
            <p:cNvPr id="33" name="Right Arrow 32">
              <a:extLst>
                <a:ext uri="{FF2B5EF4-FFF2-40B4-BE49-F238E27FC236}">
                  <a16:creationId xmlns:a16="http://schemas.microsoft.com/office/drawing/2014/main" id="{D8FD931E-28B6-C7FB-2C33-4E265C65E7D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4" name="Right Arrow 6">
              <a:extLst>
                <a:ext uri="{FF2B5EF4-FFF2-40B4-BE49-F238E27FC236}">
                  <a16:creationId xmlns:a16="http://schemas.microsoft.com/office/drawing/2014/main" id="{EAEBD681-B4D1-98DC-42EB-2A9F3017FC8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5" name="Group 34">
            <a:extLst>
              <a:ext uri="{FF2B5EF4-FFF2-40B4-BE49-F238E27FC236}">
                <a16:creationId xmlns:a16="http://schemas.microsoft.com/office/drawing/2014/main" id="{71224555-8528-7BE3-AD67-158E1955E65B}"/>
              </a:ext>
            </a:extLst>
          </p:cNvPr>
          <p:cNvGrpSpPr/>
          <p:nvPr/>
        </p:nvGrpSpPr>
        <p:grpSpPr>
          <a:xfrm rot="5400000">
            <a:off x="7607063" y="2479517"/>
            <a:ext cx="213569" cy="217113"/>
            <a:chOff x="2225367" y="901313"/>
            <a:chExt cx="432290" cy="505697"/>
          </a:xfrm>
        </p:grpSpPr>
        <p:sp>
          <p:nvSpPr>
            <p:cNvPr id="36" name="Right Arrow 35">
              <a:extLst>
                <a:ext uri="{FF2B5EF4-FFF2-40B4-BE49-F238E27FC236}">
                  <a16:creationId xmlns:a16="http://schemas.microsoft.com/office/drawing/2014/main" id="{25271BAE-6D93-5C0F-024F-EFBFA19CC4D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7" name="Right Arrow 6">
              <a:extLst>
                <a:ext uri="{FF2B5EF4-FFF2-40B4-BE49-F238E27FC236}">
                  <a16:creationId xmlns:a16="http://schemas.microsoft.com/office/drawing/2014/main" id="{E567158D-DC74-9A1A-F79C-53EE57872DF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098F25B1-057A-E2BE-ABA3-3272FA240CA4}"/>
              </a:ext>
            </a:extLst>
          </p:cNvPr>
          <p:cNvGrpSpPr/>
          <p:nvPr/>
        </p:nvGrpSpPr>
        <p:grpSpPr>
          <a:xfrm rot="5400000">
            <a:off x="7607063" y="3036273"/>
            <a:ext cx="213569" cy="217113"/>
            <a:chOff x="2225367" y="901313"/>
            <a:chExt cx="432290" cy="505697"/>
          </a:xfrm>
        </p:grpSpPr>
        <p:sp>
          <p:nvSpPr>
            <p:cNvPr id="39" name="Right Arrow 38">
              <a:extLst>
                <a:ext uri="{FF2B5EF4-FFF2-40B4-BE49-F238E27FC236}">
                  <a16:creationId xmlns:a16="http://schemas.microsoft.com/office/drawing/2014/main" id="{AD996E2D-04B3-0086-71B9-22F0AA46126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0" name="Right Arrow 6">
              <a:extLst>
                <a:ext uri="{FF2B5EF4-FFF2-40B4-BE49-F238E27FC236}">
                  <a16:creationId xmlns:a16="http://schemas.microsoft.com/office/drawing/2014/main" id="{2728F54C-D8DF-B382-BB59-D4EF689C670B}"/>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1" name="Group 40">
            <a:extLst>
              <a:ext uri="{FF2B5EF4-FFF2-40B4-BE49-F238E27FC236}">
                <a16:creationId xmlns:a16="http://schemas.microsoft.com/office/drawing/2014/main" id="{47D877FA-3618-0539-0586-794DE373D628}"/>
              </a:ext>
            </a:extLst>
          </p:cNvPr>
          <p:cNvGrpSpPr/>
          <p:nvPr/>
        </p:nvGrpSpPr>
        <p:grpSpPr>
          <a:xfrm rot="5400000">
            <a:off x="7605881" y="3601274"/>
            <a:ext cx="213569" cy="217113"/>
            <a:chOff x="2225367" y="901313"/>
            <a:chExt cx="432290" cy="505697"/>
          </a:xfrm>
        </p:grpSpPr>
        <p:sp>
          <p:nvSpPr>
            <p:cNvPr id="42" name="Right Arrow 41">
              <a:extLst>
                <a:ext uri="{FF2B5EF4-FFF2-40B4-BE49-F238E27FC236}">
                  <a16:creationId xmlns:a16="http://schemas.microsoft.com/office/drawing/2014/main" id="{5422883C-022A-62DA-2D2E-5FD39CBC749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F63D6037-673A-34C2-7EC7-3F86E8950A1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4" name="Group 43">
            <a:extLst>
              <a:ext uri="{FF2B5EF4-FFF2-40B4-BE49-F238E27FC236}">
                <a16:creationId xmlns:a16="http://schemas.microsoft.com/office/drawing/2014/main" id="{0B597BE9-6777-9A59-1AB4-C4C25429277F}"/>
              </a:ext>
            </a:extLst>
          </p:cNvPr>
          <p:cNvGrpSpPr/>
          <p:nvPr/>
        </p:nvGrpSpPr>
        <p:grpSpPr>
          <a:xfrm rot="5400000">
            <a:off x="7605880" y="4176169"/>
            <a:ext cx="213569" cy="217113"/>
            <a:chOff x="2225367" y="901313"/>
            <a:chExt cx="432290" cy="505697"/>
          </a:xfrm>
        </p:grpSpPr>
        <p:sp>
          <p:nvSpPr>
            <p:cNvPr id="45" name="Right Arrow 44">
              <a:extLst>
                <a:ext uri="{FF2B5EF4-FFF2-40B4-BE49-F238E27FC236}">
                  <a16:creationId xmlns:a16="http://schemas.microsoft.com/office/drawing/2014/main" id="{56043513-1216-D019-699C-6BD3021D958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6" name="Right Arrow 6">
              <a:extLst>
                <a:ext uri="{FF2B5EF4-FFF2-40B4-BE49-F238E27FC236}">
                  <a16:creationId xmlns:a16="http://schemas.microsoft.com/office/drawing/2014/main" id="{6B9ECED3-319A-C3DC-EE81-50386CEBC6DC}"/>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2EC67E58-6C9B-7DD9-A9C2-416167B43DB7}"/>
              </a:ext>
            </a:extLst>
          </p:cNvPr>
          <p:cNvGrpSpPr/>
          <p:nvPr/>
        </p:nvGrpSpPr>
        <p:grpSpPr>
          <a:xfrm rot="5400000">
            <a:off x="7605880" y="4732925"/>
            <a:ext cx="213569" cy="217113"/>
            <a:chOff x="2225367" y="901313"/>
            <a:chExt cx="432290" cy="505697"/>
          </a:xfrm>
        </p:grpSpPr>
        <p:sp>
          <p:nvSpPr>
            <p:cNvPr id="48" name="Right Arrow 47">
              <a:extLst>
                <a:ext uri="{FF2B5EF4-FFF2-40B4-BE49-F238E27FC236}">
                  <a16:creationId xmlns:a16="http://schemas.microsoft.com/office/drawing/2014/main" id="{DB6AA432-11DF-36AD-515A-B2F4D76EDC4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9" name="Right Arrow 6">
              <a:extLst>
                <a:ext uri="{FF2B5EF4-FFF2-40B4-BE49-F238E27FC236}">
                  <a16:creationId xmlns:a16="http://schemas.microsoft.com/office/drawing/2014/main" id="{7BDD7120-B74F-E692-7906-5C52CBE73C2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0" name="Group 49">
            <a:extLst>
              <a:ext uri="{FF2B5EF4-FFF2-40B4-BE49-F238E27FC236}">
                <a16:creationId xmlns:a16="http://schemas.microsoft.com/office/drawing/2014/main" id="{68364E08-9337-AFBE-7C4E-D823A2DE5CB9}"/>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1" name="Rounded Rectangle 50">
              <a:extLst>
                <a:ext uri="{FF2B5EF4-FFF2-40B4-BE49-F238E27FC236}">
                  <a16:creationId xmlns:a16="http://schemas.microsoft.com/office/drawing/2014/main" id="{24BF51DD-E958-5571-7F83-56EE2A5B5A23}"/>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55FDF118-6331-1A00-088D-E81369B9B7B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3" name="Group 52">
            <a:extLst>
              <a:ext uri="{FF2B5EF4-FFF2-40B4-BE49-F238E27FC236}">
                <a16:creationId xmlns:a16="http://schemas.microsoft.com/office/drawing/2014/main" id="{1FB3278A-BFB7-0BDA-2BF3-C2E2699231D1}"/>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4" name="Rounded Rectangle 53">
              <a:extLst>
                <a:ext uri="{FF2B5EF4-FFF2-40B4-BE49-F238E27FC236}">
                  <a16:creationId xmlns:a16="http://schemas.microsoft.com/office/drawing/2014/main" id="{9721C1CC-CD6E-2DDE-FC14-471AB1982076}"/>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5" name="Rounded Rectangle 4">
              <a:extLst>
                <a:ext uri="{FF2B5EF4-FFF2-40B4-BE49-F238E27FC236}">
                  <a16:creationId xmlns:a16="http://schemas.microsoft.com/office/drawing/2014/main" id="{A42D3084-8A59-5022-72B1-5FBFC898C84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6" name="Group 55">
            <a:extLst>
              <a:ext uri="{FF2B5EF4-FFF2-40B4-BE49-F238E27FC236}">
                <a16:creationId xmlns:a16="http://schemas.microsoft.com/office/drawing/2014/main" id="{DCDD1769-48C3-8AE3-24BD-21E8F1203F66}"/>
              </a:ext>
            </a:extLst>
          </p:cNvPr>
          <p:cNvGrpSpPr/>
          <p:nvPr/>
        </p:nvGrpSpPr>
        <p:grpSpPr>
          <a:xfrm>
            <a:off x="6845290" y="3259710"/>
            <a:ext cx="1862940" cy="279265"/>
            <a:chOff x="6822" y="542430"/>
            <a:chExt cx="2039104" cy="533039"/>
          </a:xfrm>
        </p:grpSpPr>
        <p:sp>
          <p:nvSpPr>
            <p:cNvPr id="57" name="Rounded Rectangle 56">
              <a:extLst>
                <a:ext uri="{FF2B5EF4-FFF2-40B4-BE49-F238E27FC236}">
                  <a16:creationId xmlns:a16="http://schemas.microsoft.com/office/drawing/2014/main" id="{2502C8A0-99AB-6EA7-CB5B-8EBBC0507C6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8" name="Rounded Rectangle 4">
              <a:extLst>
                <a:ext uri="{FF2B5EF4-FFF2-40B4-BE49-F238E27FC236}">
                  <a16:creationId xmlns:a16="http://schemas.microsoft.com/office/drawing/2014/main" id="{5B0CEC5F-82F8-EA4E-AE67-0AAB82A6AAE8}"/>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59" name="Group 58">
            <a:extLst>
              <a:ext uri="{FF2B5EF4-FFF2-40B4-BE49-F238E27FC236}">
                <a16:creationId xmlns:a16="http://schemas.microsoft.com/office/drawing/2014/main" id="{E0DB87EB-C35C-2A52-DDD8-B21CB201832A}"/>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0" name="Rounded Rectangle 59">
              <a:extLst>
                <a:ext uri="{FF2B5EF4-FFF2-40B4-BE49-F238E27FC236}">
                  <a16:creationId xmlns:a16="http://schemas.microsoft.com/office/drawing/2014/main" id="{0AFF66CD-C0C0-DD4A-B717-CC0E7E3CA94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1" name="Rounded Rectangle 4">
              <a:extLst>
                <a:ext uri="{FF2B5EF4-FFF2-40B4-BE49-F238E27FC236}">
                  <a16:creationId xmlns:a16="http://schemas.microsoft.com/office/drawing/2014/main" id="{AA0BE347-ED90-3226-5DEA-08618A385BA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62" name="Group 61">
            <a:extLst>
              <a:ext uri="{FF2B5EF4-FFF2-40B4-BE49-F238E27FC236}">
                <a16:creationId xmlns:a16="http://schemas.microsoft.com/office/drawing/2014/main" id="{5130D335-090E-F31B-F5E5-77F501B9ADEF}"/>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3" name="Rounded Rectangle 62">
              <a:extLst>
                <a:ext uri="{FF2B5EF4-FFF2-40B4-BE49-F238E27FC236}">
                  <a16:creationId xmlns:a16="http://schemas.microsoft.com/office/drawing/2014/main" id="{ECEF072F-A815-1988-7940-E5122114B7D8}"/>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4" name="Rounded Rectangle 4">
              <a:extLst>
                <a:ext uri="{FF2B5EF4-FFF2-40B4-BE49-F238E27FC236}">
                  <a16:creationId xmlns:a16="http://schemas.microsoft.com/office/drawing/2014/main" id="{3EC27400-A9F4-872F-2A32-63BFA4FEF87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65" name="Group 64">
            <a:extLst>
              <a:ext uri="{FF2B5EF4-FFF2-40B4-BE49-F238E27FC236}">
                <a16:creationId xmlns:a16="http://schemas.microsoft.com/office/drawing/2014/main" id="{44C4CC4B-53BD-5C66-F644-5B287992C9B5}"/>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6" name="Rounded Rectangle 65">
              <a:extLst>
                <a:ext uri="{FF2B5EF4-FFF2-40B4-BE49-F238E27FC236}">
                  <a16:creationId xmlns:a16="http://schemas.microsoft.com/office/drawing/2014/main" id="{86499691-B59B-FE4D-2206-1EFBA971A5DC}"/>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7" name="Rounded Rectangle 4">
              <a:extLst>
                <a:ext uri="{FF2B5EF4-FFF2-40B4-BE49-F238E27FC236}">
                  <a16:creationId xmlns:a16="http://schemas.microsoft.com/office/drawing/2014/main" id="{FC048481-2968-BDCF-07FA-0DD1D6944D1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1354839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9671B-954D-2BEE-C0D1-571AD5FD858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C36C63D-5B23-5213-8917-6C553AA7A917}"/>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5 –</a:t>
            </a:r>
            <a:r>
              <a:rPr lang="en-US" sz="1400" i="0" dirty="0">
                <a:effectLst/>
              </a:rPr>
              <a:t> Copy Deployment Server Files</a:t>
            </a:r>
            <a:endParaRPr lang="en-US" sz="1400" dirty="0"/>
          </a:p>
        </p:txBody>
      </p:sp>
      <p:sp>
        <p:nvSpPr>
          <p:cNvPr id="5" name="TextBox 4">
            <a:extLst>
              <a:ext uri="{FF2B5EF4-FFF2-40B4-BE49-F238E27FC236}">
                <a16:creationId xmlns:a16="http://schemas.microsoft.com/office/drawing/2014/main" id="{0B0AA015-69B4-38E3-B281-D2EF43F42948}"/>
              </a:ext>
            </a:extLst>
          </p:cNvPr>
          <p:cNvSpPr txBox="1"/>
          <p:nvPr/>
        </p:nvSpPr>
        <p:spPr>
          <a:xfrm>
            <a:off x="599439" y="1742081"/>
            <a:ext cx="5337016" cy="523220"/>
          </a:xfrm>
          <a:prstGeom prst="rect">
            <a:avLst/>
          </a:prstGeom>
          <a:noFill/>
        </p:spPr>
        <p:txBody>
          <a:bodyPr wrap="square">
            <a:spAutoFit/>
          </a:bodyPr>
          <a:lstStyle/>
          <a:p>
            <a:r>
              <a:rPr lang="en-US" sz="1400" b="0" i="0" dirty="0">
                <a:effectLst/>
              </a:rPr>
              <a:t>In this step, you will copy the required JDE libraries from the Deployment Server into your local directory structure.</a:t>
            </a:r>
            <a:endParaRPr lang="en-AR" sz="1400" dirty="0"/>
          </a:p>
        </p:txBody>
      </p:sp>
      <p:pic>
        <p:nvPicPr>
          <p:cNvPr id="13" name="Picture 12">
            <a:extLst>
              <a:ext uri="{FF2B5EF4-FFF2-40B4-BE49-F238E27FC236}">
                <a16:creationId xmlns:a16="http://schemas.microsoft.com/office/drawing/2014/main" id="{974FCCCF-925C-0D63-1B8D-9C0458E22BC5}"/>
              </a:ext>
            </a:extLst>
          </p:cNvPr>
          <p:cNvPicPr>
            <a:picLocks noChangeAspect="1"/>
          </p:cNvPicPr>
          <p:nvPr/>
        </p:nvPicPr>
        <p:blipFill>
          <a:blip r:embed="rId2"/>
          <a:stretch>
            <a:fillRect/>
          </a:stretch>
        </p:blipFill>
        <p:spPr>
          <a:xfrm>
            <a:off x="0" y="0"/>
            <a:ext cx="9144000" cy="644018"/>
          </a:xfrm>
          <a:prstGeom prst="rect">
            <a:avLst/>
          </a:prstGeom>
        </p:spPr>
      </p:pic>
      <p:sp>
        <p:nvSpPr>
          <p:cNvPr id="14" name="Title 1">
            <a:extLst>
              <a:ext uri="{FF2B5EF4-FFF2-40B4-BE49-F238E27FC236}">
                <a16:creationId xmlns:a16="http://schemas.microsoft.com/office/drawing/2014/main" id="{DC68D1E3-C3B1-254D-FAD9-1E3191E8B31D}"/>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5 – Create JARs Libraries – Copy Files</a:t>
            </a:r>
          </a:p>
        </p:txBody>
      </p:sp>
      <p:sp>
        <p:nvSpPr>
          <p:cNvPr id="2" name="TextBox 1">
            <a:extLst>
              <a:ext uri="{FF2B5EF4-FFF2-40B4-BE49-F238E27FC236}">
                <a16:creationId xmlns:a16="http://schemas.microsoft.com/office/drawing/2014/main" id="{83996792-94D8-5053-E124-395958504A9A}"/>
              </a:ext>
            </a:extLst>
          </p:cNvPr>
          <p:cNvSpPr txBox="1"/>
          <p:nvPr/>
        </p:nvSpPr>
        <p:spPr>
          <a:xfrm>
            <a:off x="670878" y="2823477"/>
            <a:ext cx="5804218" cy="23083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900" noProof="1">
                <a:latin typeface="Consolas" panose="020B0609020204030204" pitchFamily="49" charset="0"/>
                <a:cs typeface="Consolas" panose="020B0609020204030204" pitchFamily="49" charset="0"/>
              </a:rPr>
              <a:t>cp -rv ~/atina/E1_DeploymentServer/E920/MISC/* /tmp/build_jde_libs/JDBC_Vendor_Drivers/</a:t>
            </a:r>
          </a:p>
        </p:txBody>
      </p:sp>
      <p:sp>
        <p:nvSpPr>
          <p:cNvPr id="30" name="TextBox 29">
            <a:extLst>
              <a:ext uri="{FF2B5EF4-FFF2-40B4-BE49-F238E27FC236}">
                <a16:creationId xmlns:a16="http://schemas.microsoft.com/office/drawing/2014/main" id="{B4E481DD-AAA1-F86E-7047-0CEA4C66E418}"/>
              </a:ext>
            </a:extLst>
          </p:cNvPr>
          <p:cNvSpPr txBox="1"/>
          <p:nvPr/>
        </p:nvSpPr>
        <p:spPr>
          <a:xfrm>
            <a:off x="670878" y="2358495"/>
            <a:ext cx="4572000" cy="276999"/>
          </a:xfrm>
          <a:prstGeom prst="rect">
            <a:avLst/>
          </a:prstGeom>
          <a:noFill/>
        </p:spPr>
        <p:txBody>
          <a:bodyPr wrap="square">
            <a:spAutoFit/>
          </a:bodyPr>
          <a:lstStyle/>
          <a:p>
            <a:pPr>
              <a:buNone/>
            </a:pPr>
            <a:r>
              <a:rPr lang="en-US" sz="1200" b="1" dirty="0">
                <a:solidFill>
                  <a:srgbClr val="0E0E0E"/>
                </a:solidFill>
                <a:effectLst/>
              </a:rPr>
              <a:t>JDBC Vendor Drivers</a:t>
            </a:r>
            <a:endParaRPr lang="en-US" sz="1200" dirty="0">
              <a:solidFill>
                <a:srgbClr val="0E0E0E"/>
              </a:solidFill>
              <a:effectLst/>
            </a:endParaRPr>
          </a:p>
        </p:txBody>
      </p:sp>
      <p:sp>
        <p:nvSpPr>
          <p:cNvPr id="32" name="TextBox 31">
            <a:extLst>
              <a:ext uri="{FF2B5EF4-FFF2-40B4-BE49-F238E27FC236}">
                <a16:creationId xmlns:a16="http://schemas.microsoft.com/office/drawing/2014/main" id="{AB6F504C-EFDD-A142-CDB4-104E9A5A6E2C}"/>
              </a:ext>
            </a:extLst>
          </p:cNvPr>
          <p:cNvSpPr txBox="1"/>
          <p:nvPr/>
        </p:nvSpPr>
        <p:spPr>
          <a:xfrm>
            <a:off x="670878" y="3243864"/>
            <a:ext cx="4572000" cy="276999"/>
          </a:xfrm>
          <a:prstGeom prst="rect">
            <a:avLst/>
          </a:prstGeom>
          <a:noFill/>
        </p:spPr>
        <p:txBody>
          <a:bodyPr wrap="square">
            <a:spAutoFit/>
          </a:bodyPr>
          <a:lstStyle/>
          <a:p>
            <a:pPr>
              <a:buNone/>
            </a:pPr>
            <a:r>
              <a:rPr lang="en-US" sz="1200" b="1" dirty="0">
                <a:solidFill>
                  <a:srgbClr val="0E0E0E"/>
                </a:solidFill>
                <a:effectLst/>
              </a:rPr>
              <a:t>System/Classes</a:t>
            </a:r>
            <a:endParaRPr lang="en-US" sz="1200" dirty="0">
              <a:solidFill>
                <a:srgbClr val="0E0E0E"/>
              </a:solidFill>
              <a:effectLst/>
            </a:endParaRPr>
          </a:p>
        </p:txBody>
      </p:sp>
      <p:sp>
        <p:nvSpPr>
          <p:cNvPr id="33" name="TextBox 32">
            <a:extLst>
              <a:ext uri="{FF2B5EF4-FFF2-40B4-BE49-F238E27FC236}">
                <a16:creationId xmlns:a16="http://schemas.microsoft.com/office/drawing/2014/main" id="{65927BB9-B7D1-FEBA-A9C7-5F62755A0A7F}"/>
              </a:ext>
            </a:extLst>
          </p:cNvPr>
          <p:cNvSpPr txBox="1"/>
          <p:nvPr/>
        </p:nvSpPr>
        <p:spPr>
          <a:xfrm>
            <a:off x="641666" y="3614057"/>
            <a:ext cx="6087110" cy="23083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900" noProof="1">
                <a:latin typeface="Consolas" panose="020B0609020204030204" pitchFamily="49" charset="0"/>
                <a:cs typeface="Consolas" panose="020B0609020204030204" pitchFamily="49" charset="0"/>
              </a:rPr>
              <a:t>cp -rv ~/atina/E1_DeploymentServer/E920/system/Classes/* /tmp/build_jde_libs/system/Classes/</a:t>
            </a:r>
          </a:p>
        </p:txBody>
      </p:sp>
      <p:sp>
        <p:nvSpPr>
          <p:cNvPr id="34" name="TextBox 33">
            <a:extLst>
              <a:ext uri="{FF2B5EF4-FFF2-40B4-BE49-F238E27FC236}">
                <a16:creationId xmlns:a16="http://schemas.microsoft.com/office/drawing/2014/main" id="{793632EE-CE94-6943-782B-6711BC5AA584}"/>
              </a:ext>
            </a:extLst>
          </p:cNvPr>
          <p:cNvSpPr txBox="1"/>
          <p:nvPr/>
        </p:nvSpPr>
        <p:spPr>
          <a:xfrm>
            <a:off x="641666" y="4403065"/>
            <a:ext cx="6087110" cy="36933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900" noProof="1">
                <a:latin typeface="Consolas" panose="020B0609020204030204" pitchFamily="49" charset="0"/>
                <a:cs typeface="Consolas" panose="020B0609020204030204" pitchFamily="49" charset="0"/>
              </a:rPr>
              <a:t>cp -rv ~/atina/E1_DeploymentServer/E920/system/JAS/webclient.ear/webclient.war/WEB-INF/lib/* /tmp/build_jde_libs/system/JAS/</a:t>
            </a:r>
          </a:p>
        </p:txBody>
      </p:sp>
      <p:sp>
        <p:nvSpPr>
          <p:cNvPr id="36" name="TextBox 35">
            <a:extLst>
              <a:ext uri="{FF2B5EF4-FFF2-40B4-BE49-F238E27FC236}">
                <a16:creationId xmlns:a16="http://schemas.microsoft.com/office/drawing/2014/main" id="{CEBD47AE-1BDF-B77E-C9C3-4A86C2E7A865}"/>
              </a:ext>
            </a:extLst>
          </p:cNvPr>
          <p:cNvSpPr txBox="1"/>
          <p:nvPr/>
        </p:nvSpPr>
        <p:spPr>
          <a:xfrm>
            <a:off x="641666" y="4032872"/>
            <a:ext cx="4572000" cy="276999"/>
          </a:xfrm>
          <a:prstGeom prst="rect">
            <a:avLst/>
          </a:prstGeom>
          <a:noFill/>
        </p:spPr>
        <p:txBody>
          <a:bodyPr wrap="square">
            <a:spAutoFit/>
          </a:bodyPr>
          <a:lstStyle/>
          <a:p>
            <a:pPr>
              <a:buNone/>
            </a:pPr>
            <a:r>
              <a:rPr lang="en-US" sz="1200" b="1" dirty="0">
                <a:solidFill>
                  <a:srgbClr val="0E0E0E"/>
                </a:solidFill>
                <a:effectLst/>
              </a:rPr>
              <a:t> System/JAS</a:t>
            </a:r>
            <a:endParaRPr lang="en-US" sz="1200" dirty="0">
              <a:solidFill>
                <a:srgbClr val="0E0E0E"/>
              </a:solidFill>
              <a:effectLst/>
            </a:endParaRPr>
          </a:p>
        </p:txBody>
      </p:sp>
      <p:sp>
        <p:nvSpPr>
          <p:cNvPr id="38" name="TextBox 37">
            <a:extLst>
              <a:ext uri="{FF2B5EF4-FFF2-40B4-BE49-F238E27FC236}">
                <a16:creationId xmlns:a16="http://schemas.microsoft.com/office/drawing/2014/main" id="{45CB90CC-02AB-188F-ECFC-A4A49D24D229}"/>
              </a:ext>
            </a:extLst>
          </p:cNvPr>
          <p:cNvSpPr txBox="1"/>
          <p:nvPr/>
        </p:nvSpPr>
        <p:spPr>
          <a:xfrm>
            <a:off x="599439" y="4865591"/>
            <a:ext cx="4572000" cy="276999"/>
          </a:xfrm>
          <a:prstGeom prst="rect">
            <a:avLst/>
          </a:prstGeom>
          <a:noFill/>
        </p:spPr>
        <p:txBody>
          <a:bodyPr wrap="square">
            <a:spAutoFit/>
          </a:bodyPr>
          <a:lstStyle/>
          <a:p>
            <a:pPr>
              <a:buNone/>
            </a:pPr>
            <a:r>
              <a:rPr lang="en-US" sz="1200" b="1" dirty="0">
                <a:solidFill>
                  <a:srgbClr val="0E0E0E"/>
                </a:solidFill>
                <a:effectLst/>
                <a:cs typeface="Consolas" panose="020B0609020204030204" pitchFamily="49" charset="0"/>
              </a:rPr>
              <a:t>system/WS</a:t>
            </a:r>
            <a:endParaRPr lang="en-US" sz="1200" dirty="0">
              <a:solidFill>
                <a:srgbClr val="0E0E0E"/>
              </a:solidFill>
              <a:effectLst/>
              <a:cs typeface="Consolas" panose="020B0609020204030204" pitchFamily="49" charset="0"/>
            </a:endParaRPr>
          </a:p>
        </p:txBody>
      </p:sp>
      <p:sp>
        <p:nvSpPr>
          <p:cNvPr id="39" name="TextBox 38">
            <a:extLst>
              <a:ext uri="{FF2B5EF4-FFF2-40B4-BE49-F238E27FC236}">
                <a16:creationId xmlns:a16="http://schemas.microsoft.com/office/drawing/2014/main" id="{C05EAC16-AFF8-AF48-8BFD-02E48720C889}"/>
              </a:ext>
            </a:extLst>
          </p:cNvPr>
          <p:cNvSpPr txBox="1"/>
          <p:nvPr/>
        </p:nvSpPr>
        <p:spPr>
          <a:xfrm>
            <a:off x="641666" y="5294089"/>
            <a:ext cx="6087110" cy="23083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900" noProof="1">
                <a:latin typeface="Consolas" panose="020B0609020204030204" pitchFamily="49" charset="0"/>
                <a:cs typeface="Consolas" panose="020B0609020204030204" pitchFamily="49" charset="0"/>
              </a:rPr>
              <a:t>cp -rv ~/atina/E1_DeploymentServer/E920/DV920/java/sbfjars/* /tmp/build_jde_libs/system/WS/</a:t>
            </a:r>
          </a:p>
        </p:txBody>
      </p:sp>
      <p:grpSp>
        <p:nvGrpSpPr>
          <p:cNvPr id="40" name="Group 39">
            <a:extLst>
              <a:ext uri="{FF2B5EF4-FFF2-40B4-BE49-F238E27FC236}">
                <a16:creationId xmlns:a16="http://schemas.microsoft.com/office/drawing/2014/main" id="{76233C66-C92C-1940-39BD-E8A842644F75}"/>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1" name="Rounded Rectangle 40">
              <a:extLst>
                <a:ext uri="{FF2B5EF4-FFF2-40B4-BE49-F238E27FC236}">
                  <a16:creationId xmlns:a16="http://schemas.microsoft.com/office/drawing/2014/main" id="{73622FAC-19BA-986C-DB32-BCA59DDDEAF9}"/>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2" name="Rounded Rectangle 4">
              <a:extLst>
                <a:ext uri="{FF2B5EF4-FFF2-40B4-BE49-F238E27FC236}">
                  <a16:creationId xmlns:a16="http://schemas.microsoft.com/office/drawing/2014/main" id="{4FCC22B6-7999-3697-7ACF-C67F835268D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43" name="Group 42">
            <a:extLst>
              <a:ext uri="{FF2B5EF4-FFF2-40B4-BE49-F238E27FC236}">
                <a16:creationId xmlns:a16="http://schemas.microsoft.com/office/drawing/2014/main" id="{D644E3D1-5884-BE7B-42BB-02E5820D1610}"/>
              </a:ext>
            </a:extLst>
          </p:cNvPr>
          <p:cNvGrpSpPr/>
          <p:nvPr/>
        </p:nvGrpSpPr>
        <p:grpSpPr>
          <a:xfrm rot="5400000">
            <a:off x="7607064" y="1904622"/>
            <a:ext cx="213569" cy="217113"/>
            <a:chOff x="2225367" y="901313"/>
            <a:chExt cx="432290" cy="505697"/>
          </a:xfrm>
        </p:grpSpPr>
        <p:sp>
          <p:nvSpPr>
            <p:cNvPr id="44" name="Right Arrow 43">
              <a:extLst>
                <a:ext uri="{FF2B5EF4-FFF2-40B4-BE49-F238E27FC236}">
                  <a16:creationId xmlns:a16="http://schemas.microsoft.com/office/drawing/2014/main" id="{3E67E2B3-5D99-43CF-C780-87CCB39EF47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5" name="Right Arrow 6">
              <a:extLst>
                <a:ext uri="{FF2B5EF4-FFF2-40B4-BE49-F238E27FC236}">
                  <a16:creationId xmlns:a16="http://schemas.microsoft.com/office/drawing/2014/main" id="{1B2E990B-772F-DB49-E914-AEE65A1618F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6" name="Group 45">
            <a:extLst>
              <a:ext uri="{FF2B5EF4-FFF2-40B4-BE49-F238E27FC236}">
                <a16:creationId xmlns:a16="http://schemas.microsoft.com/office/drawing/2014/main" id="{B03CE35B-782C-227C-A856-A34871B62D72}"/>
              </a:ext>
            </a:extLst>
          </p:cNvPr>
          <p:cNvGrpSpPr/>
          <p:nvPr/>
        </p:nvGrpSpPr>
        <p:grpSpPr>
          <a:xfrm rot="5400000">
            <a:off x="7607063" y="2479517"/>
            <a:ext cx="213569" cy="217113"/>
            <a:chOff x="2225367" y="901313"/>
            <a:chExt cx="432290" cy="505697"/>
          </a:xfrm>
        </p:grpSpPr>
        <p:sp>
          <p:nvSpPr>
            <p:cNvPr id="47" name="Right Arrow 46">
              <a:extLst>
                <a:ext uri="{FF2B5EF4-FFF2-40B4-BE49-F238E27FC236}">
                  <a16:creationId xmlns:a16="http://schemas.microsoft.com/office/drawing/2014/main" id="{504C2768-0AB0-E5C5-A670-14473D44324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8" name="Right Arrow 6">
              <a:extLst>
                <a:ext uri="{FF2B5EF4-FFF2-40B4-BE49-F238E27FC236}">
                  <a16:creationId xmlns:a16="http://schemas.microsoft.com/office/drawing/2014/main" id="{1DC7C473-AC18-78DA-429E-52E71A785E3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9" name="Group 48">
            <a:extLst>
              <a:ext uri="{FF2B5EF4-FFF2-40B4-BE49-F238E27FC236}">
                <a16:creationId xmlns:a16="http://schemas.microsoft.com/office/drawing/2014/main" id="{35CA5384-9B94-8ED6-9807-696280B5359C}"/>
              </a:ext>
            </a:extLst>
          </p:cNvPr>
          <p:cNvGrpSpPr/>
          <p:nvPr/>
        </p:nvGrpSpPr>
        <p:grpSpPr>
          <a:xfrm rot="5400000">
            <a:off x="7607063" y="3036273"/>
            <a:ext cx="213569" cy="217113"/>
            <a:chOff x="2225367" y="901313"/>
            <a:chExt cx="432290" cy="505697"/>
          </a:xfrm>
        </p:grpSpPr>
        <p:sp>
          <p:nvSpPr>
            <p:cNvPr id="50" name="Right Arrow 49">
              <a:extLst>
                <a:ext uri="{FF2B5EF4-FFF2-40B4-BE49-F238E27FC236}">
                  <a16:creationId xmlns:a16="http://schemas.microsoft.com/office/drawing/2014/main" id="{5605C1CF-97D4-2F3A-67D4-879F9908C44D}"/>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1" name="Right Arrow 6">
              <a:extLst>
                <a:ext uri="{FF2B5EF4-FFF2-40B4-BE49-F238E27FC236}">
                  <a16:creationId xmlns:a16="http://schemas.microsoft.com/office/drawing/2014/main" id="{EE263964-3E66-BFB6-4FD2-50549D0587B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2" name="Group 51">
            <a:extLst>
              <a:ext uri="{FF2B5EF4-FFF2-40B4-BE49-F238E27FC236}">
                <a16:creationId xmlns:a16="http://schemas.microsoft.com/office/drawing/2014/main" id="{BB7BDE9B-ACEE-10B5-F079-96A486E60692}"/>
              </a:ext>
            </a:extLst>
          </p:cNvPr>
          <p:cNvGrpSpPr/>
          <p:nvPr/>
        </p:nvGrpSpPr>
        <p:grpSpPr>
          <a:xfrm rot="5400000">
            <a:off x="7605881" y="3601274"/>
            <a:ext cx="213569" cy="217113"/>
            <a:chOff x="2225367" y="901313"/>
            <a:chExt cx="432290" cy="505697"/>
          </a:xfrm>
        </p:grpSpPr>
        <p:sp>
          <p:nvSpPr>
            <p:cNvPr id="53" name="Right Arrow 52">
              <a:extLst>
                <a:ext uri="{FF2B5EF4-FFF2-40B4-BE49-F238E27FC236}">
                  <a16:creationId xmlns:a16="http://schemas.microsoft.com/office/drawing/2014/main" id="{F70253A6-5E0B-4349-AB9F-CFCF0186E7D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4" name="Right Arrow 6">
              <a:extLst>
                <a:ext uri="{FF2B5EF4-FFF2-40B4-BE49-F238E27FC236}">
                  <a16:creationId xmlns:a16="http://schemas.microsoft.com/office/drawing/2014/main" id="{2294F60F-E508-BC74-D1F9-89B0D198EE88}"/>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5" name="Group 54">
            <a:extLst>
              <a:ext uri="{FF2B5EF4-FFF2-40B4-BE49-F238E27FC236}">
                <a16:creationId xmlns:a16="http://schemas.microsoft.com/office/drawing/2014/main" id="{2786642F-486C-4B03-E6D7-9D2A84A19D88}"/>
              </a:ext>
            </a:extLst>
          </p:cNvPr>
          <p:cNvGrpSpPr/>
          <p:nvPr/>
        </p:nvGrpSpPr>
        <p:grpSpPr>
          <a:xfrm rot="5400000">
            <a:off x="7605880" y="4176169"/>
            <a:ext cx="213569" cy="217113"/>
            <a:chOff x="2225367" y="901313"/>
            <a:chExt cx="432290" cy="505697"/>
          </a:xfrm>
        </p:grpSpPr>
        <p:sp>
          <p:nvSpPr>
            <p:cNvPr id="56" name="Right Arrow 55">
              <a:extLst>
                <a:ext uri="{FF2B5EF4-FFF2-40B4-BE49-F238E27FC236}">
                  <a16:creationId xmlns:a16="http://schemas.microsoft.com/office/drawing/2014/main" id="{78FB8C47-44B4-F67F-FED7-D6B2055C731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7" name="Right Arrow 6">
              <a:extLst>
                <a:ext uri="{FF2B5EF4-FFF2-40B4-BE49-F238E27FC236}">
                  <a16:creationId xmlns:a16="http://schemas.microsoft.com/office/drawing/2014/main" id="{E4F4C0A0-568B-C85F-23F1-DE396A8CC1F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8" name="Group 57">
            <a:extLst>
              <a:ext uri="{FF2B5EF4-FFF2-40B4-BE49-F238E27FC236}">
                <a16:creationId xmlns:a16="http://schemas.microsoft.com/office/drawing/2014/main" id="{1CF4714F-CE3C-731A-7091-4C78DBBA44FB}"/>
              </a:ext>
            </a:extLst>
          </p:cNvPr>
          <p:cNvGrpSpPr/>
          <p:nvPr/>
        </p:nvGrpSpPr>
        <p:grpSpPr>
          <a:xfrm rot="5400000">
            <a:off x="7605880" y="4732925"/>
            <a:ext cx="213569" cy="217113"/>
            <a:chOff x="2225367" y="901313"/>
            <a:chExt cx="432290" cy="505697"/>
          </a:xfrm>
        </p:grpSpPr>
        <p:sp>
          <p:nvSpPr>
            <p:cNvPr id="59" name="Right Arrow 58">
              <a:extLst>
                <a:ext uri="{FF2B5EF4-FFF2-40B4-BE49-F238E27FC236}">
                  <a16:creationId xmlns:a16="http://schemas.microsoft.com/office/drawing/2014/main" id="{5E3BE654-BE51-7053-6B1D-FE54B67D442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0" name="Right Arrow 6">
              <a:extLst>
                <a:ext uri="{FF2B5EF4-FFF2-40B4-BE49-F238E27FC236}">
                  <a16:creationId xmlns:a16="http://schemas.microsoft.com/office/drawing/2014/main" id="{A20FF106-1F4B-F207-7A9C-CF0839C905A1}"/>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1" name="Group 60">
            <a:extLst>
              <a:ext uri="{FF2B5EF4-FFF2-40B4-BE49-F238E27FC236}">
                <a16:creationId xmlns:a16="http://schemas.microsoft.com/office/drawing/2014/main" id="{A134FE67-B61A-4705-F849-1B8195500500}"/>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2" name="Rounded Rectangle 61">
              <a:extLst>
                <a:ext uri="{FF2B5EF4-FFF2-40B4-BE49-F238E27FC236}">
                  <a16:creationId xmlns:a16="http://schemas.microsoft.com/office/drawing/2014/main" id="{E100442F-099A-526E-6B0E-3650A5CDA4CE}"/>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3" name="Rounded Rectangle 4">
              <a:extLst>
                <a:ext uri="{FF2B5EF4-FFF2-40B4-BE49-F238E27FC236}">
                  <a16:creationId xmlns:a16="http://schemas.microsoft.com/office/drawing/2014/main" id="{8FDDD225-EBD8-57D4-F81E-0D64B002D80A}"/>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64" name="Group 63">
            <a:extLst>
              <a:ext uri="{FF2B5EF4-FFF2-40B4-BE49-F238E27FC236}">
                <a16:creationId xmlns:a16="http://schemas.microsoft.com/office/drawing/2014/main" id="{51B86238-9008-5F81-7D35-27647A3164E1}"/>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5" name="Rounded Rectangle 64">
              <a:extLst>
                <a:ext uri="{FF2B5EF4-FFF2-40B4-BE49-F238E27FC236}">
                  <a16:creationId xmlns:a16="http://schemas.microsoft.com/office/drawing/2014/main" id="{3FB44529-969D-475A-AFB8-A05EC8FA3AD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6" name="Rounded Rectangle 4">
              <a:extLst>
                <a:ext uri="{FF2B5EF4-FFF2-40B4-BE49-F238E27FC236}">
                  <a16:creationId xmlns:a16="http://schemas.microsoft.com/office/drawing/2014/main" id="{C7925CCC-1616-496E-0F0E-39510E072C2C}"/>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67" name="Group 66">
            <a:extLst>
              <a:ext uri="{FF2B5EF4-FFF2-40B4-BE49-F238E27FC236}">
                <a16:creationId xmlns:a16="http://schemas.microsoft.com/office/drawing/2014/main" id="{049CE231-5830-B98A-B7F9-99712523707C}"/>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8" name="Rounded Rectangle 67">
              <a:extLst>
                <a:ext uri="{FF2B5EF4-FFF2-40B4-BE49-F238E27FC236}">
                  <a16:creationId xmlns:a16="http://schemas.microsoft.com/office/drawing/2014/main" id="{39887F94-DA66-5150-22D0-B05584A7CBD4}"/>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9" name="Rounded Rectangle 4">
              <a:extLst>
                <a:ext uri="{FF2B5EF4-FFF2-40B4-BE49-F238E27FC236}">
                  <a16:creationId xmlns:a16="http://schemas.microsoft.com/office/drawing/2014/main" id="{C861739F-186B-C83B-B8A5-60CE802570D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70" name="Group 69">
            <a:extLst>
              <a:ext uri="{FF2B5EF4-FFF2-40B4-BE49-F238E27FC236}">
                <a16:creationId xmlns:a16="http://schemas.microsoft.com/office/drawing/2014/main" id="{B8BDDF45-4542-A54D-5E12-F58218AC39C7}"/>
              </a:ext>
            </a:extLst>
          </p:cNvPr>
          <p:cNvGrpSpPr/>
          <p:nvPr/>
        </p:nvGrpSpPr>
        <p:grpSpPr>
          <a:xfrm>
            <a:off x="6848862" y="3848576"/>
            <a:ext cx="1862940" cy="279265"/>
            <a:chOff x="6822" y="542430"/>
            <a:chExt cx="2039104" cy="533039"/>
          </a:xfrm>
        </p:grpSpPr>
        <p:sp>
          <p:nvSpPr>
            <p:cNvPr id="71" name="Rounded Rectangle 70">
              <a:extLst>
                <a:ext uri="{FF2B5EF4-FFF2-40B4-BE49-F238E27FC236}">
                  <a16:creationId xmlns:a16="http://schemas.microsoft.com/office/drawing/2014/main" id="{F7A37177-2DEC-2C36-E855-0FA566346EE7}"/>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2" name="Rounded Rectangle 4">
              <a:extLst>
                <a:ext uri="{FF2B5EF4-FFF2-40B4-BE49-F238E27FC236}">
                  <a16:creationId xmlns:a16="http://schemas.microsoft.com/office/drawing/2014/main" id="{1D508417-B831-E4A1-AF47-37C4658FAF0C}"/>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73" name="Group 72">
            <a:extLst>
              <a:ext uri="{FF2B5EF4-FFF2-40B4-BE49-F238E27FC236}">
                <a16:creationId xmlns:a16="http://schemas.microsoft.com/office/drawing/2014/main" id="{AB30A68A-D9CE-A156-46AE-69036B5C2316}"/>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4" name="Rounded Rectangle 73">
              <a:extLst>
                <a:ext uri="{FF2B5EF4-FFF2-40B4-BE49-F238E27FC236}">
                  <a16:creationId xmlns:a16="http://schemas.microsoft.com/office/drawing/2014/main" id="{03CB5C70-CE82-31C5-4D4E-89F45E2DED5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5" name="Rounded Rectangle 4">
              <a:extLst>
                <a:ext uri="{FF2B5EF4-FFF2-40B4-BE49-F238E27FC236}">
                  <a16:creationId xmlns:a16="http://schemas.microsoft.com/office/drawing/2014/main" id="{9CF9F2D3-0F52-D854-BD10-882DA393AE52}"/>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76" name="Group 75">
            <a:extLst>
              <a:ext uri="{FF2B5EF4-FFF2-40B4-BE49-F238E27FC236}">
                <a16:creationId xmlns:a16="http://schemas.microsoft.com/office/drawing/2014/main" id="{0A4164C4-9590-3084-CA69-E55CAEAB36FB}"/>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7" name="Rounded Rectangle 76">
              <a:extLst>
                <a:ext uri="{FF2B5EF4-FFF2-40B4-BE49-F238E27FC236}">
                  <a16:creationId xmlns:a16="http://schemas.microsoft.com/office/drawing/2014/main" id="{BB3B469F-124E-C752-DB95-266A73E4F0C2}"/>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8" name="Rounded Rectangle 4">
              <a:extLst>
                <a:ext uri="{FF2B5EF4-FFF2-40B4-BE49-F238E27FC236}">
                  <a16:creationId xmlns:a16="http://schemas.microsoft.com/office/drawing/2014/main" id="{943C51E0-1E0C-03AC-FA06-D584FCE21DF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2615721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71107-83C6-4DD5-3B3F-D51955DBF63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40B647-BEEC-70E1-29EA-DC5002B6ECEF}"/>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6 –</a:t>
            </a:r>
            <a:r>
              <a:rPr lang="en-US" sz="1400" i="0" dirty="0">
                <a:effectLst/>
              </a:rPr>
              <a:t> </a:t>
            </a:r>
            <a:r>
              <a:rPr lang="en-US" sz="1400" dirty="0"/>
              <a:t>Define Local Repository</a:t>
            </a:r>
          </a:p>
        </p:txBody>
      </p:sp>
      <p:sp>
        <p:nvSpPr>
          <p:cNvPr id="5" name="TextBox 4">
            <a:extLst>
              <a:ext uri="{FF2B5EF4-FFF2-40B4-BE49-F238E27FC236}">
                <a16:creationId xmlns:a16="http://schemas.microsoft.com/office/drawing/2014/main" id="{879B10BF-BEAA-2D43-FB85-149C42C22E5C}"/>
              </a:ext>
            </a:extLst>
          </p:cNvPr>
          <p:cNvSpPr txBox="1"/>
          <p:nvPr/>
        </p:nvSpPr>
        <p:spPr>
          <a:xfrm>
            <a:off x="599440" y="1972563"/>
            <a:ext cx="5989428" cy="523220"/>
          </a:xfrm>
          <a:prstGeom prst="rect">
            <a:avLst/>
          </a:prstGeom>
          <a:noFill/>
        </p:spPr>
        <p:txBody>
          <a:bodyPr wrap="square">
            <a:spAutoFit/>
          </a:bodyPr>
          <a:lstStyle/>
          <a:p>
            <a:r>
              <a:rPr lang="en-US" sz="1400" dirty="0"/>
              <a:t>Running this command, you can get where the current local repository is defined:</a:t>
            </a:r>
            <a:endParaRPr lang="en-AR" sz="1100" dirty="0"/>
          </a:p>
        </p:txBody>
      </p:sp>
      <p:sp>
        <p:nvSpPr>
          <p:cNvPr id="3" name="TextBox 2">
            <a:extLst>
              <a:ext uri="{FF2B5EF4-FFF2-40B4-BE49-F238E27FC236}">
                <a16:creationId xmlns:a16="http://schemas.microsoft.com/office/drawing/2014/main" id="{FB5A92B7-16DA-A14C-54D1-9B3E699FBA1D}"/>
              </a:ext>
            </a:extLst>
          </p:cNvPr>
          <p:cNvSpPr txBox="1"/>
          <p:nvPr/>
        </p:nvSpPr>
        <p:spPr>
          <a:xfrm>
            <a:off x="690880" y="2675527"/>
            <a:ext cx="5897988" cy="276999"/>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latin typeface="Consolas" panose="020B0609020204030204" pitchFamily="49" charset="0"/>
                <a:cs typeface="Consolas" panose="020B0609020204030204" pitchFamily="49" charset="0"/>
              </a:rPr>
              <a:t>mvn help:evaluate -Dexpression=settings.localRepository</a:t>
            </a:r>
            <a:endParaRPr lang="en-US" sz="800" b="0" i="0" noProof="1">
              <a:effectLst/>
              <a:latin typeface="Consolas" panose="020B0609020204030204" pitchFamily="49" charset="0"/>
              <a:cs typeface="Consolas" panose="020B0609020204030204" pitchFamily="49" charset="0"/>
            </a:endParaRPr>
          </a:p>
        </p:txBody>
      </p:sp>
      <p:pic>
        <p:nvPicPr>
          <p:cNvPr id="4" name="Picture 3">
            <a:extLst>
              <a:ext uri="{FF2B5EF4-FFF2-40B4-BE49-F238E27FC236}">
                <a16:creationId xmlns:a16="http://schemas.microsoft.com/office/drawing/2014/main" id="{6BEDE5C7-4C75-560D-E71C-9734B49D5B41}"/>
              </a:ext>
            </a:extLst>
          </p:cNvPr>
          <p:cNvPicPr>
            <a:picLocks noChangeAspect="1"/>
          </p:cNvPicPr>
          <p:nvPr/>
        </p:nvPicPr>
        <p:blipFill>
          <a:blip r:embed="rId2"/>
          <a:stretch>
            <a:fillRect/>
          </a:stretch>
        </p:blipFill>
        <p:spPr>
          <a:xfrm>
            <a:off x="690880" y="3554775"/>
            <a:ext cx="4624070" cy="1886994"/>
          </a:xfrm>
          <a:prstGeom prst="rect">
            <a:avLst/>
          </a:prstGeom>
          <a:effectLst>
            <a:outerShdw blurRad="50800" dist="38100" dir="5400000" algn="t" rotWithShape="0">
              <a:prstClr val="black">
                <a:alpha val="40000"/>
              </a:prstClr>
            </a:outerShdw>
          </a:effectLst>
        </p:spPr>
      </p:pic>
      <p:sp>
        <p:nvSpPr>
          <p:cNvPr id="8" name="TextBox 7">
            <a:extLst>
              <a:ext uri="{FF2B5EF4-FFF2-40B4-BE49-F238E27FC236}">
                <a16:creationId xmlns:a16="http://schemas.microsoft.com/office/drawing/2014/main" id="{C56F4A74-4EFF-5F6D-FAF2-248E3F2BABFE}"/>
              </a:ext>
            </a:extLst>
          </p:cNvPr>
          <p:cNvSpPr txBox="1"/>
          <p:nvPr/>
        </p:nvSpPr>
        <p:spPr>
          <a:xfrm>
            <a:off x="599440" y="3164555"/>
            <a:ext cx="4572000" cy="307777"/>
          </a:xfrm>
          <a:prstGeom prst="rect">
            <a:avLst/>
          </a:prstGeom>
          <a:noFill/>
        </p:spPr>
        <p:txBody>
          <a:bodyPr wrap="square">
            <a:spAutoFit/>
          </a:bodyPr>
          <a:lstStyle/>
          <a:p>
            <a:r>
              <a:rPr lang="en-US" sz="1400" b="0" i="0" dirty="0">
                <a:effectLst/>
              </a:rPr>
              <a:t>In this output we see /root/.m2/repository</a:t>
            </a:r>
            <a:endParaRPr lang="en-AR" dirty="0"/>
          </a:p>
        </p:txBody>
      </p:sp>
      <p:pic>
        <p:nvPicPr>
          <p:cNvPr id="12" name="Picture 11">
            <a:extLst>
              <a:ext uri="{FF2B5EF4-FFF2-40B4-BE49-F238E27FC236}">
                <a16:creationId xmlns:a16="http://schemas.microsoft.com/office/drawing/2014/main" id="{AB5B9881-133F-A826-157F-FC4775C017D6}"/>
              </a:ext>
            </a:extLst>
          </p:cNvPr>
          <p:cNvPicPr>
            <a:picLocks noChangeAspect="1"/>
          </p:cNvPicPr>
          <p:nvPr/>
        </p:nvPicPr>
        <p:blipFill>
          <a:blip r:embed="rId3"/>
          <a:stretch>
            <a:fillRect/>
          </a:stretch>
        </p:blipFill>
        <p:spPr>
          <a:xfrm>
            <a:off x="0" y="0"/>
            <a:ext cx="9144000" cy="644018"/>
          </a:xfrm>
          <a:prstGeom prst="rect">
            <a:avLst/>
          </a:prstGeom>
        </p:spPr>
      </p:pic>
      <p:sp>
        <p:nvSpPr>
          <p:cNvPr id="13" name="Title 1">
            <a:extLst>
              <a:ext uri="{FF2B5EF4-FFF2-40B4-BE49-F238E27FC236}">
                <a16:creationId xmlns:a16="http://schemas.microsoft.com/office/drawing/2014/main" id="{65D3E0A4-9B72-285D-2665-F76FE280BAAE}"/>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6 – Create JARs Libraries – Define Repository</a:t>
            </a:r>
          </a:p>
        </p:txBody>
      </p:sp>
      <p:sp>
        <p:nvSpPr>
          <p:cNvPr id="30" name="TextBox 29">
            <a:extLst>
              <a:ext uri="{FF2B5EF4-FFF2-40B4-BE49-F238E27FC236}">
                <a16:creationId xmlns:a16="http://schemas.microsoft.com/office/drawing/2014/main" id="{0FBA75AB-F320-6D09-68B9-947D04E1DB4B}"/>
              </a:ext>
            </a:extLst>
          </p:cNvPr>
          <p:cNvSpPr txBox="1"/>
          <p:nvPr/>
        </p:nvSpPr>
        <p:spPr>
          <a:xfrm>
            <a:off x="599440" y="5660105"/>
            <a:ext cx="5807858" cy="523220"/>
          </a:xfrm>
          <a:prstGeom prst="rect">
            <a:avLst/>
          </a:prstGeom>
          <a:noFill/>
        </p:spPr>
        <p:txBody>
          <a:bodyPr wrap="square">
            <a:spAutoFit/>
          </a:bodyPr>
          <a:lstStyle/>
          <a:p>
            <a:r>
              <a:rPr lang="en-US" sz="1400" b="0" i="0" dirty="0">
                <a:effectLst/>
              </a:rPr>
              <a:t>The value returned here (e.g., /root/.m2/repository) will be used in the next step, so make sure to copy it for reference.</a:t>
            </a:r>
            <a:endParaRPr lang="en-AR" dirty="0"/>
          </a:p>
        </p:txBody>
      </p:sp>
      <p:grpSp>
        <p:nvGrpSpPr>
          <p:cNvPr id="31" name="Group 30">
            <a:extLst>
              <a:ext uri="{FF2B5EF4-FFF2-40B4-BE49-F238E27FC236}">
                <a16:creationId xmlns:a16="http://schemas.microsoft.com/office/drawing/2014/main" id="{DA4046B5-F061-F877-B7E3-3DF90A893592}"/>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2" name="Rounded Rectangle 31">
              <a:extLst>
                <a:ext uri="{FF2B5EF4-FFF2-40B4-BE49-F238E27FC236}">
                  <a16:creationId xmlns:a16="http://schemas.microsoft.com/office/drawing/2014/main" id="{F26219DD-4CDC-1839-4D23-81963E1421C7}"/>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3" name="Rounded Rectangle 4">
              <a:extLst>
                <a:ext uri="{FF2B5EF4-FFF2-40B4-BE49-F238E27FC236}">
                  <a16:creationId xmlns:a16="http://schemas.microsoft.com/office/drawing/2014/main" id="{A85AEF67-89AF-790A-C0B2-D61D1408C321}"/>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34" name="Group 33">
            <a:extLst>
              <a:ext uri="{FF2B5EF4-FFF2-40B4-BE49-F238E27FC236}">
                <a16:creationId xmlns:a16="http://schemas.microsoft.com/office/drawing/2014/main" id="{A0D22C85-92ED-536A-95BE-AD66FDE7151C}"/>
              </a:ext>
            </a:extLst>
          </p:cNvPr>
          <p:cNvGrpSpPr/>
          <p:nvPr/>
        </p:nvGrpSpPr>
        <p:grpSpPr>
          <a:xfrm rot="5400000">
            <a:off x="7607064" y="1904622"/>
            <a:ext cx="213569" cy="217113"/>
            <a:chOff x="2225367" y="901313"/>
            <a:chExt cx="432290" cy="505697"/>
          </a:xfrm>
        </p:grpSpPr>
        <p:sp>
          <p:nvSpPr>
            <p:cNvPr id="35" name="Right Arrow 34">
              <a:extLst>
                <a:ext uri="{FF2B5EF4-FFF2-40B4-BE49-F238E27FC236}">
                  <a16:creationId xmlns:a16="http://schemas.microsoft.com/office/drawing/2014/main" id="{C57F24D3-F40B-2282-A898-ED699B5D4C6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6" name="Right Arrow 6">
              <a:extLst>
                <a:ext uri="{FF2B5EF4-FFF2-40B4-BE49-F238E27FC236}">
                  <a16:creationId xmlns:a16="http://schemas.microsoft.com/office/drawing/2014/main" id="{037F9D5C-504D-EC02-EF60-72075E7FB0E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7" name="Group 36">
            <a:extLst>
              <a:ext uri="{FF2B5EF4-FFF2-40B4-BE49-F238E27FC236}">
                <a16:creationId xmlns:a16="http://schemas.microsoft.com/office/drawing/2014/main" id="{07A95695-86DA-0450-77C2-07449FC0D7C4}"/>
              </a:ext>
            </a:extLst>
          </p:cNvPr>
          <p:cNvGrpSpPr/>
          <p:nvPr/>
        </p:nvGrpSpPr>
        <p:grpSpPr>
          <a:xfrm rot="5400000">
            <a:off x="7607063" y="2479517"/>
            <a:ext cx="213569" cy="217113"/>
            <a:chOff x="2225367" y="901313"/>
            <a:chExt cx="432290" cy="505697"/>
          </a:xfrm>
        </p:grpSpPr>
        <p:sp>
          <p:nvSpPr>
            <p:cNvPr id="38" name="Right Arrow 37">
              <a:extLst>
                <a:ext uri="{FF2B5EF4-FFF2-40B4-BE49-F238E27FC236}">
                  <a16:creationId xmlns:a16="http://schemas.microsoft.com/office/drawing/2014/main" id="{B2CDB8A6-703C-3EDD-EBB5-18CF0C83ED5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9" name="Right Arrow 6">
              <a:extLst>
                <a:ext uri="{FF2B5EF4-FFF2-40B4-BE49-F238E27FC236}">
                  <a16:creationId xmlns:a16="http://schemas.microsoft.com/office/drawing/2014/main" id="{6D44A261-E984-3C3D-94AB-7436E7B6B10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0" name="Group 39">
            <a:extLst>
              <a:ext uri="{FF2B5EF4-FFF2-40B4-BE49-F238E27FC236}">
                <a16:creationId xmlns:a16="http://schemas.microsoft.com/office/drawing/2014/main" id="{76A38EFC-1240-F8BC-093F-3CEB9DA22865}"/>
              </a:ext>
            </a:extLst>
          </p:cNvPr>
          <p:cNvGrpSpPr/>
          <p:nvPr/>
        </p:nvGrpSpPr>
        <p:grpSpPr>
          <a:xfrm rot="5400000">
            <a:off x="7607063" y="3036273"/>
            <a:ext cx="213569" cy="217113"/>
            <a:chOff x="2225367" y="901313"/>
            <a:chExt cx="432290" cy="505697"/>
          </a:xfrm>
        </p:grpSpPr>
        <p:sp>
          <p:nvSpPr>
            <p:cNvPr id="41" name="Right Arrow 40">
              <a:extLst>
                <a:ext uri="{FF2B5EF4-FFF2-40B4-BE49-F238E27FC236}">
                  <a16:creationId xmlns:a16="http://schemas.microsoft.com/office/drawing/2014/main" id="{7D23DB13-3801-A87E-B3B7-A2C4946DFAC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2" name="Right Arrow 6">
              <a:extLst>
                <a:ext uri="{FF2B5EF4-FFF2-40B4-BE49-F238E27FC236}">
                  <a16:creationId xmlns:a16="http://schemas.microsoft.com/office/drawing/2014/main" id="{F65405FF-55BF-5D19-FEA2-14A0C78E3CBB}"/>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3" name="Group 42">
            <a:extLst>
              <a:ext uri="{FF2B5EF4-FFF2-40B4-BE49-F238E27FC236}">
                <a16:creationId xmlns:a16="http://schemas.microsoft.com/office/drawing/2014/main" id="{A16B56C1-239F-28ED-238B-64E0BC57A2E7}"/>
              </a:ext>
            </a:extLst>
          </p:cNvPr>
          <p:cNvGrpSpPr/>
          <p:nvPr/>
        </p:nvGrpSpPr>
        <p:grpSpPr>
          <a:xfrm rot="5400000">
            <a:off x="7605881" y="3601274"/>
            <a:ext cx="213569" cy="217113"/>
            <a:chOff x="2225367" y="901313"/>
            <a:chExt cx="432290" cy="505697"/>
          </a:xfrm>
        </p:grpSpPr>
        <p:sp>
          <p:nvSpPr>
            <p:cNvPr id="44" name="Right Arrow 43">
              <a:extLst>
                <a:ext uri="{FF2B5EF4-FFF2-40B4-BE49-F238E27FC236}">
                  <a16:creationId xmlns:a16="http://schemas.microsoft.com/office/drawing/2014/main" id="{2FC3A9F6-25EC-782B-94A7-D6A80154A49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5" name="Right Arrow 6">
              <a:extLst>
                <a:ext uri="{FF2B5EF4-FFF2-40B4-BE49-F238E27FC236}">
                  <a16:creationId xmlns:a16="http://schemas.microsoft.com/office/drawing/2014/main" id="{763A944E-4865-7941-1721-3BD8A7B6F43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6" name="Group 45">
            <a:extLst>
              <a:ext uri="{FF2B5EF4-FFF2-40B4-BE49-F238E27FC236}">
                <a16:creationId xmlns:a16="http://schemas.microsoft.com/office/drawing/2014/main" id="{C9976BC3-2D21-45DC-E32D-4C93C50D34DD}"/>
              </a:ext>
            </a:extLst>
          </p:cNvPr>
          <p:cNvGrpSpPr/>
          <p:nvPr/>
        </p:nvGrpSpPr>
        <p:grpSpPr>
          <a:xfrm rot="5400000">
            <a:off x="7605880" y="4176169"/>
            <a:ext cx="213569" cy="217113"/>
            <a:chOff x="2225367" y="901313"/>
            <a:chExt cx="432290" cy="505697"/>
          </a:xfrm>
        </p:grpSpPr>
        <p:sp>
          <p:nvSpPr>
            <p:cNvPr id="47" name="Right Arrow 46">
              <a:extLst>
                <a:ext uri="{FF2B5EF4-FFF2-40B4-BE49-F238E27FC236}">
                  <a16:creationId xmlns:a16="http://schemas.microsoft.com/office/drawing/2014/main" id="{41B12388-312E-A511-16A2-CB46AAE744F7}"/>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8" name="Right Arrow 6">
              <a:extLst>
                <a:ext uri="{FF2B5EF4-FFF2-40B4-BE49-F238E27FC236}">
                  <a16:creationId xmlns:a16="http://schemas.microsoft.com/office/drawing/2014/main" id="{CCF7DD80-4869-5140-2455-61CDFDB111E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9" name="Group 48">
            <a:extLst>
              <a:ext uri="{FF2B5EF4-FFF2-40B4-BE49-F238E27FC236}">
                <a16:creationId xmlns:a16="http://schemas.microsoft.com/office/drawing/2014/main" id="{D8FC3AC2-7C8A-82A2-106C-43BD3252D734}"/>
              </a:ext>
            </a:extLst>
          </p:cNvPr>
          <p:cNvGrpSpPr/>
          <p:nvPr/>
        </p:nvGrpSpPr>
        <p:grpSpPr>
          <a:xfrm rot="5400000">
            <a:off x="7605880" y="4732925"/>
            <a:ext cx="213569" cy="217113"/>
            <a:chOff x="2225367" y="901313"/>
            <a:chExt cx="432290" cy="505697"/>
          </a:xfrm>
        </p:grpSpPr>
        <p:sp>
          <p:nvSpPr>
            <p:cNvPr id="50" name="Right Arrow 49">
              <a:extLst>
                <a:ext uri="{FF2B5EF4-FFF2-40B4-BE49-F238E27FC236}">
                  <a16:creationId xmlns:a16="http://schemas.microsoft.com/office/drawing/2014/main" id="{6F035A1A-08B1-DD71-F8AA-C2D2F4144DD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1" name="Right Arrow 6">
              <a:extLst>
                <a:ext uri="{FF2B5EF4-FFF2-40B4-BE49-F238E27FC236}">
                  <a16:creationId xmlns:a16="http://schemas.microsoft.com/office/drawing/2014/main" id="{CE55680F-9529-44C9-0462-4EC60C703AA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2" name="Group 51">
            <a:extLst>
              <a:ext uri="{FF2B5EF4-FFF2-40B4-BE49-F238E27FC236}">
                <a16:creationId xmlns:a16="http://schemas.microsoft.com/office/drawing/2014/main" id="{6AA0E370-5A1A-C337-86FA-8ABBB0B57AE0}"/>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3" name="Rounded Rectangle 52">
              <a:extLst>
                <a:ext uri="{FF2B5EF4-FFF2-40B4-BE49-F238E27FC236}">
                  <a16:creationId xmlns:a16="http://schemas.microsoft.com/office/drawing/2014/main" id="{54E4ACA1-1182-AFEC-FB54-4E5388BDE0C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4" name="Rounded Rectangle 4">
              <a:extLst>
                <a:ext uri="{FF2B5EF4-FFF2-40B4-BE49-F238E27FC236}">
                  <a16:creationId xmlns:a16="http://schemas.microsoft.com/office/drawing/2014/main" id="{0677A32B-735F-85B1-57D9-21C16244CF1F}"/>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5" name="Group 54">
            <a:extLst>
              <a:ext uri="{FF2B5EF4-FFF2-40B4-BE49-F238E27FC236}">
                <a16:creationId xmlns:a16="http://schemas.microsoft.com/office/drawing/2014/main" id="{EF0B698D-DE34-9858-EB63-70532794F31F}"/>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6" name="Rounded Rectangle 55">
              <a:extLst>
                <a:ext uri="{FF2B5EF4-FFF2-40B4-BE49-F238E27FC236}">
                  <a16:creationId xmlns:a16="http://schemas.microsoft.com/office/drawing/2014/main" id="{AA8781EF-AFE4-8D96-9863-E292396CD2D3}"/>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7" name="Rounded Rectangle 4">
              <a:extLst>
                <a:ext uri="{FF2B5EF4-FFF2-40B4-BE49-F238E27FC236}">
                  <a16:creationId xmlns:a16="http://schemas.microsoft.com/office/drawing/2014/main" id="{45F43A9D-26F3-ED15-115B-0103CA32A93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8" name="Group 57">
            <a:extLst>
              <a:ext uri="{FF2B5EF4-FFF2-40B4-BE49-F238E27FC236}">
                <a16:creationId xmlns:a16="http://schemas.microsoft.com/office/drawing/2014/main" id="{3CE64BF6-6BB1-7CB1-CE69-E78AAEEBCE10}"/>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9" name="Rounded Rectangle 58">
              <a:extLst>
                <a:ext uri="{FF2B5EF4-FFF2-40B4-BE49-F238E27FC236}">
                  <a16:creationId xmlns:a16="http://schemas.microsoft.com/office/drawing/2014/main" id="{55B85DA8-DDF1-2059-58FE-B3C4C9A1035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0" name="Rounded Rectangle 4">
              <a:extLst>
                <a:ext uri="{FF2B5EF4-FFF2-40B4-BE49-F238E27FC236}">
                  <a16:creationId xmlns:a16="http://schemas.microsoft.com/office/drawing/2014/main" id="{962F54CC-76F1-9CC1-891F-F01AB849C44E}"/>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61" name="Group 60">
            <a:extLst>
              <a:ext uri="{FF2B5EF4-FFF2-40B4-BE49-F238E27FC236}">
                <a16:creationId xmlns:a16="http://schemas.microsoft.com/office/drawing/2014/main" id="{6646925D-E48D-1124-109B-94E7DD49977A}"/>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2" name="Rounded Rectangle 61">
              <a:extLst>
                <a:ext uri="{FF2B5EF4-FFF2-40B4-BE49-F238E27FC236}">
                  <a16:creationId xmlns:a16="http://schemas.microsoft.com/office/drawing/2014/main" id="{1C1901B9-5FAD-945D-EBEC-521C65E6EC09}"/>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3" name="Rounded Rectangle 4">
              <a:extLst>
                <a:ext uri="{FF2B5EF4-FFF2-40B4-BE49-F238E27FC236}">
                  <a16:creationId xmlns:a16="http://schemas.microsoft.com/office/drawing/2014/main" id="{48E83B6A-CFA3-76B6-6726-5630174D831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64" name="Group 63">
            <a:extLst>
              <a:ext uri="{FF2B5EF4-FFF2-40B4-BE49-F238E27FC236}">
                <a16:creationId xmlns:a16="http://schemas.microsoft.com/office/drawing/2014/main" id="{4751C947-ABE8-8902-1701-2C5615995032}"/>
              </a:ext>
            </a:extLst>
          </p:cNvPr>
          <p:cNvGrpSpPr/>
          <p:nvPr/>
        </p:nvGrpSpPr>
        <p:grpSpPr>
          <a:xfrm>
            <a:off x="6845290" y="4423471"/>
            <a:ext cx="1862940" cy="279265"/>
            <a:chOff x="6822" y="542430"/>
            <a:chExt cx="2039104" cy="533039"/>
          </a:xfrm>
        </p:grpSpPr>
        <p:sp>
          <p:nvSpPr>
            <p:cNvPr id="65" name="Rounded Rectangle 64">
              <a:extLst>
                <a:ext uri="{FF2B5EF4-FFF2-40B4-BE49-F238E27FC236}">
                  <a16:creationId xmlns:a16="http://schemas.microsoft.com/office/drawing/2014/main" id="{0AF962EF-1629-7138-2534-07963473E2ED}"/>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6" name="Rounded Rectangle 4">
              <a:extLst>
                <a:ext uri="{FF2B5EF4-FFF2-40B4-BE49-F238E27FC236}">
                  <a16:creationId xmlns:a16="http://schemas.microsoft.com/office/drawing/2014/main" id="{FE55FB1B-DFCC-CF73-A9C2-8414DECD6C9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67" name="Group 66">
            <a:extLst>
              <a:ext uri="{FF2B5EF4-FFF2-40B4-BE49-F238E27FC236}">
                <a16:creationId xmlns:a16="http://schemas.microsoft.com/office/drawing/2014/main" id="{94B66162-E115-9678-65F2-B374DA74EB7F}"/>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8" name="Rounded Rectangle 67">
              <a:extLst>
                <a:ext uri="{FF2B5EF4-FFF2-40B4-BE49-F238E27FC236}">
                  <a16:creationId xmlns:a16="http://schemas.microsoft.com/office/drawing/2014/main" id="{8590AF2F-AC7B-C0C0-C530-BE1BD611941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9" name="Rounded Rectangle 4">
              <a:extLst>
                <a:ext uri="{FF2B5EF4-FFF2-40B4-BE49-F238E27FC236}">
                  <a16:creationId xmlns:a16="http://schemas.microsoft.com/office/drawing/2014/main" id="{163A4190-6457-F67D-7DD6-3AD91A58599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2656032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6F41C-9A13-4508-6DDF-7E04C1CC12B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DC2BF4-BCEE-73DF-C4F0-8E51D5F010BD}"/>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7 –</a:t>
            </a:r>
            <a:r>
              <a:rPr lang="en-US" sz="1400" i="0" dirty="0">
                <a:effectLst/>
              </a:rPr>
              <a:t> </a:t>
            </a:r>
            <a:r>
              <a:rPr lang="en-US" sz="1400" dirty="0"/>
              <a:t>Execute the JAR Tool to Generate the Bundles</a:t>
            </a:r>
          </a:p>
        </p:txBody>
      </p:sp>
      <p:sp>
        <p:nvSpPr>
          <p:cNvPr id="6" name="TextBox 5">
            <a:extLst>
              <a:ext uri="{FF2B5EF4-FFF2-40B4-BE49-F238E27FC236}">
                <a16:creationId xmlns:a16="http://schemas.microsoft.com/office/drawing/2014/main" id="{2B30D0EC-5BF7-33BD-C40B-9A064DBDD9B0}"/>
              </a:ext>
            </a:extLst>
          </p:cNvPr>
          <p:cNvSpPr txBox="1"/>
          <p:nvPr/>
        </p:nvSpPr>
        <p:spPr>
          <a:xfrm>
            <a:off x="690880" y="1982450"/>
            <a:ext cx="5609908" cy="92333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Command:</a:t>
            </a:r>
          </a:p>
          <a:p>
            <a:endParaRPr lang="en-US" sz="1400" noProof="1"/>
          </a:p>
          <a:p>
            <a:r>
              <a:rPr lang="en-US" sz="1200" dirty="0">
                <a:solidFill>
                  <a:srgbClr val="FF0000"/>
                </a:solidFill>
                <a:latin typeface="Consolas" panose="020B0609020204030204" pitchFamily="49" charset="0"/>
                <a:cs typeface="Consolas" panose="020B0609020204030204" pitchFamily="49" charset="0"/>
              </a:rPr>
              <a:t>java</a:t>
            </a:r>
            <a:r>
              <a:rPr lang="en-US" sz="1200" dirty="0">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-jar </a:t>
            </a:r>
            <a:r>
              <a:rPr lang="en-US" sz="1200" dirty="0">
                <a:latin typeface="Consolas" panose="020B0609020204030204" pitchFamily="49" charset="0"/>
                <a:cs typeface="Consolas" panose="020B0609020204030204" pitchFamily="49" charset="0"/>
              </a:rPr>
              <a:t>jd-create-jar-files-1.0.0.jar \</a:t>
            </a:r>
          </a:p>
          <a:p>
            <a:r>
              <a:rPr lang="en-US" sz="1200" noProof="1">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-r </a:t>
            </a:r>
            <a:r>
              <a:rPr lang="en-US" sz="1200" dirty="0">
                <a:latin typeface="Consolas" panose="020B0609020204030204" pitchFamily="49" charset="0"/>
                <a:cs typeface="Consolas" panose="020B0609020204030204" pitchFamily="49" charset="0"/>
              </a:rPr>
              <a:t>/root/.m2/repository</a:t>
            </a:r>
          </a:p>
        </p:txBody>
      </p:sp>
      <p:sp>
        <p:nvSpPr>
          <p:cNvPr id="10" name="TextBox 9">
            <a:extLst>
              <a:ext uri="{FF2B5EF4-FFF2-40B4-BE49-F238E27FC236}">
                <a16:creationId xmlns:a16="http://schemas.microsoft.com/office/drawing/2014/main" id="{4844A399-DB60-612D-01EF-C516981ED4E2}"/>
              </a:ext>
            </a:extLst>
          </p:cNvPr>
          <p:cNvSpPr txBox="1"/>
          <p:nvPr/>
        </p:nvSpPr>
        <p:spPr>
          <a:xfrm>
            <a:off x="680721" y="3577858"/>
            <a:ext cx="4572000" cy="307777"/>
          </a:xfrm>
          <a:prstGeom prst="rect">
            <a:avLst/>
          </a:prstGeom>
          <a:noFill/>
        </p:spPr>
        <p:txBody>
          <a:bodyPr wrap="square">
            <a:spAutoFit/>
          </a:bodyPr>
          <a:lstStyle/>
          <a:p>
            <a:r>
              <a:rPr lang="en-US" sz="1400" b="0" i="0" dirty="0">
                <a:effectLst/>
              </a:rPr>
              <a:t>Once completed, the following files will be created:</a:t>
            </a:r>
            <a:endParaRPr lang="en-AR" sz="1400" dirty="0"/>
          </a:p>
        </p:txBody>
      </p:sp>
      <p:pic>
        <p:nvPicPr>
          <p:cNvPr id="11" name="Picture 10">
            <a:extLst>
              <a:ext uri="{FF2B5EF4-FFF2-40B4-BE49-F238E27FC236}">
                <a16:creationId xmlns:a16="http://schemas.microsoft.com/office/drawing/2014/main" id="{90007CB3-D2E2-BD2A-C37C-742D72797995}"/>
              </a:ext>
            </a:extLst>
          </p:cNvPr>
          <p:cNvPicPr>
            <a:picLocks noChangeAspect="1"/>
          </p:cNvPicPr>
          <p:nvPr/>
        </p:nvPicPr>
        <p:blipFill>
          <a:blip r:embed="rId2"/>
          <a:stretch>
            <a:fillRect/>
          </a:stretch>
        </p:blipFill>
        <p:spPr>
          <a:xfrm>
            <a:off x="680721" y="4109777"/>
            <a:ext cx="5620067" cy="1652961"/>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B1EA2143-72D3-C469-A4B9-2A22D3016D5B}"/>
              </a:ext>
            </a:extLst>
          </p:cNvPr>
          <p:cNvPicPr>
            <a:picLocks noChangeAspect="1"/>
          </p:cNvPicPr>
          <p:nvPr/>
        </p:nvPicPr>
        <p:blipFill>
          <a:blip r:embed="rId3"/>
          <a:stretch>
            <a:fillRect/>
          </a:stretch>
        </p:blipFill>
        <p:spPr>
          <a:xfrm>
            <a:off x="0" y="0"/>
            <a:ext cx="9144000" cy="644018"/>
          </a:xfrm>
          <a:prstGeom prst="rect">
            <a:avLst/>
          </a:prstGeom>
        </p:spPr>
      </p:pic>
      <p:sp>
        <p:nvSpPr>
          <p:cNvPr id="15" name="Title 1">
            <a:extLst>
              <a:ext uri="{FF2B5EF4-FFF2-40B4-BE49-F238E27FC236}">
                <a16:creationId xmlns:a16="http://schemas.microsoft.com/office/drawing/2014/main" id="{F7056BFE-584D-D4D2-EF94-FC8423D44CC2}"/>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7 – Create JARs Libraries – Generate Bundles</a:t>
            </a:r>
          </a:p>
        </p:txBody>
      </p:sp>
      <p:sp>
        <p:nvSpPr>
          <p:cNvPr id="30" name="TextBox 29">
            <a:extLst>
              <a:ext uri="{FF2B5EF4-FFF2-40B4-BE49-F238E27FC236}">
                <a16:creationId xmlns:a16="http://schemas.microsoft.com/office/drawing/2014/main" id="{4DEF2A0E-7EC3-F2B1-4D82-91BB547E3645}"/>
              </a:ext>
            </a:extLst>
          </p:cNvPr>
          <p:cNvSpPr txBox="1"/>
          <p:nvPr/>
        </p:nvSpPr>
        <p:spPr>
          <a:xfrm>
            <a:off x="599440" y="2998113"/>
            <a:ext cx="4572000" cy="430887"/>
          </a:xfrm>
          <a:prstGeom prst="rect">
            <a:avLst/>
          </a:prstGeom>
          <a:noFill/>
        </p:spPr>
        <p:txBody>
          <a:bodyPr wrap="square">
            <a:spAutoFit/>
          </a:bodyPr>
          <a:lstStyle/>
          <a:p>
            <a:pPr>
              <a:buNone/>
            </a:pPr>
            <a:r>
              <a:rPr lang="en-US" sz="1050" i="1" dirty="0"/>
              <a:t>This command runs the tool and specifies the Maven local repository path (identified in previous step).</a:t>
            </a:r>
            <a:endParaRPr lang="en-US" sz="1050" dirty="0"/>
          </a:p>
        </p:txBody>
      </p:sp>
      <p:grpSp>
        <p:nvGrpSpPr>
          <p:cNvPr id="31" name="Group 30">
            <a:extLst>
              <a:ext uri="{FF2B5EF4-FFF2-40B4-BE49-F238E27FC236}">
                <a16:creationId xmlns:a16="http://schemas.microsoft.com/office/drawing/2014/main" id="{33ECE6D0-A5BC-1844-57E2-D899869A4FD2}"/>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2" name="Rounded Rectangle 31">
              <a:extLst>
                <a:ext uri="{FF2B5EF4-FFF2-40B4-BE49-F238E27FC236}">
                  <a16:creationId xmlns:a16="http://schemas.microsoft.com/office/drawing/2014/main" id="{9128D9F4-54CA-8A9C-E304-0E49F4C03144}"/>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3" name="Rounded Rectangle 4">
              <a:extLst>
                <a:ext uri="{FF2B5EF4-FFF2-40B4-BE49-F238E27FC236}">
                  <a16:creationId xmlns:a16="http://schemas.microsoft.com/office/drawing/2014/main" id="{89465DD1-ECE5-8B97-E7DC-961A82216A0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34" name="Group 33">
            <a:extLst>
              <a:ext uri="{FF2B5EF4-FFF2-40B4-BE49-F238E27FC236}">
                <a16:creationId xmlns:a16="http://schemas.microsoft.com/office/drawing/2014/main" id="{E9AFAE81-5FD7-9D47-D0B2-68D40893E864}"/>
              </a:ext>
            </a:extLst>
          </p:cNvPr>
          <p:cNvGrpSpPr/>
          <p:nvPr/>
        </p:nvGrpSpPr>
        <p:grpSpPr>
          <a:xfrm rot="5400000">
            <a:off x="7607064" y="1904622"/>
            <a:ext cx="213569" cy="217113"/>
            <a:chOff x="2225367" y="901313"/>
            <a:chExt cx="432290" cy="505697"/>
          </a:xfrm>
        </p:grpSpPr>
        <p:sp>
          <p:nvSpPr>
            <p:cNvPr id="35" name="Right Arrow 34">
              <a:extLst>
                <a:ext uri="{FF2B5EF4-FFF2-40B4-BE49-F238E27FC236}">
                  <a16:creationId xmlns:a16="http://schemas.microsoft.com/office/drawing/2014/main" id="{D6C81B2D-716C-0112-483E-8127D51A1496}"/>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6" name="Right Arrow 6">
              <a:extLst>
                <a:ext uri="{FF2B5EF4-FFF2-40B4-BE49-F238E27FC236}">
                  <a16:creationId xmlns:a16="http://schemas.microsoft.com/office/drawing/2014/main" id="{AEB1D808-156D-A47B-DF66-52005A96B98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7" name="Group 36">
            <a:extLst>
              <a:ext uri="{FF2B5EF4-FFF2-40B4-BE49-F238E27FC236}">
                <a16:creationId xmlns:a16="http://schemas.microsoft.com/office/drawing/2014/main" id="{AD4257D7-8DE0-0ADF-C0C1-DBC632B5B138}"/>
              </a:ext>
            </a:extLst>
          </p:cNvPr>
          <p:cNvGrpSpPr/>
          <p:nvPr/>
        </p:nvGrpSpPr>
        <p:grpSpPr>
          <a:xfrm rot="5400000">
            <a:off x="7607063" y="2479517"/>
            <a:ext cx="213569" cy="217113"/>
            <a:chOff x="2225367" y="901313"/>
            <a:chExt cx="432290" cy="505697"/>
          </a:xfrm>
        </p:grpSpPr>
        <p:sp>
          <p:nvSpPr>
            <p:cNvPr id="38" name="Right Arrow 37">
              <a:extLst>
                <a:ext uri="{FF2B5EF4-FFF2-40B4-BE49-F238E27FC236}">
                  <a16:creationId xmlns:a16="http://schemas.microsoft.com/office/drawing/2014/main" id="{BDC294ED-0834-998E-E28E-0CFC3869A54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9" name="Right Arrow 6">
              <a:extLst>
                <a:ext uri="{FF2B5EF4-FFF2-40B4-BE49-F238E27FC236}">
                  <a16:creationId xmlns:a16="http://schemas.microsoft.com/office/drawing/2014/main" id="{940207E1-4F93-1D6B-7D43-9A57558E745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0" name="Group 39">
            <a:extLst>
              <a:ext uri="{FF2B5EF4-FFF2-40B4-BE49-F238E27FC236}">
                <a16:creationId xmlns:a16="http://schemas.microsoft.com/office/drawing/2014/main" id="{477F238C-8250-3F2D-8A91-D5056895E064}"/>
              </a:ext>
            </a:extLst>
          </p:cNvPr>
          <p:cNvGrpSpPr/>
          <p:nvPr/>
        </p:nvGrpSpPr>
        <p:grpSpPr>
          <a:xfrm rot="5400000">
            <a:off x="7607063" y="3036273"/>
            <a:ext cx="213569" cy="217113"/>
            <a:chOff x="2225367" y="901313"/>
            <a:chExt cx="432290" cy="505697"/>
          </a:xfrm>
        </p:grpSpPr>
        <p:sp>
          <p:nvSpPr>
            <p:cNvPr id="41" name="Right Arrow 40">
              <a:extLst>
                <a:ext uri="{FF2B5EF4-FFF2-40B4-BE49-F238E27FC236}">
                  <a16:creationId xmlns:a16="http://schemas.microsoft.com/office/drawing/2014/main" id="{3501CC7B-5570-3248-0BC4-B3F1088FD4E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2" name="Right Arrow 6">
              <a:extLst>
                <a:ext uri="{FF2B5EF4-FFF2-40B4-BE49-F238E27FC236}">
                  <a16:creationId xmlns:a16="http://schemas.microsoft.com/office/drawing/2014/main" id="{87D479ED-0712-02DF-81C1-85FF310E09E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3" name="Group 42">
            <a:extLst>
              <a:ext uri="{FF2B5EF4-FFF2-40B4-BE49-F238E27FC236}">
                <a16:creationId xmlns:a16="http://schemas.microsoft.com/office/drawing/2014/main" id="{37AB653B-87ED-4DBC-78AD-10221B1BD05D}"/>
              </a:ext>
            </a:extLst>
          </p:cNvPr>
          <p:cNvGrpSpPr/>
          <p:nvPr/>
        </p:nvGrpSpPr>
        <p:grpSpPr>
          <a:xfrm rot="5400000">
            <a:off x="7605881" y="3601274"/>
            <a:ext cx="213569" cy="217113"/>
            <a:chOff x="2225367" y="901313"/>
            <a:chExt cx="432290" cy="505697"/>
          </a:xfrm>
        </p:grpSpPr>
        <p:sp>
          <p:nvSpPr>
            <p:cNvPr id="44" name="Right Arrow 43">
              <a:extLst>
                <a:ext uri="{FF2B5EF4-FFF2-40B4-BE49-F238E27FC236}">
                  <a16:creationId xmlns:a16="http://schemas.microsoft.com/office/drawing/2014/main" id="{49E2E8A3-3C31-1CA3-1A10-2AB942E588A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5" name="Right Arrow 6">
              <a:extLst>
                <a:ext uri="{FF2B5EF4-FFF2-40B4-BE49-F238E27FC236}">
                  <a16:creationId xmlns:a16="http://schemas.microsoft.com/office/drawing/2014/main" id="{064752BB-6CD1-A511-47D1-F730131A6E9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6" name="Group 45">
            <a:extLst>
              <a:ext uri="{FF2B5EF4-FFF2-40B4-BE49-F238E27FC236}">
                <a16:creationId xmlns:a16="http://schemas.microsoft.com/office/drawing/2014/main" id="{CD2687B6-413B-DE01-8F29-86E3CFDF921A}"/>
              </a:ext>
            </a:extLst>
          </p:cNvPr>
          <p:cNvGrpSpPr/>
          <p:nvPr/>
        </p:nvGrpSpPr>
        <p:grpSpPr>
          <a:xfrm rot="5400000">
            <a:off x="7605880" y="4176169"/>
            <a:ext cx="213569" cy="217113"/>
            <a:chOff x="2225367" y="901313"/>
            <a:chExt cx="432290" cy="505697"/>
          </a:xfrm>
        </p:grpSpPr>
        <p:sp>
          <p:nvSpPr>
            <p:cNvPr id="47" name="Right Arrow 46">
              <a:extLst>
                <a:ext uri="{FF2B5EF4-FFF2-40B4-BE49-F238E27FC236}">
                  <a16:creationId xmlns:a16="http://schemas.microsoft.com/office/drawing/2014/main" id="{105E1F3C-53A5-1FAC-4F41-C039BD3340F7}"/>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8" name="Right Arrow 6">
              <a:extLst>
                <a:ext uri="{FF2B5EF4-FFF2-40B4-BE49-F238E27FC236}">
                  <a16:creationId xmlns:a16="http://schemas.microsoft.com/office/drawing/2014/main" id="{B2D51C9B-997C-8FD4-35A8-D5D26E6D7A8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9" name="Group 48">
            <a:extLst>
              <a:ext uri="{FF2B5EF4-FFF2-40B4-BE49-F238E27FC236}">
                <a16:creationId xmlns:a16="http://schemas.microsoft.com/office/drawing/2014/main" id="{68824343-7FEC-29E4-5604-3360945D1F16}"/>
              </a:ext>
            </a:extLst>
          </p:cNvPr>
          <p:cNvGrpSpPr/>
          <p:nvPr/>
        </p:nvGrpSpPr>
        <p:grpSpPr>
          <a:xfrm rot="5400000">
            <a:off x="7605880" y="4732925"/>
            <a:ext cx="213569" cy="217113"/>
            <a:chOff x="2225367" y="901313"/>
            <a:chExt cx="432290" cy="505697"/>
          </a:xfrm>
        </p:grpSpPr>
        <p:sp>
          <p:nvSpPr>
            <p:cNvPr id="50" name="Right Arrow 49">
              <a:extLst>
                <a:ext uri="{FF2B5EF4-FFF2-40B4-BE49-F238E27FC236}">
                  <a16:creationId xmlns:a16="http://schemas.microsoft.com/office/drawing/2014/main" id="{4EA3F806-9BB0-4348-2A3C-B33C1E03E58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1" name="Right Arrow 6">
              <a:extLst>
                <a:ext uri="{FF2B5EF4-FFF2-40B4-BE49-F238E27FC236}">
                  <a16:creationId xmlns:a16="http://schemas.microsoft.com/office/drawing/2014/main" id="{23C13F8F-6F7F-6501-F385-3A7B9DD2356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2" name="Group 51">
            <a:extLst>
              <a:ext uri="{FF2B5EF4-FFF2-40B4-BE49-F238E27FC236}">
                <a16:creationId xmlns:a16="http://schemas.microsoft.com/office/drawing/2014/main" id="{0A9C78AA-6368-765F-654E-BF4B80BE0CB0}"/>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3" name="Rounded Rectangle 52">
              <a:extLst>
                <a:ext uri="{FF2B5EF4-FFF2-40B4-BE49-F238E27FC236}">
                  <a16:creationId xmlns:a16="http://schemas.microsoft.com/office/drawing/2014/main" id="{B0A8771C-1B1C-4298-E17A-ABC424F50D9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4" name="Rounded Rectangle 4">
              <a:extLst>
                <a:ext uri="{FF2B5EF4-FFF2-40B4-BE49-F238E27FC236}">
                  <a16:creationId xmlns:a16="http://schemas.microsoft.com/office/drawing/2014/main" id="{C2BE9DBA-4D28-BA3F-1910-45C12C32CD3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5" name="Group 54">
            <a:extLst>
              <a:ext uri="{FF2B5EF4-FFF2-40B4-BE49-F238E27FC236}">
                <a16:creationId xmlns:a16="http://schemas.microsoft.com/office/drawing/2014/main" id="{8719F5ED-9E70-5894-C9AB-E14C658F3BE5}"/>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6" name="Rounded Rectangle 55">
              <a:extLst>
                <a:ext uri="{FF2B5EF4-FFF2-40B4-BE49-F238E27FC236}">
                  <a16:creationId xmlns:a16="http://schemas.microsoft.com/office/drawing/2014/main" id="{79DAF7C7-3124-7AE1-FFA5-DBD4B2ACD5D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7" name="Rounded Rectangle 4">
              <a:extLst>
                <a:ext uri="{FF2B5EF4-FFF2-40B4-BE49-F238E27FC236}">
                  <a16:creationId xmlns:a16="http://schemas.microsoft.com/office/drawing/2014/main" id="{795453FD-7594-7E06-41A4-DE45B1EB6CB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8" name="Group 57">
            <a:extLst>
              <a:ext uri="{FF2B5EF4-FFF2-40B4-BE49-F238E27FC236}">
                <a16:creationId xmlns:a16="http://schemas.microsoft.com/office/drawing/2014/main" id="{4B9E109A-8C77-290A-11E2-37928AF95BFF}"/>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9" name="Rounded Rectangle 58">
              <a:extLst>
                <a:ext uri="{FF2B5EF4-FFF2-40B4-BE49-F238E27FC236}">
                  <a16:creationId xmlns:a16="http://schemas.microsoft.com/office/drawing/2014/main" id="{8C227C3C-D27D-6118-3657-7FE91B346964}"/>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0" name="Rounded Rectangle 4">
              <a:extLst>
                <a:ext uri="{FF2B5EF4-FFF2-40B4-BE49-F238E27FC236}">
                  <a16:creationId xmlns:a16="http://schemas.microsoft.com/office/drawing/2014/main" id="{6B90AF99-41F6-A866-6251-A3C2E7BF527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61" name="Group 60">
            <a:extLst>
              <a:ext uri="{FF2B5EF4-FFF2-40B4-BE49-F238E27FC236}">
                <a16:creationId xmlns:a16="http://schemas.microsoft.com/office/drawing/2014/main" id="{DFE3CEED-FDED-DBFA-A2F5-81199C25FC96}"/>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2" name="Rounded Rectangle 61">
              <a:extLst>
                <a:ext uri="{FF2B5EF4-FFF2-40B4-BE49-F238E27FC236}">
                  <a16:creationId xmlns:a16="http://schemas.microsoft.com/office/drawing/2014/main" id="{5FFE152B-21A8-4F80-B78E-9CB0DC0ABC5C}"/>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3" name="Rounded Rectangle 4">
              <a:extLst>
                <a:ext uri="{FF2B5EF4-FFF2-40B4-BE49-F238E27FC236}">
                  <a16:creationId xmlns:a16="http://schemas.microsoft.com/office/drawing/2014/main" id="{4E198024-7818-4120-99B4-68761B219CB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64" name="Group 63">
            <a:extLst>
              <a:ext uri="{FF2B5EF4-FFF2-40B4-BE49-F238E27FC236}">
                <a16:creationId xmlns:a16="http://schemas.microsoft.com/office/drawing/2014/main" id="{5485F507-1D32-2050-B1FB-038FF6947476}"/>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5" name="Rounded Rectangle 64">
              <a:extLst>
                <a:ext uri="{FF2B5EF4-FFF2-40B4-BE49-F238E27FC236}">
                  <a16:creationId xmlns:a16="http://schemas.microsoft.com/office/drawing/2014/main" id="{04E6B08A-AC1C-223A-48FC-7E8FA4336805}"/>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6" name="Rounded Rectangle 4">
              <a:extLst>
                <a:ext uri="{FF2B5EF4-FFF2-40B4-BE49-F238E27FC236}">
                  <a16:creationId xmlns:a16="http://schemas.microsoft.com/office/drawing/2014/main" id="{99F10696-92C3-D0BF-6889-A97DEBBB9CE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67" name="Group 66">
            <a:extLst>
              <a:ext uri="{FF2B5EF4-FFF2-40B4-BE49-F238E27FC236}">
                <a16:creationId xmlns:a16="http://schemas.microsoft.com/office/drawing/2014/main" id="{4FACF91B-B15D-E3A1-B451-64BE66EEF1B4}"/>
              </a:ext>
            </a:extLst>
          </p:cNvPr>
          <p:cNvGrpSpPr/>
          <p:nvPr/>
        </p:nvGrpSpPr>
        <p:grpSpPr>
          <a:xfrm>
            <a:off x="6852432" y="4983137"/>
            <a:ext cx="1862940" cy="279265"/>
            <a:chOff x="6822" y="542430"/>
            <a:chExt cx="2039104" cy="533039"/>
          </a:xfrm>
        </p:grpSpPr>
        <p:sp>
          <p:nvSpPr>
            <p:cNvPr id="68" name="Rounded Rectangle 67">
              <a:extLst>
                <a:ext uri="{FF2B5EF4-FFF2-40B4-BE49-F238E27FC236}">
                  <a16:creationId xmlns:a16="http://schemas.microsoft.com/office/drawing/2014/main" id="{8226CF46-9FFE-E8AE-1BA9-0964DD25AD04}"/>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9" name="Rounded Rectangle 4">
              <a:extLst>
                <a:ext uri="{FF2B5EF4-FFF2-40B4-BE49-F238E27FC236}">
                  <a16:creationId xmlns:a16="http://schemas.microsoft.com/office/drawing/2014/main" id="{CA682556-BBC6-1EBD-83C0-560E0488C1F7}"/>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185701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C90D7-CD40-C5D0-6B81-DD8E1954ECE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AD24309-ABB0-C1C0-D432-42F23086E26C}"/>
              </a:ext>
            </a:extLst>
          </p:cNvPr>
          <p:cNvPicPr>
            <a:picLocks noChangeAspect="1"/>
          </p:cNvPicPr>
          <p:nvPr/>
        </p:nvPicPr>
        <p:blipFill>
          <a:blip r:embed="rId3"/>
          <a:stretch>
            <a:fillRect/>
          </a:stretch>
        </p:blipFill>
        <p:spPr>
          <a:xfrm>
            <a:off x="0" y="924674"/>
            <a:ext cx="9144000" cy="4864232"/>
          </a:xfrm>
          <a:prstGeom prst="rect">
            <a:avLst/>
          </a:prstGeom>
        </p:spPr>
      </p:pic>
      <p:sp>
        <p:nvSpPr>
          <p:cNvPr id="7" name="Title 1">
            <a:extLst>
              <a:ext uri="{FF2B5EF4-FFF2-40B4-BE49-F238E27FC236}">
                <a16:creationId xmlns:a16="http://schemas.microsoft.com/office/drawing/2014/main" id="{ADDA569E-A3F6-142F-F6F2-6D1F829EE492}"/>
              </a:ext>
            </a:extLst>
          </p:cNvPr>
          <p:cNvSpPr txBox="1">
            <a:spLocks/>
          </p:cNvSpPr>
          <p:nvPr/>
        </p:nvSpPr>
        <p:spPr>
          <a:xfrm>
            <a:off x="490451" y="142681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Microserver Installation</a:t>
            </a:r>
            <a:endParaRPr lang="en-US" sz="3200" noProof="1">
              <a:solidFill>
                <a:schemeClr val="bg1"/>
              </a:solidFill>
            </a:endParaRPr>
          </a:p>
        </p:txBody>
      </p:sp>
      <p:graphicFrame>
        <p:nvGraphicFramePr>
          <p:cNvPr id="2" name="TextBox 5">
            <a:extLst>
              <a:ext uri="{FF2B5EF4-FFF2-40B4-BE49-F238E27FC236}">
                <a16:creationId xmlns:a16="http://schemas.microsoft.com/office/drawing/2014/main" id="{1ECD4EDE-4C50-E466-DC2A-F25450352FE9}"/>
              </a:ext>
            </a:extLst>
          </p:cNvPr>
          <p:cNvGraphicFramePr/>
          <p:nvPr/>
        </p:nvGraphicFramePr>
        <p:xfrm>
          <a:off x="1067363" y="2616082"/>
          <a:ext cx="7254369" cy="16258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01253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77072-ED17-6D52-A48F-926B51E57F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4C8588-DCF3-AD48-BBED-F50FBDA41355}"/>
              </a:ext>
            </a:extLst>
          </p:cNvPr>
          <p:cNvPicPr>
            <a:picLocks noChangeAspect="1"/>
          </p:cNvPicPr>
          <p:nvPr/>
        </p:nvPicPr>
        <p:blipFill>
          <a:blip r:embed="rId2"/>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0FB70BE0-775F-FA67-CF7B-63DBB67BCEF7}"/>
              </a:ext>
            </a:extLst>
          </p:cNvPr>
          <p:cNvSpPr txBox="1">
            <a:spLocks/>
          </p:cNvSpPr>
          <p:nvPr/>
        </p:nvSpPr>
        <p:spPr>
          <a:xfrm>
            <a:off x="367903" y="405854"/>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Custom Setup – Microserver Installation</a:t>
            </a:r>
            <a:endParaRPr lang="en-US" sz="3200" noProof="1">
              <a:solidFill>
                <a:schemeClr val="bg1"/>
              </a:solidFill>
            </a:endParaRPr>
          </a:p>
        </p:txBody>
      </p:sp>
      <p:sp>
        <p:nvSpPr>
          <p:cNvPr id="3" name="TextBox 2">
            <a:extLst>
              <a:ext uri="{FF2B5EF4-FFF2-40B4-BE49-F238E27FC236}">
                <a16:creationId xmlns:a16="http://schemas.microsoft.com/office/drawing/2014/main" id="{523D55D7-5240-5FEE-81F1-92BEB0F24F9F}"/>
              </a:ext>
            </a:extLst>
          </p:cNvPr>
          <p:cNvSpPr txBox="1"/>
          <p:nvPr/>
        </p:nvSpPr>
        <p:spPr>
          <a:xfrm>
            <a:off x="599440" y="1758749"/>
            <a:ext cx="7945120" cy="738664"/>
          </a:xfrm>
          <a:prstGeom prst="rect">
            <a:avLst/>
          </a:prstGeom>
          <a:noFill/>
        </p:spPr>
        <p:txBody>
          <a:bodyPr wrap="square">
            <a:spAutoFit/>
          </a:bodyPr>
          <a:lstStyle/>
          <a:p>
            <a:r>
              <a:rPr lang="en-US" sz="1400" dirty="0">
                <a:solidFill>
                  <a:schemeClr val="bg1"/>
                </a:solidFill>
              </a:rPr>
              <a:t>This section explains how to deploy the Atina JDE Microservice using Docker and Docker Compose. You’ll configure environment variables, initialize the container, and run a basic test to validate connectivity with JD Edwards.</a:t>
            </a:r>
            <a:endParaRPr lang="en-AR" sz="1000" dirty="0">
              <a:solidFill>
                <a:schemeClr val="bg1"/>
              </a:solidFill>
            </a:endParaRPr>
          </a:p>
        </p:txBody>
      </p:sp>
      <p:sp>
        <p:nvSpPr>
          <p:cNvPr id="4" name="TextBox 3">
            <a:extLst>
              <a:ext uri="{FF2B5EF4-FFF2-40B4-BE49-F238E27FC236}">
                <a16:creationId xmlns:a16="http://schemas.microsoft.com/office/drawing/2014/main" id="{E53F660A-CDDB-C739-EE9D-2F2391E1E2E8}"/>
              </a:ext>
            </a:extLst>
          </p:cNvPr>
          <p:cNvSpPr txBox="1"/>
          <p:nvPr/>
        </p:nvSpPr>
        <p:spPr>
          <a:xfrm>
            <a:off x="599440" y="3196307"/>
            <a:ext cx="5146899" cy="1738938"/>
          </a:xfrm>
          <a:prstGeom prst="rect">
            <a:avLst/>
          </a:prstGeom>
          <a:noFill/>
        </p:spPr>
        <p:txBody>
          <a:bodyPr wrap="square">
            <a:spAutoFit/>
          </a:bodyPr>
          <a:lstStyle/>
          <a:p>
            <a:r>
              <a:rPr lang="en-US" sz="1400" b="1" dirty="0"/>
              <a:t>Prerequisites</a:t>
            </a:r>
          </a:p>
          <a:p>
            <a:endParaRPr lang="en-US" sz="1400" b="1" dirty="0"/>
          </a:p>
          <a:p>
            <a:pPr marL="285750" indent="-285750">
              <a:lnSpc>
                <a:spcPct val="150000"/>
              </a:lnSpc>
              <a:buFont typeface="Arial" panose="020B0604020202020204" pitchFamily="34" charset="0"/>
              <a:buChar char="•"/>
            </a:pPr>
            <a:r>
              <a:rPr lang="en-US" sz="1400" b="1" dirty="0"/>
              <a:t>OpenJDK 8</a:t>
            </a:r>
            <a:r>
              <a:rPr lang="en-US" sz="1400" dirty="0"/>
              <a:t> installed (required by the tool)</a:t>
            </a:r>
          </a:p>
          <a:p>
            <a:pPr marL="285750" indent="-285750">
              <a:lnSpc>
                <a:spcPct val="150000"/>
              </a:lnSpc>
              <a:buFont typeface="Arial" panose="020B0604020202020204" pitchFamily="34" charset="0"/>
              <a:buChar char="•"/>
            </a:pPr>
            <a:r>
              <a:rPr lang="en-US" sz="1400" b="1" dirty="0"/>
              <a:t>Maven</a:t>
            </a:r>
            <a:r>
              <a:rPr lang="en-US" sz="1400" dirty="0"/>
              <a:t> 3.8.1 or higher</a:t>
            </a:r>
          </a:p>
          <a:p>
            <a:pPr marL="285750" indent="-285750">
              <a:lnSpc>
                <a:spcPct val="150000"/>
              </a:lnSpc>
              <a:buFont typeface="Arial" panose="020B0604020202020204" pitchFamily="34" charset="0"/>
              <a:buChar char="•"/>
            </a:pPr>
            <a:r>
              <a:rPr lang="en-US" sz="1400" b="1" dirty="0"/>
              <a:t>Docker</a:t>
            </a:r>
            <a:r>
              <a:rPr lang="en-US" sz="1400" dirty="0"/>
              <a:t> </a:t>
            </a:r>
            <a:r>
              <a:rPr lang="en-US" sz="1200" dirty="0"/>
              <a:t>Required to deploy the microservices, which are containerized</a:t>
            </a:r>
            <a:endParaRPr lang="en-US" sz="1400" dirty="0"/>
          </a:p>
          <a:p>
            <a:pPr algn="l"/>
            <a:endParaRPr lang="en-US" sz="1600" b="0" i="0" dirty="0">
              <a:effectLst/>
            </a:endParaRPr>
          </a:p>
        </p:txBody>
      </p:sp>
      <p:grpSp>
        <p:nvGrpSpPr>
          <p:cNvPr id="54" name="Group 53">
            <a:extLst>
              <a:ext uri="{FF2B5EF4-FFF2-40B4-BE49-F238E27FC236}">
                <a16:creationId xmlns:a16="http://schemas.microsoft.com/office/drawing/2014/main" id="{A17C106B-45F4-EA30-8FBE-C5BA8916C089}"/>
              </a:ext>
            </a:extLst>
          </p:cNvPr>
          <p:cNvGrpSpPr/>
          <p:nvPr/>
        </p:nvGrpSpPr>
        <p:grpSpPr>
          <a:xfrm>
            <a:off x="6756275" y="3289367"/>
            <a:ext cx="1862940" cy="279265"/>
            <a:chOff x="6822" y="542430"/>
            <a:chExt cx="2039104" cy="533039"/>
          </a:xfrm>
        </p:grpSpPr>
        <p:sp>
          <p:nvSpPr>
            <p:cNvPr id="55" name="Rounded Rectangle 54">
              <a:extLst>
                <a:ext uri="{FF2B5EF4-FFF2-40B4-BE49-F238E27FC236}">
                  <a16:creationId xmlns:a16="http://schemas.microsoft.com/office/drawing/2014/main" id="{451505AD-FF39-FD4C-D7B7-D6A6FAC26C3E}"/>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6" name="Rounded Rectangle 4">
              <a:extLst>
                <a:ext uri="{FF2B5EF4-FFF2-40B4-BE49-F238E27FC236}">
                  <a16:creationId xmlns:a16="http://schemas.microsoft.com/office/drawing/2014/main" id="{604583F0-7BFC-434E-D0A8-EF7BC4829142}"/>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84" name="Group 83">
            <a:extLst>
              <a:ext uri="{FF2B5EF4-FFF2-40B4-BE49-F238E27FC236}">
                <a16:creationId xmlns:a16="http://schemas.microsoft.com/office/drawing/2014/main" id="{FD62571D-AF14-912B-900C-0C540D8CEB30}"/>
              </a:ext>
            </a:extLst>
          </p:cNvPr>
          <p:cNvGrpSpPr/>
          <p:nvPr/>
        </p:nvGrpSpPr>
        <p:grpSpPr>
          <a:xfrm rot="5400000">
            <a:off x="7519230" y="3598821"/>
            <a:ext cx="213569" cy="217113"/>
            <a:chOff x="2225367" y="901313"/>
            <a:chExt cx="432290" cy="505697"/>
          </a:xfrm>
        </p:grpSpPr>
        <p:sp>
          <p:nvSpPr>
            <p:cNvPr id="85" name="Right Arrow 84">
              <a:extLst>
                <a:ext uri="{FF2B5EF4-FFF2-40B4-BE49-F238E27FC236}">
                  <a16:creationId xmlns:a16="http://schemas.microsoft.com/office/drawing/2014/main" id="{BF97C27B-D62A-2DCC-22AC-963301AD00F7}"/>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86" name="Right Arrow 6">
              <a:extLst>
                <a:ext uri="{FF2B5EF4-FFF2-40B4-BE49-F238E27FC236}">
                  <a16:creationId xmlns:a16="http://schemas.microsoft.com/office/drawing/2014/main" id="{65D01D13-C1C8-09A2-FF71-D635EC167D3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87" name="Group 86">
            <a:extLst>
              <a:ext uri="{FF2B5EF4-FFF2-40B4-BE49-F238E27FC236}">
                <a16:creationId xmlns:a16="http://schemas.microsoft.com/office/drawing/2014/main" id="{58B15C7F-7BB2-EBC6-DDCC-6ADC2F5960E2}"/>
              </a:ext>
            </a:extLst>
          </p:cNvPr>
          <p:cNvGrpSpPr/>
          <p:nvPr/>
        </p:nvGrpSpPr>
        <p:grpSpPr>
          <a:xfrm>
            <a:off x="6756275" y="3846123"/>
            <a:ext cx="1862940" cy="279265"/>
            <a:chOff x="6822" y="542430"/>
            <a:chExt cx="2039104" cy="533039"/>
          </a:xfrm>
        </p:grpSpPr>
        <p:sp>
          <p:nvSpPr>
            <p:cNvPr id="88" name="Rounded Rectangle 87">
              <a:extLst>
                <a:ext uri="{FF2B5EF4-FFF2-40B4-BE49-F238E27FC236}">
                  <a16:creationId xmlns:a16="http://schemas.microsoft.com/office/drawing/2014/main" id="{BC57D7E6-805F-1A99-CA02-BC71E6FAC285}"/>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9" name="Rounded Rectangle 4">
              <a:extLst>
                <a:ext uri="{FF2B5EF4-FFF2-40B4-BE49-F238E27FC236}">
                  <a16:creationId xmlns:a16="http://schemas.microsoft.com/office/drawing/2014/main" id="{BA4E9036-F2E6-AC97-D665-C1ABA1E758AA}"/>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90" name="Group 89">
            <a:extLst>
              <a:ext uri="{FF2B5EF4-FFF2-40B4-BE49-F238E27FC236}">
                <a16:creationId xmlns:a16="http://schemas.microsoft.com/office/drawing/2014/main" id="{5A924954-C39C-C13A-B14E-97CDD8CF7E1D}"/>
              </a:ext>
            </a:extLst>
          </p:cNvPr>
          <p:cNvGrpSpPr/>
          <p:nvPr/>
        </p:nvGrpSpPr>
        <p:grpSpPr>
          <a:xfrm rot="5400000">
            <a:off x="7518048" y="4163822"/>
            <a:ext cx="213569" cy="217113"/>
            <a:chOff x="2225367" y="901313"/>
            <a:chExt cx="432290" cy="505697"/>
          </a:xfrm>
        </p:grpSpPr>
        <p:sp>
          <p:nvSpPr>
            <p:cNvPr id="91" name="Right Arrow 90">
              <a:extLst>
                <a:ext uri="{FF2B5EF4-FFF2-40B4-BE49-F238E27FC236}">
                  <a16:creationId xmlns:a16="http://schemas.microsoft.com/office/drawing/2014/main" id="{7A38267E-A7EE-B392-826B-BDF1BAC04073}"/>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92" name="Right Arrow 6">
              <a:extLst>
                <a:ext uri="{FF2B5EF4-FFF2-40B4-BE49-F238E27FC236}">
                  <a16:creationId xmlns:a16="http://schemas.microsoft.com/office/drawing/2014/main" id="{6DC11B7A-29C1-4DF3-0AD2-980D313ACFA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93" name="Group 92">
            <a:extLst>
              <a:ext uri="{FF2B5EF4-FFF2-40B4-BE49-F238E27FC236}">
                <a16:creationId xmlns:a16="http://schemas.microsoft.com/office/drawing/2014/main" id="{958C5B67-B5A5-F7F9-0932-9448C0A7D341}"/>
              </a:ext>
            </a:extLst>
          </p:cNvPr>
          <p:cNvGrpSpPr/>
          <p:nvPr/>
        </p:nvGrpSpPr>
        <p:grpSpPr>
          <a:xfrm>
            <a:off x="6755092" y="4423317"/>
            <a:ext cx="1862940" cy="279265"/>
            <a:chOff x="6822" y="542430"/>
            <a:chExt cx="2039104" cy="533039"/>
          </a:xfrm>
        </p:grpSpPr>
        <p:sp>
          <p:nvSpPr>
            <p:cNvPr id="94" name="Rounded Rectangle 93">
              <a:extLst>
                <a:ext uri="{FF2B5EF4-FFF2-40B4-BE49-F238E27FC236}">
                  <a16:creationId xmlns:a16="http://schemas.microsoft.com/office/drawing/2014/main" id="{9F9FFD71-3D25-5B3E-2A36-296292D17173}"/>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95" name="Rounded Rectangle 4">
              <a:extLst>
                <a:ext uri="{FF2B5EF4-FFF2-40B4-BE49-F238E27FC236}">
                  <a16:creationId xmlns:a16="http://schemas.microsoft.com/office/drawing/2014/main" id="{D44E32B1-442C-2889-214E-4821E24506B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96" name="Group 95">
            <a:extLst>
              <a:ext uri="{FF2B5EF4-FFF2-40B4-BE49-F238E27FC236}">
                <a16:creationId xmlns:a16="http://schemas.microsoft.com/office/drawing/2014/main" id="{D5769483-B6B6-014E-3B99-55C301E5530F}"/>
              </a:ext>
            </a:extLst>
          </p:cNvPr>
          <p:cNvGrpSpPr/>
          <p:nvPr/>
        </p:nvGrpSpPr>
        <p:grpSpPr>
          <a:xfrm>
            <a:off x="6755092" y="4986019"/>
            <a:ext cx="1862940" cy="279265"/>
            <a:chOff x="6822" y="542430"/>
            <a:chExt cx="2039104" cy="533039"/>
          </a:xfrm>
        </p:grpSpPr>
        <p:sp>
          <p:nvSpPr>
            <p:cNvPr id="97" name="Rounded Rectangle 96">
              <a:extLst>
                <a:ext uri="{FF2B5EF4-FFF2-40B4-BE49-F238E27FC236}">
                  <a16:creationId xmlns:a16="http://schemas.microsoft.com/office/drawing/2014/main" id="{9B14E3FF-43C7-2BFA-1540-DAB032BC8630}"/>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98" name="Rounded Rectangle 4">
              <a:extLst>
                <a:ext uri="{FF2B5EF4-FFF2-40B4-BE49-F238E27FC236}">
                  <a16:creationId xmlns:a16="http://schemas.microsoft.com/office/drawing/2014/main" id="{AA4EE932-50ED-E1E9-AC33-259588A76D3D}"/>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99" name="Group 98">
            <a:extLst>
              <a:ext uri="{FF2B5EF4-FFF2-40B4-BE49-F238E27FC236}">
                <a16:creationId xmlns:a16="http://schemas.microsoft.com/office/drawing/2014/main" id="{BBC9C89C-7195-2142-01A2-DBC4B8B6F89C}"/>
              </a:ext>
            </a:extLst>
          </p:cNvPr>
          <p:cNvGrpSpPr/>
          <p:nvPr/>
        </p:nvGrpSpPr>
        <p:grpSpPr>
          <a:xfrm rot="5400000">
            <a:off x="7518047" y="4738717"/>
            <a:ext cx="213569" cy="217113"/>
            <a:chOff x="2225367" y="901313"/>
            <a:chExt cx="432290" cy="505697"/>
          </a:xfrm>
        </p:grpSpPr>
        <p:sp>
          <p:nvSpPr>
            <p:cNvPr id="100" name="Right Arrow 99">
              <a:extLst>
                <a:ext uri="{FF2B5EF4-FFF2-40B4-BE49-F238E27FC236}">
                  <a16:creationId xmlns:a16="http://schemas.microsoft.com/office/drawing/2014/main" id="{D04AF0ED-64D4-33DF-F442-FFBB04E2EC8D}"/>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01" name="Right Arrow 6">
              <a:extLst>
                <a:ext uri="{FF2B5EF4-FFF2-40B4-BE49-F238E27FC236}">
                  <a16:creationId xmlns:a16="http://schemas.microsoft.com/office/drawing/2014/main" id="{6977690C-265F-0F9F-E8F7-06E8005A68C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02" name="Group 101">
            <a:extLst>
              <a:ext uri="{FF2B5EF4-FFF2-40B4-BE49-F238E27FC236}">
                <a16:creationId xmlns:a16="http://schemas.microsoft.com/office/drawing/2014/main" id="{0DD2C5DB-9900-0B6E-E4FF-00F58CB4354A}"/>
              </a:ext>
            </a:extLst>
          </p:cNvPr>
          <p:cNvGrpSpPr/>
          <p:nvPr/>
        </p:nvGrpSpPr>
        <p:grpSpPr>
          <a:xfrm rot="5400000">
            <a:off x="7518047" y="5295473"/>
            <a:ext cx="213569" cy="217113"/>
            <a:chOff x="2225367" y="901313"/>
            <a:chExt cx="432290" cy="505697"/>
          </a:xfrm>
        </p:grpSpPr>
        <p:sp>
          <p:nvSpPr>
            <p:cNvPr id="103" name="Right Arrow 102">
              <a:extLst>
                <a:ext uri="{FF2B5EF4-FFF2-40B4-BE49-F238E27FC236}">
                  <a16:creationId xmlns:a16="http://schemas.microsoft.com/office/drawing/2014/main" id="{35160B0B-9A03-BA5E-4A49-0F4CFAFC229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04" name="Right Arrow 6">
              <a:extLst>
                <a:ext uri="{FF2B5EF4-FFF2-40B4-BE49-F238E27FC236}">
                  <a16:creationId xmlns:a16="http://schemas.microsoft.com/office/drawing/2014/main" id="{7F2F1889-284B-CC2F-FE5C-ABD5D03DBA8C}"/>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23" name="Group 122">
            <a:extLst>
              <a:ext uri="{FF2B5EF4-FFF2-40B4-BE49-F238E27FC236}">
                <a16:creationId xmlns:a16="http://schemas.microsoft.com/office/drawing/2014/main" id="{EA37C96F-85C3-F1F2-F2E5-A6EFC98DB727}"/>
              </a:ext>
            </a:extLst>
          </p:cNvPr>
          <p:cNvGrpSpPr/>
          <p:nvPr/>
        </p:nvGrpSpPr>
        <p:grpSpPr>
          <a:xfrm>
            <a:off x="6755092" y="5536745"/>
            <a:ext cx="1862940" cy="279265"/>
            <a:chOff x="6822" y="542430"/>
            <a:chExt cx="2039104" cy="533039"/>
          </a:xfrm>
        </p:grpSpPr>
        <p:sp>
          <p:nvSpPr>
            <p:cNvPr id="124" name="Rounded Rectangle 123">
              <a:extLst>
                <a:ext uri="{FF2B5EF4-FFF2-40B4-BE49-F238E27FC236}">
                  <a16:creationId xmlns:a16="http://schemas.microsoft.com/office/drawing/2014/main" id="{52205238-F40F-C8D2-925A-0A1AB8E494A1}"/>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125" name="Rounded Rectangle 4">
              <a:extLst>
                <a:ext uri="{FF2B5EF4-FFF2-40B4-BE49-F238E27FC236}">
                  <a16:creationId xmlns:a16="http://schemas.microsoft.com/office/drawing/2014/main" id="{8FDF33AF-7574-B026-FD22-80E6CF72A19C}"/>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graphicFrame>
        <p:nvGraphicFramePr>
          <p:cNvPr id="6" name="TextBox 5">
            <a:extLst>
              <a:ext uri="{FF2B5EF4-FFF2-40B4-BE49-F238E27FC236}">
                <a16:creationId xmlns:a16="http://schemas.microsoft.com/office/drawing/2014/main" id="{83510A56-7F99-3FE0-1341-CAE4835D7B7A}"/>
              </a:ext>
            </a:extLst>
          </p:cNvPr>
          <p:cNvGraphicFramePr/>
          <p:nvPr>
            <p:extLst>
              <p:ext uri="{D42A27DB-BD31-4B8C-83A1-F6EECF244321}">
                <p14:modId xmlns:p14="http://schemas.microsoft.com/office/powerpoint/2010/main" val="1131157012"/>
              </p:ext>
            </p:extLst>
          </p:nvPr>
        </p:nvGraphicFramePr>
        <p:xfrm>
          <a:off x="3057133" y="1192253"/>
          <a:ext cx="3029734" cy="3693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77425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9DAD7-68C2-E6D4-7A92-8E9F47DCCB4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F5578F-5285-151C-E57D-CCD346495EB1}"/>
              </a:ext>
            </a:extLst>
          </p:cNvPr>
          <p:cNvPicPr>
            <a:picLocks noChangeAspect="1"/>
          </p:cNvPicPr>
          <p:nvPr/>
        </p:nvPicPr>
        <p:blipFill>
          <a:blip r:embed="rId3"/>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63F07E9D-B4F8-0471-1246-D7CE220B334E}"/>
              </a:ext>
            </a:extLst>
          </p:cNvPr>
          <p:cNvSpPr txBox="1">
            <a:spLocks/>
          </p:cNvSpPr>
          <p:nvPr/>
        </p:nvSpPr>
        <p:spPr>
          <a:xfrm>
            <a:off x="367903" y="405854"/>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Custom Setup – Microserver Installation</a:t>
            </a:r>
            <a:endParaRPr lang="en-US" sz="3200" noProof="1">
              <a:solidFill>
                <a:schemeClr val="bg1"/>
              </a:solidFill>
            </a:endParaRPr>
          </a:p>
        </p:txBody>
      </p:sp>
      <p:sp>
        <p:nvSpPr>
          <p:cNvPr id="3" name="TextBox 2">
            <a:extLst>
              <a:ext uri="{FF2B5EF4-FFF2-40B4-BE49-F238E27FC236}">
                <a16:creationId xmlns:a16="http://schemas.microsoft.com/office/drawing/2014/main" id="{C8A9BBCF-EE40-584D-5FDA-E1C666F788D5}"/>
              </a:ext>
            </a:extLst>
          </p:cNvPr>
          <p:cNvSpPr txBox="1"/>
          <p:nvPr/>
        </p:nvSpPr>
        <p:spPr>
          <a:xfrm>
            <a:off x="599440" y="1758749"/>
            <a:ext cx="7945120" cy="738664"/>
          </a:xfrm>
          <a:prstGeom prst="rect">
            <a:avLst/>
          </a:prstGeom>
          <a:noFill/>
        </p:spPr>
        <p:txBody>
          <a:bodyPr wrap="square">
            <a:spAutoFit/>
          </a:bodyPr>
          <a:lstStyle/>
          <a:p>
            <a:r>
              <a:rPr lang="en-US" sz="1400" dirty="0">
                <a:solidFill>
                  <a:schemeClr val="bg1"/>
                </a:solidFill>
              </a:rPr>
              <a:t>This section explains how to deploy the Atina JDE Microservice using Docker and Docker Compose. You’ll configure environment variables, initialize the container, and run a basic test to validate connectivity with JD Edwards.</a:t>
            </a:r>
            <a:endParaRPr lang="en-AR" sz="1000" dirty="0">
              <a:solidFill>
                <a:schemeClr val="bg1"/>
              </a:solidFill>
            </a:endParaRPr>
          </a:p>
        </p:txBody>
      </p:sp>
      <p:grpSp>
        <p:nvGrpSpPr>
          <p:cNvPr id="54" name="Group 53">
            <a:extLst>
              <a:ext uri="{FF2B5EF4-FFF2-40B4-BE49-F238E27FC236}">
                <a16:creationId xmlns:a16="http://schemas.microsoft.com/office/drawing/2014/main" id="{62FC7022-C10C-304C-A16A-2288E3DCEA9A}"/>
              </a:ext>
            </a:extLst>
          </p:cNvPr>
          <p:cNvGrpSpPr/>
          <p:nvPr/>
        </p:nvGrpSpPr>
        <p:grpSpPr>
          <a:xfrm>
            <a:off x="6756275" y="3289367"/>
            <a:ext cx="1862940" cy="279265"/>
            <a:chOff x="6822" y="542430"/>
            <a:chExt cx="2039104" cy="533039"/>
          </a:xfrm>
        </p:grpSpPr>
        <p:sp>
          <p:nvSpPr>
            <p:cNvPr id="55" name="Rounded Rectangle 54">
              <a:extLst>
                <a:ext uri="{FF2B5EF4-FFF2-40B4-BE49-F238E27FC236}">
                  <a16:creationId xmlns:a16="http://schemas.microsoft.com/office/drawing/2014/main" id="{6F614923-77D3-4A95-1E6D-57C422F80005}"/>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6" name="Rounded Rectangle 4">
              <a:extLst>
                <a:ext uri="{FF2B5EF4-FFF2-40B4-BE49-F238E27FC236}">
                  <a16:creationId xmlns:a16="http://schemas.microsoft.com/office/drawing/2014/main" id="{B5BF9E7E-C21D-B5DA-D42E-C8D56DFC9B74}"/>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84" name="Group 83">
            <a:extLst>
              <a:ext uri="{FF2B5EF4-FFF2-40B4-BE49-F238E27FC236}">
                <a16:creationId xmlns:a16="http://schemas.microsoft.com/office/drawing/2014/main" id="{285E7A58-CBB8-33B0-AC0F-BD7DF1B02372}"/>
              </a:ext>
            </a:extLst>
          </p:cNvPr>
          <p:cNvGrpSpPr/>
          <p:nvPr/>
        </p:nvGrpSpPr>
        <p:grpSpPr>
          <a:xfrm rot="5400000">
            <a:off x="7519230" y="3598821"/>
            <a:ext cx="213569" cy="217113"/>
            <a:chOff x="2225367" y="901313"/>
            <a:chExt cx="432290" cy="505697"/>
          </a:xfrm>
        </p:grpSpPr>
        <p:sp>
          <p:nvSpPr>
            <p:cNvPr id="85" name="Right Arrow 84">
              <a:extLst>
                <a:ext uri="{FF2B5EF4-FFF2-40B4-BE49-F238E27FC236}">
                  <a16:creationId xmlns:a16="http://schemas.microsoft.com/office/drawing/2014/main" id="{19A61239-AC16-BE13-37AD-6CB8C40BFA6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86" name="Right Arrow 6">
              <a:extLst>
                <a:ext uri="{FF2B5EF4-FFF2-40B4-BE49-F238E27FC236}">
                  <a16:creationId xmlns:a16="http://schemas.microsoft.com/office/drawing/2014/main" id="{E8B9D55D-620A-3CFC-6564-37FF6D1C152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87" name="Group 86">
            <a:extLst>
              <a:ext uri="{FF2B5EF4-FFF2-40B4-BE49-F238E27FC236}">
                <a16:creationId xmlns:a16="http://schemas.microsoft.com/office/drawing/2014/main" id="{7D745F7B-78B0-0554-A8CF-29ABD73BCECB}"/>
              </a:ext>
            </a:extLst>
          </p:cNvPr>
          <p:cNvGrpSpPr/>
          <p:nvPr/>
        </p:nvGrpSpPr>
        <p:grpSpPr>
          <a:xfrm>
            <a:off x="6756275" y="3846123"/>
            <a:ext cx="1862940" cy="279265"/>
            <a:chOff x="6822" y="542430"/>
            <a:chExt cx="2039104" cy="533039"/>
          </a:xfrm>
        </p:grpSpPr>
        <p:sp>
          <p:nvSpPr>
            <p:cNvPr id="88" name="Rounded Rectangle 87">
              <a:extLst>
                <a:ext uri="{FF2B5EF4-FFF2-40B4-BE49-F238E27FC236}">
                  <a16:creationId xmlns:a16="http://schemas.microsoft.com/office/drawing/2014/main" id="{7D95A3B2-7624-3C61-31B6-E1F48FF2F534}"/>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9" name="Rounded Rectangle 4">
              <a:extLst>
                <a:ext uri="{FF2B5EF4-FFF2-40B4-BE49-F238E27FC236}">
                  <a16:creationId xmlns:a16="http://schemas.microsoft.com/office/drawing/2014/main" id="{86EE172C-CBDB-90BE-429E-B5DB7789784C}"/>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90" name="Group 89">
            <a:extLst>
              <a:ext uri="{FF2B5EF4-FFF2-40B4-BE49-F238E27FC236}">
                <a16:creationId xmlns:a16="http://schemas.microsoft.com/office/drawing/2014/main" id="{E8B23028-6F80-F488-70C5-9B4872FB7E55}"/>
              </a:ext>
            </a:extLst>
          </p:cNvPr>
          <p:cNvGrpSpPr/>
          <p:nvPr/>
        </p:nvGrpSpPr>
        <p:grpSpPr>
          <a:xfrm rot="5400000">
            <a:off x="7518048" y="4163822"/>
            <a:ext cx="213569" cy="217113"/>
            <a:chOff x="2225367" y="901313"/>
            <a:chExt cx="432290" cy="505697"/>
          </a:xfrm>
        </p:grpSpPr>
        <p:sp>
          <p:nvSpPr>
            <p:cNvPr id="91" name="Right Arrow 90">
              <a:extLst>
                <a:ext uri="{FF2B5EF4-FFF2-40B4-BE49-F238E27FC236}">
                  <a16:creationId xmlns:a16="http://schemas.microsoft.com/office/drawing/2014/main" id="{145726AF-381B-96A1-A50A-9BA3B051B86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92" name="Right Arrow 6">
              <a:extLst>
                <a:ext uri="{FF2B5EF4-FFF2-40B4-BE49-F238E27FC236}">
                  <a16:creationId xmlns:a16="http://schemas.microsoft.com/office/drawing/2014/main" id="{884B6A82-0901-4E11-5BAD-6BB8B2D503E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93" name="Group 92">
            <a:extLst>
              <a:ext uri="{FF2B5EF4-FFF2-40B4-BE49-F238E27FC236}">
                <a16:creationId xmlns:a16="http://schemas.microsoft.com/office/drawing/2014/main" id="{7056D5D7-3662-EE27-C25A-94C4489DFCB4}"/>
              </a:ext>
            </a:extLst>
          </p:cNvPr>
          <p:cNvGrpSpPr/>
          <p:nvPr/>
        </p:nvGrpSpPr>
        <p:grpSpPr>
          <a:xfrm>
            <a:off x="6755092" y="4423317"/>
            <a:ext cx="1862940" cy="279265"/>
            <a:chOff x="6822" y="542430"/>
            <a:chExt cx="2039104" cy="533039"/>
          </a:xfrm>
        </p:grpSpPr>
        <p:sp>
          <p:nvSpPr>
            <p:cNvPr id="94" name="Rounded Rectangle 93">
              <a:extLst>
                <a:ext uri="{FF2B5EF4-FFF2-40B4-BE49-F238E27FC236}">
                  <a16:creationId xmlns:a16="http://schemas.microsoft.com/office/drawing/2014/main" id="{341D6F25-A771-0BB6-3B83-AC404F750564}"/>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95" name="Rounded Rectangle 4">
              <a:extLst>
                <a:ext uri="{FF2B5EF4-FFF2-40B4-BE49-F238E27FC236}">
                  <a16:creationId xmlns:a16="http://schemas.microsoft.com/office/drawing/2014/main" id="{43618F80-B6F1-FA38-78BC-188CFF765926}"/>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96" name="Group 95">
            <a:extLst>
              <a:ext uri="{FF2B5EF4-FFF2-40B4-BE49-F238E27FC236}">
                <a16:creationId xmlns:a16="http://schemas.microsoft.com/office/drawing/2014/main" id="{527DEFC4-96FD-6085-67C1-3E7EBEB3A35A}"/>
              </a:ext>
            </a:extLst>
          </p:cNvPr>
          <p:cNvGrpSpPr/>
          <p:nvPr/>
        </p:nvGrpSpPr>
        <p:grpSpPr>
          <a:xfrm>
            <a:off x="6755092" y="4986019"/>
            <a:ext cx="1862940" cy="279265"/>
            <a:chOff x="6822" y="542430"/>
            <a:chExt cx="2039104" cy="533039"/>
          </a:xfrm>
        </p:grpSpPr>
        <p:sp>
          <p:nvSpPr>
            <p:cNvPr id="97" name="Rounded Rectangle 96">
              <a:extLst>
                <a:ext uri="{FF2B5EF4-FFF2-40B4-BE49-F238E27FC236}">
                  <a16:creationId xmlns:a16="http://schemas.microsoft.com/office/drawing/2014/main" id="{E6812DE0-FEF2-1A45-DE64-87379779AF3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98" name="Rounded Rectangle 4">
              <a:extLst>
                <a:ext uri="{FF2B5EF4-FFF2-40B4-BE49-F238E27FC236}">
                  <a16:creationId xmlns:a16="http://schemas.microsoft.com/office/drawing/2014/main" id="{C6065962-DC64-5690-B6C3-CF31855C17FD}"/>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99" name="Group 98">
            <a:extLst>
              <a:ext uri="{FF2B5EF4-FFF2-40B4-BE49-F238E27FC236}">
                <a16:creationId xmlns:a16="http://schemas.microsoft.com/office/drawing/2014/main" id="{E41891EE-3B48-CA8B-EA44-C302AB724C4E}"/>
              </a:ext>
            </a:extLst>
          </p:cNvPr>
          <p:cNvGrpSpPr/>
          <p:nvPr/>
        </p:nvGrpSpPr>
        <p:grpSpPr>
          <a:xfrm rot="5400000">
            <a:off x="7518047" y="4738717"/>
            <a:ext cx="213569" cy="217113"/>
            <a:chOff x="2225367" y="901313"/>
            <a:chExt cx="432290" cy="505697"/>
          </a:xfrm>
        </p:grpSpPr>
        <p:sp>
          <p:nvSpPr>
            <p:cNvPr id="100" name="Right Arrow 99">
              <a:extLst>
                <a:ext uri="{FF2B5EF4-FFF2-40B4-BE49-F238E27FC236}">
                  <a16:creationId xmlns:a16="http://schemas.microsoft.com/office/drawing/2014/main" id="{D815B6DF-B6C4-A688-2BB4-C0342071490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01" name="Right Arrow 6">
              <a:extLst>
                <a:ext uri="{FF2B5EF4-FFF2-40B4-BE49-F238E27FC236}">
                  <a16:creationId xmlns:a16="http://schemas.microsoft.com/office/drawing/2014/main" id="{E6E4C1DE-503A-B4FB-5ED2-C78B7E9A90F1}"/>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02" name="Group 101">
            <a:extLst>
              <a:ext uri="{FF2B5EF4-FFF2-40B4-BE49-F238E27FC236}">
                <a16:creationId xmlns:a16="http://schemas.microsoft.com/office/drawing/2014/main" id="{5BDD27B5-B87D-6F47-F507-73F64EFDCE6F}"/>
              </a:ext>
            </a:extLst>
          </p:cNvPr>
          <p:cNvGrpSpPr/>
          <p:nvPr/>
        </p:nvGrpSpPr>
        <p:grpSpPr>
          <a:xfrm rot="5400000">
            <a:off x="7518047" y="5295473"/>
            <a:ext cx="213569" cy="217113"/>
            <a:chOff x="2225367" y="901313"/>
            <a:chExt cx="432290" cy="505697"/>
          </a:xfrm>
        </p:grpSpPr>
        <p:sp>
          <p:nvSpPr>
            <p:cNvPr id="103" name="Right Arrow 102">
              <a:extLst>
                <a:ext uri="{FF2B5EF4-FFF2-40B4-BE49-F238E27FC236}">
                  <a16:creationId xmlns:a16="http://schemas.microsoft.com/office/drawing/2014/main" id="{AD7E226F-A7C4-A7CC-4FDE-CDD54345A1B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04" name="Right Arrow 6">
              <a:extLst>
                <a:ext uri="{FF2B5EF4-FFF2-40B4-BE49-F238E27FC236}">
                  <a16:creationId xmlns:a16="http://schemas.microsoft.com/office/drawing/2014/main" id="{90184F76-F032-9B40-BF59-48706AF78C7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23" name="Group 122">
            <a:extLst>
              <a:ext uri="{FF2B5EF4-FFF2-40B4-BE49-F238E27FC236}">
                <a16:creationId xmlns:a16="http://schemas.microsoft.com/office/drawing/2014/main" id="{28FDCA98-87B0-3120-8D26-7F46A539B362}"/>
              </a:ext>
            </a:extLst>
          </p:cNvPr>
          <p:cNvGrpSpPr/>
          <p:nvPr/>
        </p:nvGrpSpPr>
        <p:grpSpPr>
          <a:xfrm>
            <a:off x="6755092" y="5536745"/>
            <a:ext cx="1862940" cy="279265"/>
            <a:chOff x="6822" y="542430"/>
            <a:chExt cx="2039104" cy="533039"/>
          </a:xfrm>
        </p:grpSpPr>
        <p:sp>
          <p:nvSpPr>
            <p:cNvPr id="124" name="Rounded Rectangle 123">
              <a:extLst>
                <a:ext uri="{FF2B5EF4-FFF2-40B4-BE49-F238E27FC236}">
                  <a16:creationId xmlns:a16="http://schemas.microsoft.com/office/drawing/2014/main" id="{5CC9D93E-142C-345B-D7C3-09CF26508992}"/>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125" name="Rounded Rectangle 4">
              <a:extLst>
                <a:ext uri="{FF2B5EF4-FFF2-40B4-BE49-F238E27FC236}">
                  <a16:creationId xmlns:a16="http://schemas.microsoft.com/office/drawing/2014/main" id="{905FA3AC-37B7-3E7E-681E-F312D0276F42}"/>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graphicFrame>
        <p:nvGraphicFramePr>
          <p:cNvPr id="6" name="TextBox 5">
            <a:extLst>
              <a:ext uri="{FF2B5EF4-FFF2-40B4-BE49-F238E27FC236}">
                <a16:creationId xmlns:a16="http://schemas.microsoft.com/office/drawing/2014/main" id="{9D7E44FC-7F7D-0766-1B4F-D1AE5938F9B3}"/>
              </a:ext>
            </a:extLst>
          </p:cNvPr>
          <p:cNvGraphicFramePr/>
          <p:nvPr/>
        </p:nvGraphicFramePr>
        <p:xfrm>
          <a:off x="3057133" y="1192253"/>
          <a:ext cx="3029734" cy="3693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6" name="Online Media 15" descr="04 Create Docker">
            <a:hlinkClick r:id="" action="ppaction://media"/>
            <a:extLst>
              <a:ext uri="{FF2B5EF4-FFF2-40B4-BE49-F238E27FC236}">
                <a16:creationId xmlns:a16="http://schemas.microsoft.com/office/drawing/2014/main" id="{EB965183-D5AB-D20C-0044-743A6C59C8CD}"/>
              </a:ext>
            </a:extLst>
          </p:cNvPr>
          <p:cNvPicPr>
            <a:picLocks noRot="1" noChangeAspect="1"/>
          </p:cNvPicPr>
          <p:nvPr>
            <a:videoFile r:link="rId1"/>
          </p:nvPr>
        </p:nvPicPr>
        <p:blipFill>
          <a:blip r:embed="rId9"/>
          <a:stretch>
            <a:fillRect/>
          </a:stretch>
        </p:blipFill>
        <p:spPr>
          <a:xfrm>
            <a:off x="1611329" y="3041321"/>
            <a:ext cx="4475538" cy="3356654"/>
          </a:xfrm>
          <a:prstGeom prst="rect">
            <a:avLst/>
          </a:prstGeom>
        </p:spPr>
      </p:pic>
    </p:spTree>
    <p:extLst>
      <p:ext uri="{BB962C8B-B14F-4D97-AF65-F5344CB8AC3E}">
        <p14:creationId xmlns:p14="http://schemas.microsoft.com/office/powerpoint/2010/main" val="116181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65674-0CC3-23D6-EE9E-EA69B2AB030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2DD1AB6-BC39-AF26-BFC3-140B652EADA7}"/>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1 -</a:t>
            </a:r>
            <a:r>
              <a:rPr lang="en-US" sz="1400" i="0" dirty="0">
                <a:effectLst/>
              </a:rPr>
              <a:t> </a:t>
            </a:r>
            <a:r>
              <a:rPr lang="en-US" sz="1400" dirty="0"/>
              <a:t>Download Docker Compose Files</a:t>
            </a:r>
          </a:p>
        </p:txBody>
      </p:sp>
      <p:sp>
        <p:nvSpPr>
          <p:cNvPr id="9" name="TextBox 8">
            <a:extLst>
              <a:ext uri="{FF2B5EF4-FFF2-40B4-BE49-F238E27FC236}">
                <a16:creationId xmlns:a16="http://schemas.microsoft.com/office/drawing/2014/main" id="{9697DA0F-0515-8079-4938-A187788C0C24}"/>
              </a:ext>
            </a:extLst>
          </p:cNvPr>
          <p:cNvSpPr txBox="1"/>
          <p:nvPr/>
        </p:nvSpPr>
        <p:spPr>
          <a:xfrm>
            <a:off x="599440" y="2000472"/>
            <a:ext cx="5239861" cy="646331"/>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curl </a:t>
            </a:r>
            <a:r>
              <a:rPr lang="en-US" sz="1200" noProof="1">
                <a:latin typeface="Consolas" panose="020B0609020204030204" pitchFamily="49" charset="0"/>
                <a:cs typeface="Consolas" panose="020B0609020204030204" pitchFamily="49" charset="0"/>
              </a:rPr>
              <a:t>https://jfrog.atina-connection.com/artifactory/libs-release/com/atina/jd-docker-files/1.0.0/jd-docker-files-1.0.0.zip</a:t>
            </a:r>
            <a:r>
              <a:rPr lang="en-US" sz="1200" noProof="1">
                <a:solidFill>
                  <a:srgbClr val="FF0000"/>
                </a:solidFill>
                <a:latin typeface="Consolas" panose="020B0609020204030204" pitchFamily="49" charset="0"/>
                <a:cs typeface="Consolas" panose="020B0609020204030204" pitchFamily="49" charset="0"/>
              </a:rPr>
              <a:t> --output </a:t>
            </a:r>
            <a:r>
              <a:rPr lang="en-US" sz="1200" noProof="1">
                <a:latin typeface="Consolas" panose="020B0609020204030204" pitchFamily="49" charset="0"/>
                <a:cs typeface="Consolas" panose="020B0609020204030204" pitchFamily="49" charset="0"/>
              </a:rPr>
              <a:t>jd-docker-files-1.0.0.zip</a:t>
            </a:r>
            <a:endParaRPr lang="en-US" sz="1050" b="0" i="0" noProof="1">
              <a:effectLst/>
              <a:latin typeface="Consolas" panose="020B0609020204030204" pitchFamily="49" charset="0"/>
              <a:cs typeface="Consolas" panose="020B0609020204030204" pitchFamily="49" charset="0"/>
            </a:endParaRPr>
          </a:p>
        </p:txBody>
      </p:sp>
      <p:sp>
        <p:nvSpPr>
          <p:cNvPr id="5" name="TextBox 4">
            <a:extLst>
              <a:ext uri="{FF2B5EF4-FFF2-40B4-BE49-F238E27FC236}">
                <a16:creationId xmlns:a16="http://schemas.microsoft.com/office/drawing/2014/main" id="{F9A22529-5808-C11A-C32B-343481C327FB}"/>
              </a:ext>
            </a:extLst>
          </p:cNvPr>
          <p:cNvSpPr txBox="1"/>
          <p:nvPr/>
        </p:nvSpPr>
        <p:spPr>
          <a:xfrm>
            <a:off x="599440" y="3241902"/>
            <a:ext cx="4572000" cy="307777"/>
          </a:xfrm>
          <a:prstGeom prst="rect">
            <a:avLst/>
          </a:prstGeom>
          <a:noFill/>
        </p:spPr>
        <p:txBody>
          <a:bodyPr wrap="square">
            <a:spAutoFit/>
          </a:bodyPr>
          <a:lstStyle/>
          <a:p>
            <a:r>
              <a:rPr lang="en-US" sz="1400" b="0" i="0" dirty="0">
                <a:effectLst/>
                <a:cs typeface="Consolas" panose="020B0609020204030204" pitchFamily="49" charset="0"/>
              </a:rPr>
              <a:t>Unzip it</a:t>
            </a:r>
            <a:endParaRPr lang="en-AR" sz="1400" dirty="0">
              <a:cs typeface="Consolas" panose="020B0609020204030204" pitchFamily="49" charset="0"/>
            </a:endParaRPr>
          </a:p>
        </p:txBody>
      </p:sp>
      <p:sp>
        <p:nvSpPr>
          <p:cNvPr id="6" name="TextBox 5">
            <a:extLst>
              <a:ext uri="{FF2B5EF4-FFF2-40B4-BE49-F238E27FC236}">
                <a16:creationId xmlns:a16="http://schemas.microsoft.com/office/drawing/2014/main" id="{991EDD6F-56F9-B4BB-C360-1D65D91A541C}"/>
              </a:ext>
            </a:extLst>
          </p:cNvPr>
          <p:cNvSpPr txBox="1"/>
          <p:nvPr/>
        </p:nvSpPr>
        <p:spPr>
          <a:xfrm>
            <a:off x="599440" y="3778733"/>
            <a:ext cx="5239861" cy="276999"/>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unzip </a:t>
            </a:r>
            <a:r>
              <a:rPr lang="en-US" sz="1200" noProof="1">
                <a:latin typeface="Consolas" panose="020B0609020204030204" pitchFamily="49" charset="0"/>
                <a:cs typeface="Consolas" panose="020B0609020204030204" pitchFamily="49" charset="0"/>
              </a:rPr>
              <a:t>jd-docker-files-1.0.0.zip</a:t>
            </a:r>
            <a:endParaRPr lang="en-US" sz="1050" b="0" i="0" noProof="1">
              <a:effectLst/>
              <a:latin typeface="Consolas" panose="020B0609020204030204" pitchFamily="49" charset="0"/>
              <a:cs typeface="Consolas" panose="020B0609020204030204" pitchFamily="49" charset="0"/>
            </a:endParaRPr>
          </a:p>
        </p:txBody>
      </p:sp>
      <p:pic>
        <p:nvPicPr>
          <p:cNvPr id="11" name="Picture 10">
            <a:extLst>
              <a:ext uri="{FF2B5EF4-FFF2-40B4-BE49-F238E27FC236}">
                <a16:creationId xmlns:a16="http://schemas.microsoft.com/office/drawing/2014/main" id="{3C4BD906-40A4-7F9B-7AC0-6AD81B564CB7}"/>
              </a:ext>
            </a:extLst>
          </p:cNvPr>
          <p:cNvPicPr>
            <a:picLocks noChangeAspect="1"/>
          </p:cNvPicPr>
          <p:nvPr/>
        </p:nvPicPr>
        <p:blipFill>
          <a:blip r:embed="rId3"/>
          <a:stretch>
            <a:fillRect/>
          </a:stretch>
        </p:blipFill>
        <p:spPr>
          <a:xfrm>
            <a:off x="0" y="0"/>
            <a:ext cx="9144000" cy="644018"/>
          </a:xfrm>
          <a:prstGeom prst="rect">
            <a:avLst/>
          </a:prstGeom>
        </p:spPr>
      </p:pic>
      <p:sp>
        <p:nvSpPr>
          <p:cNvPr id="12" name="Title 1">
            <a:extLst>
              <a:ext uri="{FF2B5EF4-FFF2-40B4-BE49-F238E27FC236}">
                <a16:creationId xmlns:a16="http://schemas.microsoft.com/office/drawing/2014/main" id="{8A250ABA-9C34-53BA-4E72-C96411902A8C}"/>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1 – Microserver Installation - Download</a:t>
            </a:r>
          </a:p>
        </p:txBody>
      </p:sp>
      <p:grpSp>
        <p:nvGrpSpPr>
          <p:cNvPr id="17" name="Group 16">
            <a:extLst>
              <a:ext uri="{FF2B5EF4-FFF2-40B4-BE49-F238E27FC236}">
                <a16:creationId xmlns:a16="http://schemas.microsoft.com/office/drawing/2014/main" id="{0EE34608-16AB-8D43-9BFF-7D85DFE1AF2A}"/>
              </a:ext>
            </a:extLst>
          </p:cNvPr>
          <p:cNvGrpSpPr/>
          <p:nvPr/>
        </p:nvGrpSpPr>
        <p:grpSpPr>
          <a:xfrm>
            <a:off x="6838723" y="1446150"/>
            <a:ext cx="1862940" cy="279265"/>
            <a:chOff x="6822" y="542430"/>
            <a:chExt cx="2039104" cy="533039"/>
          </a:xfrm>
        </p:grpSpPr>
        <p:sp>
          <p:nvSpPr>
            <p:cNvPr id="18" name="Rounded Rectangle 17">
              <a:extLst>
                <a:ext uri="{FF2B5EF4-FFF2-40B4-BE49-F238E27FC236}">
                  <a16:creationId xmlns:a16="http://schemas.microsoft.com/office/drawing/2014/main" id="{50311130-4B5A-DC15-4F1B-F20718B3143D}"/>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19" name="Rounded Rectangle 4">
              <a:extLst>
                <a:ext uri="{FF2B5EF4-FFF2-40B4-BE49-F238E27FC236}">
                  <a16:creationId xmlns:a16="http://schemas.microsoft.com/office/drawing/2014/main" id="{AEC6E8A2-7341-8249-C368-4BCD05D4ADDA}"/>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3" name="Group 22">
            <a:extLst>
              <a:ext uri="{FF2B5EF4-FFF2-40B4-BE49-F238E27FC236}">
                <a16:creationId xmlns:a16="http://schemas.microsoft.com/office/drawing/2014/main" id="{6B339EAF-FCEF-52DA-E96B-5D8DE5881CF0}"/>
              </a:ext>
            </a:extLst>
          </p:cNvPr>
          <p:cNvGrpSpPr/>
          <p:nvPr/>
        </p:nvGrpSpPr>
        <p:grpSpPr>
          <a:xfrm rot="5400000">
            <a:off x="7601678" y="1755604"/>
            <a:ext cx="213569" cy="217113"/>
            <a:chOff x="2225367" y="901313"/>
            <a:chExt cx="432290" cy="505697"/>
          </a:xfrm>
        </p:grpSpPr>
        <p:sp>
          <p:nvSpPr>
            <p:cNvPr id="24" name="Right Arrow 23">
              <a:extLst>
                <a:ext uri="{FF2B5EF4-FFF2-40B4-BE49-F238E27FC236}">
                  <a16:creationId xmlns:a16="http://schemas.microsoft.com/office/drawing/2014/main" id="{8F3BFE58-1350-D194-C3D2-BBA34C8C68D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5" name="Right Arrow 6">
              <a:extLst>
                <a:ext uri="{FF2B5EF4-FFF2-40B4-BE49-F238E27FC236}">
                  <a16:creationId xmlns:a16="http://schemas.microsoft.com/office/drawing/2014/main" id="{8249FDC7-C106-19D0-6ED3-849D0E63ED9B}"/>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6" name="Group 25">
            <a:extLst>
              <a:ext uri="{FF2B5EF4-FFF2-40B4-BE49-F238E27FC236}">
                <a16:creationId xmlns:a16="http://schemas.microsoft.com/office/drawing/2014/main" id="{419A67F2-7287-3066-8C42-0698A646373D}"/>
              </a:ext>
            </a:extLst>
          </p:cNvPr>
          <p:cNvGrpSpPr/>
          <p:nvPr/>
        </p:nvGrpSpPr>
        <p:grpSpPr>
          <a:xfrm>
            <a:off x="6838723" y="200290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27" name="Rounded Rectangle 26">
              <a:extLst>
                <a:ext uri="{FF2B5EF4-FFF2-40B4-BE49-F238E27FC236}">
                  <a16:creationId xmlns:a16="http://schemas.microsoft.com/office/drawing/2014/main" id="{80360A41-0471-9C2B-3376-C6CE7059D8AC}"/>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8" name="Rounded Rectangle 4">
              <a:extLst>
                <a:ext uri="{FF2B5EF4-FFF2-40B4-BE49-F238E27FC236}">
                  <a16:creationId xmlns:a16="http://schemas.microsoft.com/office/drawing/2014/main" id="{423593F9-EC0B-F130-7003-8A87D25B2F5E}"/>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29" name="Group 28">
            <a:extLst>
              <a:ext uri="{FF2B5EF4-FFF2-40B4-BE49-F238E27FC236}">
                <a16:creationId xmlns:a16="http://schemas.microsoft.com/office/drawing/2014/main" id="{26A84E08-6D77-CCF5-0D06-A8D73663578B}"/>
              </a:ext>
            </a:extLst>
          </p:cNvPr>
          <p:cNvGrpSpPr/>
          <p:nvPr/>
        </p:nvGrpSpPr>
        <p:grpSpPr>
          <a:xfrm rot="5400000">
            <a:off x="7600496" y="2320605"/>
            <a:ext cx="213569" cy="217113"/>
            <a:chOff x="2225367" y="901313"/>
            <a:chExt cx="432290" cy="505697"/>
          </a:xfrm>
        </p:grpSpPr>
        <p:sp>
          <p:nvSpPr>
            <p:cNvPr id="30" name="Right Arrow 29">
              <a:extLst>
                <a:ext uri="{FF2B5EF4-FFF2-40B4-BE49-F238E27FC236}">
                  <a16:creationId xmlns:a16="http://schemas.microsoft.com/office/drawing/2014/main" id="{7422C152-5656-15D3-1DCC-87DEF79F2B7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1" name="Right Arrow 6">
              <a:extLst>
                <a:ext uri="{FF2B5EF4-FFF2-40B4-BE49-F238E27FC236}">
                  <a16:creationId xmlns:a16="http://schemas.microsoft.com/office/drawing/2014/main" id="{59EE772B-B2A6-B7C0-58B9-63E5FC9B57A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2" name="Group 31">
            <a:extLst>
              <a:ext uri="{FF2B5EF4-FFF2-40B4-BE49-F238E27FC236}">
                <a16:creationId xmlns:a16="http://schemas.microsoft.com/office/drawing/2014/main" id="{B21BF6A7-2220-698F-034C-137E33CADB10}"/>
              </a:ext>
            </a:extLst>
          </p:cNvPr>
          <p:cNvGrpSpPr/>
          <p:nvPr/>
        </p:nvGrpSpPr>
        <p:grpSpPr>
          <a:xfrm>
            <a:off x="6837540" y="258010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3" name="Rounded Rectangle 32">
              <a:extLst>
                <a:ext uri="{FF2B5EF4-FFF2-40B4-BE49-F238E27FC236}">
                  <a16:creationId xmlns:a16="http://schemas.microsoft.com/office/drawing/2014/main" id="{91D45F6C-97AB-9919-24CB-080CD7C1449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4" name="Rounded Rectangle 4">
              <a:extLst>
                <a:ext uri="{FF2B5EF4-FFF2-40B4-BE49-F238E27FC236}">
                  <a16:creationId xmlns:a16="http://schemas.microsoft.com/office/drawing/2014/main" id="{382299B0-72D9-5B5C-C5F0-0B182F114BF1}"/>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35" name="Group 34">
            <a:extLst>
              <a:ext uri="{FF2B5EF4-FFF2-40B4-BE49-F238E27FC236}">
                <a16:creationId xmlns:a16="http://schemas.microsoft.com/office/drawing/2014/main" id="{B62D2393-73B6-701F-BD76-15A2485EF5F0}"/>
              </a:ext>
            </a:extLst>
          </p:cNvPr>
          <p:cNvGrpSpPr/>
          <p:nvPr/>
        </p:nvGrpSpPr>
        <p:grpSpPr>
          <a:xfrm>
            <a:off x="6837540" y="3142802"/>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6" name="Rounded Rectangle 35">
              <a:extLst>
                <a:ext uri="{FF2B5EF4-FFF2-40B4-BE49-F238E27FC236}">
                  <a16:creationId xmlns:a16="http://schemas.microsoft.com/office/drawing/2014/main" id="{9D482E69-ADE8-7057-3EE9-65EA8E0FEE90}"/>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7" name="Rounded Rectangle 4">
              <a:extLst>
                <a:ext uri="{FF2B5EF4-FFF2-40B4-BE49-F238E27FC236}">
                  <a16:creationId xmlns:a16="http://schemas.microsoft.com/office/drawing/2014/main" id="{FF9F545E-A384-F0EC-A74F-1EDCB0C2A16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38" name="Group 37">
            <a:extLst>
              <a:ext uri="{FF2B5EF4-FFF2-40B4-BE49-F238E27FC236}">
                <a16:creationId xmlns:a16="http://schemas.microsoft.com/office/drawing/2014/main" id="{FE4FA596-3643-E999-AEFB-56B1D9FE2E07}"/>
              </a:ext>
            </a:extLst>
          </p:cNvPr>
          <p:cNvGrpSpPr/>
          <p:nvPr/>
        </p:nvGrpSpPr>
        <p:grpSpPr>
          <a:xfrm rot="5400000">
            <a:off x="7600495" y="2895500"/>
            <a:ext cx="213569" cy="217113"/>
            <a:chOff x="2225367" y="901313"/>
            <a:chExt cx="432290" cy="505697"/>
          </a:xfrm>
        </p:grpSpPr>
        <p:sp>
          <p:nvSpPr>
            <p:cNvPr id="39" name="Right Arrow 38">
              <a:extLst>
                <a:ext uri="{FF2B5EF4-FFF2-40B4-BE49-F238E27FC236}">
                  <a16:creationId xmlns:a16="http://schemas.microsoft.com/office/drawing/2014/main" id="{66FE936D-927E-C826-7A30-ED63F74AAF6A}"/>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0" name="Right Arrow 6">
              <a:extLst>
                <a:ext uri="{FF2B5EF4-FFF2-40B4-BE49-F238E27FC236}">
                  <a16:creationId xmlns:a16="http://schemas.microsoft.com/office/drawing/2014/main" id="{B3DDD489-A655-6F6F-0A9E-F880E3E1EE1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1" name="Group 40">
            <a:extLst>
              <a:ext uri="{FF2B5EF4-FFF2-40B4-BE49-F238E27FC236}">
                <a16:creationId xmlns:a16="http://schemas.microsoft.com/office/drawing/2014/main" id="{1D697841-0C27-E412-358C-919539A27B3B}"/>
              </a:ext>
            </a:extLst>
          </p:cNvPr>
          <p:cNvGrpSpPr/>
          <p:nvPr/>
        </p:nvGrpSpPr>
        <p:grpSpPr>
          <a:xfrm rot="5400000">
            <a:off x="7600495" y="3452256"/>
            <a:ext cx="213569" cy="217113"/>
            <a:chOff x="2225367" y="901313"/>
            <a:chExt cx="432290" cy="505697"/>
          </a:xfrm>
        </p:grpSpPr>
        <p:sp>
          <p:nvSpPr>
            <p:cNvPr id="42" name="Right Arrow 41">
              <a:extLst>
                <a:ext uri="{FF2B5EF4-FFF2-40B4-BE49-F238E27FC236}">
                  <a16:creationId xmlns:a16="http://schemas.microsoft.com/office/drawing/2014/main" id="{DEC15258-2834-86F6-83ED-F460DEFDF7F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BACAD82F-F952-C639-722F-FE5A5952FD7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4" name="Group 43">
            <a:extLst>
              <a:ext uri="{FF2B5EF4-FFF2-40B4-BE49-F238E27FC236}">
                <a16:creationId xmlns:a16="http://schemas.microsoft.com/office/drawing/2014/main" id="{2240E33F-A27C-74A7-A757-57CDF9AB78DD}"/>
              </a:ext>
            </a:extLst>
          </p:cNvPr>
          <p:cNvGrpSpPr/>
          <p:nvPr/>
        </p:nvGrpSpPr>
        <p:grpSpPr>
          <a:xfrm>
            <a:off x="6837540" y="369352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5" name="Rounded Rectangle 44">
              <a:extLst>
                <a:ext uri="{FF2B5EF4-FFF2-40B4-BE49-F238E27FC236}">
                  <a16:creationId xmlns:a16="http://schemas.microsoft.com/office/drawing/2014/main" id="{48715479-7245-AD24-95C4-D0C55D5123E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6" name="Rounded Rectangle 4">
              <a:extLst>
                <a:ext uri="{FF2B5EF4-FFF2-40B4-BE49-F238E27FC236}">
                  <a16:creationId xmlns:a16="http://schemas.microsoft.com/office/drawing/2014/main" id="{8D1AA600-5FF4-199C-75D5-F702C3D70B88}"/>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spTree>
    <p:extLst>
      <p:ext uri="{BB962C8B-B14F-4D97-AF65-F5344CB8AC3E}">
        <p14:creationId xmlns:p14="http://schemas.microsoft.com/office/powerpoint/2010/main" val="4070891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E11CD-E03C-DB29-6B5C-64AB2263719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B7250F-0B26-B420-7320-1E71702CD8C2}"/>
              </a:ext>
            </a:extLst>
          </p:cNvPr>
          <p:cNvSpPr txBox="1"/>
          <p:nvPr/>
        </p:nvSpPr>
        <p:spPr>
          <a:xfrm>
            <a:off x="599440" y="1330641"/>
            <a:ext cx="5642474" cy="307777"/>
          </a:xfrm>
          <a:prstGeom prst="rect">
            <a:avLst/>
          </a:prstGeom>
          <a:noFill/>
        </p:spPr>
        <p:txBody>
          <a:bodyPr wrap="square">
            <a:spAutoFit/>
          </a:bodyPr>
          <a:lstStyle/>
          <a:p>
            <a:r>
              <a:rPr lang="en-US" sz="1400" b="1" i="0" dirty="0">
                <a:effectLst/>
              </a:rPr>
              <a:t>Step 2 -</a:t>
            </a:r>
            <a:r>
              <a:rPr lang="en-US" sz="1400" i="0" dirty="0">
                <a:effectLst/>
              </a:rPr>
              <a:t> </a:t>
            </a:r>
            <a:r>
              <a:rPr lang="en-US" sz="1400" dirty="0"/>
              <a:t>Configure Environment Variables</a:t>
            </a:r>
          </a:p>
        </p:txBody>
      </p:sp>
      <p:sp>
        <p:nvSpPr>
          <p:cNvPr id="4" name="TextBox 3">
            <a:extLst>
              <a:ext uri="{FF2B5EF4-FFF2-40B4-BE49-F238E27FC236}">
                <a16:creationId xmlns:a16="http://schemas.microsoft.com/office/drawing/2014/main" id="{318B7D5C-B084-98D6-2D8A-F48ACB7BDB64}"/>
              </a:ext>
            </a:extLst>
          </p:cNvPr>
          <p:cNvSpPr txBox="1"/>
          <p:nvPr/>
        </p:nvSpPr>
        <p:spPr>
          <a:xfrm>
            <a:off x="599440" y="1682572"/>
            <a:ext cx="5642474" cy="523220"/>
          </a:xfrm>
          <a:prstGeom prst="rect">
            <a:avLst/>
          </a:prstGeom>
          <a:noFill/>
        </p:spPr>
        <p:txBody>
          <a:bodyPr wrap="square">
            <a:spAutoFit/>
          </a:bodyPr>
          <a:lstStyle/>
          <a:p>
            <a:r>
              <a:rPr lang="en-US" sz="1400" b="0" i="0" dirty="0">
                <a:effectLst/>
              </a:rPr>
              <a:t>Inside </a:t>
            </a:r>
            <a:r>
              <a:rPr lang="en-US" sz="1400" b="1" noProof="1">
                <a:cs typeface="Consolas" panose="020B0609020204030204" pitchFamily="49" charset="0"/>
              </a:rPr>
              <a:t>jd-docker-files-1.0.0</a:t>
            </a:r>
            <a:r>
              <a:rPr lang="en-US" sz="1400" noProof="1">
                <a:cs typeface="Consolas" panose="020B0609020204030204" pitchFamily="49" charset="0"/>
              </a:rPr>
              <a:t> folder, </a:t>
            </a:r>
            <a:r>
              <a:rPr lang="en-US" sz="1400" b="0" i="0" dirty="0">
                <a:effectLst/>
              </a:rPr>
              <a:t>Edit the</a:t>
            </a:r>
            <a:r>
              <a:rPr lang="en-US" sz="1400" b="1" i="0" dirty="0">
                <a:effectLst/>
              </a:rPr>
              <a:t> .env </a:t>
            </a:r>
            <a:r>
              <a:rPr lang="en-US" sz="1400" b="0" i="0" dirty="0">
                <a:effectLst/>
              </a:rPr>
              <a:t>file and set the values according to your infrastructure:</a:t>
            </a:r>
            <a:endParaRPr lang="en-US" b="0" i="0" dirty="0">
              <a:effectLst/>
            </a:endParaRPr>
          </a:p>
        </p:txBody>
      </p:sp>
      <p:pic>
        <p:nvPicPr>
          <p:cNvPr id="8" name="Picture 7">
            <a:extLst>
              <a:ext uri="{FF2B5EF4-FFF2-40B4-BE49-F238E27FC236}">
                <a16:creationId xmlns:a16="http://schemas.microsoft.com/office/drawing/2014/main" id="{7F7E5018-9E19-C601-AF1E-A57E3EAFB56B}"/>
              </a:ext>
            </a:extLst>
          </p:cNvPr>
          <p:cNvPicPr>
            <a:picLocks noChangeAspect="1"/>
          </p:cNvPicPr>
          <p:nvPr/>
        </p:nvPicPr>
        <p:blipFill>
          <a:blip r:embed="rId3"/>
          <a:stretch>
            <a:fillRect/>
          </a:stretch>
        </p:blipFill>
        <p:spPr>
          <a:xfrm>
            <a:off x="692286" y="2311615"/>
            <a:ext cx="5562596" cy="830997"/>
          </a:xfrm>
          <a:prstGeom prst="rect">
            <a:avLst/>
          </a:prstGeom>
          <a:effectLst>
            <a:outerShdw blurRad="50800" dist="38100" dir="5400000" algn="t" rotWithShape="0">
              <a:prstClr val="black">
                <a:alpha val="40000"/>
              </a:prstClr>
            </a:outerShdw>
          </a:effectLst>
        </p:spPr>
      </p:pic>
      <p:sp>
        <p:nvSpPr>
          <p:cNvPr id="11" name="TextBox 10">
            <a:extLst>
              <a:ext uri="{FF2B5EF4-FFF2-40B4-BE49-F238E27FC236}">
                <a16:creationId xmlns:a16="http://schemas.microsoft.com/office/drawing/2014/main" id="{0C4D082D-5562-7505-4C7E-274F3F8024E9}"/>
              </a:ext>
            </a:extLst>
          </p:cNvPr>
          <p:cNvSpPr txBox="1"/>
          <p:nvPr/>
        </p:nvSpPr>
        <p:spPr>
          <a:xfrm>
            <a:off x="2965315" y="2391354"/>
            <a:ext cx="2423809" cy="738664"/>
          </a:xfrm>
          <a:prstGeom prst="rect">
            <a:avLst/>
          </a:prstGeom>
          <a:noFill/>
        </p:spPr>
        <p:txBody>
          <a:bodyPr wrap="square">
            <a:spAutoFit/>
          </a:bodyPr>
          <a:lstStyle/>
          <a:p>
            <a:r>
              <a:rPr lang="en-US" sz="1050" b="1" i="1" dirty="0">
                <a:effectLst/>
              </a:rPr>
              <a:t>Code</a:t>
            </a:r>
            <a:r>
              <a:rPr lang="en-US" sz="1050" b="0" i="1" dirty="0">
                <a:effectLst/>
              </a:rPr>
              <a:t>: Each customer must use the license code provided by Atina. This value is mandatory for the service to start correctly.</a:t>
            </a:r>
            <a:endParaRPr lang="en-AR" sz="1050" i="1" dirty="0"/>
          </a:p>
        </p:txBody>
      </p:sp>
      <p:sp>
        <p:nvSpPr>
          <p:cNvPr id="12" name="Double Brace 11">
            <a:extLst>
              <a:ext uri="{FF2B5EF4-FFF2-40B4-BE49-F238E27FC236}">
                <a16:creationId xmlns:a16="http://schemas.microsoft.com/office/drawing/2014/main" id="{80237D8B-A951-3E02-6BDE-407B788F4EF5}"/>
              </a:ext>
            </a:extLst>
          </p:cNvPr>
          <p:cNvSpPr/>
          <p:nvPr/>
        </p:nvSpPr>
        <p:spPr>
          <a:xfrm>
            <a:off x="745786" y="2854889"/>
            <a:ext cx="1517517" cy="185497"/>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R"/>
          </a:p>
        </p:txBody>
      </p:sp>
      <p:pic>
        <p:nvPicPr>
          <p:cNvPr id="14" name="Picture 13">
            <a:extLst>
              <a:ext uri="{FF2B5EF4-FFF2-40B4-BE49-F238E27FC236}">
                <a16:creationId xmlns:a16="http://schemas.microsoft.com/office/drawing/2014/main" id="{ACF887C6-44B9-9036-27D0-CE9F337A3539}"/>
              </a:ext>
            </a:extLst>
          </p:cNvPr>
          <p:cNvPicPr>
            <a:picLocks noChangeAspect="1"/>
          </p:cNvPicPr>
          <p:nvPr/>
        </p:nvPicPr>
        <p:blipFill>
          <a:blip r:embed="rId4"/>
          <a:stretch>
            <a:fillRect/>
          </a:stretch>
        </p:blipFill>
        <p:spPr>
          <a:xfrm>
            <a:off x="692286" y="3304807"/>
            <a:ext cx="5562596" cy="780913"/>
          </a:xfrm>
          <a:prstGeom prst="rect">
            <a:avLst/>
          </a:prstGeom>
        </p:spPr>
      </p:pic>
      <p:sp>
        <p:nvSpPr>
          <p:cNvPr id="15" name="Double Brace 14">
            <a:extLst>
              <a:ext uri="{FF2B5EF4-FFF2-40B4-BE49-F238E27FC236}">
                <a16:creationId xmlns:a16="http://schemas.microsoft.com/office/drawing/2014/main" id="{39F0DF38-CD97-1CD3-ABCA-416B4A6BA168}"/>
              </a:ext>
            </a:extLst>
          </p:cNvPr>
          <p:cNvSpPr/>
          <p:nvPr/>
        </p:nvSpPr>
        <p:spPr>
          <a:xfrm>
            <a:off x="692286" y="3452839"/>
            <a:ext cx="3067457" cy="537682"/>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R"/>
          </a:p>
        </p:txBody>
      </p:sp>
      <p:sp>
        <p:nvSpPr>
          <p:cNvPr id="24" name="TextBox 23">
            <a:extLst>
              <a:ext uri="{FF2B5EF4-FFF2-40B4-BE49-F238E27FC236}">
                <a16:creationId xmlns:a16="http://schemas.microsoft.com/office/drawing/2014/main" id="{2E66B75B-26B3-FBBA-9715-3F9182753449}"/>
              </a:ext>
            </a:extLst>
          </p:cNvPr>
          <p:cNvSpPr txBox="1"/>
          <p:nvPr/>
        </p:nvSpPr>
        <p:spPr>
          <a:xfrm>
            <a:off x="3931595" y="3344979"/>
            <a:ext cx="2242227" cy="738664"/>
          </a:xfrm>
          <a:prstGeom prst="rect">
            <a:avLst/>
          </a:prstGeom>
          <a:noFill/>
        </p:spPr>
        <p:txBody>
          <a:bodyPr wrap="square">
            <a:spAutoFit/>
          </a:bodyPr>
          <a:lstStyle/>
          <a:p>
            <a:r>
              <a:rPr lang="en-US" sz="1050" i="1" dirty="0">
                <a:effectLst/>
              </a:rPr>
              <a:t>This section defines the network and database endpoints used by the microservice to interact with the JDE EnterpriseOne system</a:t>
            </a:r>
          </a:p>
        </p:txBody>
      </p:sp>
      <p:sp>
        <p:nvSpPr>
          <p:cNvPr id="26" name="TextBox 25">
            <a:extLst>
              <a:ext uri="{FF2B5EF4-FFF2-40B4-BE49-F238E27FC236}">
                <a16:creationId xmlns:a16="http://schemas.microsoft.com/office/drawing/2014/main" id="{4B426264-90A3-1178-B5DD-430400E105C5}"/>
              </a:ext>
            </a:extLst>
          </p:cNvPr>
          <p:cNvSpPr txBox="1"/>
          <p:nvPr/>
        </p:nvSpPr>
        <p:spPr>
          <a:xfrm>
            <a:off x="599440" y="4297346"/>
            <a:ext cx="5509096" cy="861774"/>
          </a:xfrm>
          <a:prstGeom prst="rect">
            <a:avLst/>
          </a:prstGeom>
          <a:noFill/>
        </p:spPr>
        <p:txBody>
          <a:bodyPr wrap="square">
            <a:spAutoFit/>
          </a:bodyPr>
          <a:lstStyle/>
          <a:p>
            <a:pPr marL="171450" indent="-171450" algn="l">
              <a:buFont typeface="Arial" panose="020B0604020202020204" pitchFamily="34" charset="0"/>
              <a:buChar char="•"/>
            </a:pPr>
            <a:r>
              <a:rPr lang="en-US" sz="1000" b="1" i="0" dirty="0">
                <a:effectLst/>
              </a:rPr>
              <a:t>JDE_MICROSERVER_ENTERPRISE_SERVER_NAME</a:t>
            </a:r>
            <a:r>
              <a:rPr lang="en-US" sz="1000" b="0" i="0" dirty="0">
                <a:effectLst/>
              </a:rPr>
              <a:t>: The logical name of the JDE Enterprise Server.</a:t>
            </a:r>
          </a:p>
          <a:p>
            <a:pPr marL="171450" indent="-171450" algn="l">
              <a:buFont typeface="Arial" panose="020B0604020202020204" pitchFamily="34" charset="0"/>
              <a:buChar char="•"/>
            </a:pPr>
            <a:r>
              <a:rPr lang="en-US" sz="1000" b="1" i="0" dirty="0">
                <a:effectLst/>
              </a:rPr>
              <a:t>JDE_MICROSERVER_ENTERPRISE_SERVER_IP</a:t>
            </a:r>
            <a:r>
              <a:rPr lang="en-US" sz="1000" b="0" i="0" dirty="0">
                <a:effectLst/>
              </a:rPr>
              <a:t>: The server’s IP address or DNS-resolvable name.</a:t>
            </a:r>
          </a:p>
          <a:p>
            <a:pPr marL="171450" indent="-171450" algn="l">
              <a:buFont typeface="Arial" panose="020B0604020202020204" pitchFamily="34" charset="0"/>
              <a:buChar char="•"/>
            </a:pPr>
            <a:r>
              <a:rPr lang="en-US" sz="1000" b="1" i="0" dirty="0">
                <a:effectLst/>
              </a:rPr>
              <a:t>JDE_MICROSERVER_ENTERPRISE_DB_NAME</a:t>
            </a:r>
            <a:r>
              <a:rPr lang="en-US" sz="1000" b="0" i="0" dirty="0">
                <a:effectLst/>
              </a:rPr>
              <a:t>: The name of the database as defined in JDE’s OCM (Object Configuration Manager) as a Data Source.</a:t>
            </a:r>
          </a:p>
          <a:p>
            <a:pPr marL="171450" indent="-171450">
              <a:buFont typeface="Arial" panose="020B0604020202020204" pitchFamily="34" charset="0"/>
              <a:buChar char="•"/>
            </a:pPr>
            <a:r>
              <a:rPr lang="en-US" sz="1000" b="1" i="0" dirty="0">
                <a:effectLst/>
              </a:rPr>
              <a:t>JDE_MICROSERVER_ENTERPRISE_DB_IP</a:t>
            </a:r>
            <a:r>
              <a:rPr lang="en-US" sz="1000" b="0" i="0" dirty="0">
                <a:effectLst/>
              </a:rPr>
              <a:t>: The database server’s IP </a:t>
            </a:r>
            <a:r>
              <a:rPr lang="en-US" sz="1000" dirty="0"/>
              <a:t>address or DNS-resolvable name.</a:t>
            </a:r>
            <a:endParaRPr lang="en-US" sz="1000" b="0" i="0" dirty="0">
              <a:effectLst/>
            </a:endParaRPr>
          </a:p>
        </p:txBody>
      </p:sp>
      <p:sp>
        <p:nvSpPr>
          <p:cNvPr id="28" name="TextBox 27">
            <a:extLst>
              <a:ext uri="{FF2B5EF4-FFF2-40B4-BE49-F238E27FC236}">
                <a16:creationId xmlns:a16="http://schemas.microsoft.com/office/drawing/2014/main" id="{79FE35C6-F92F-5BE7-AA6E-77E3C04C7949}"/>
              </a:ext>
            </a:extLst>
          </p:cNvPr>
          <p:cNvSpPr txBox="1"/>
          <p:nvPr/>
        </p:nvSpPr>
        <p:spPr>
          <a:xfrm>
            <a:off x="735628" y="5404082"/>
            <a:ext cx="5236720" cy="430887"/>
          </a:xfrm>
          <a:prstGeom prst="rect">
            <a:avLst/>
          </a:prstGeom>
          <a:noFill/>
        </p:spPr>
        <p:txBody>
          <a:bodyPr wrap="square">
            <a:spAutoFit/>
          </a:bodyPr>
          <a:lstStyle/>
          <a:p>
            <a:r>
              <a:rPr lang="en-US" sz="1050" b="0" i="1" dirty="0">
                <a:effectLst/>
              </a:rPr>
              <a:t>The database name must match the Data Source name defined in the JDE OCM. Incorrect names may lead to failed connections or incorrect environment targeting.</a:t>
            </a:r>
            <a:endParaRPr lang="en-AR" sz="1050" i="1" dirty="0"/>
          </a:p>
        </p:txBody>
      </p:sp>
      <p:pic>
        <p:nvPicPr>
          <p:cNvPr id="31" name="Picture 30">
            <a:extLst>
              <a:ext uri="{FF2B5EF4-FFF2-40B4-BE49-F238E27FC236}">
                <a16:creationId xmlns:a16="http://schemas.microsoft.com/office/drawing/2014/main" id="{A55357A6-95D7-5731-265D-6EF16658000C}"/>
              </a:ext>
            </a:extLst>
          </p:cNvPr>
          <p:cNvPicPr>
            <a:picLocks noChangeAspect="1"/>
          </p:cNvPicPr>
          <p:nvPr/>
        </p:nvPicPr>
        <p:blipFill>
          <a:blip r:embed="rId5"/>
          <a:stretch>
            <a:fillRect/>
          </a:stretch>
        </p:blipFill>
        <p:spPr>
          <a:xfrm>
            <a:off x="0" y="0"/>
            <a:ext cx="9144000" cy="644018"/>
          </a:xfrm>
          <a:prstGeom prst="rect">
            <a:avLst/>
          </a:prstGeom>
        </p:spPr>
      </p:pic>
      <p:sp>
        <p:nvSpPr>
          <p:cNvPr id="32" name="Title 1">
            <a:extLst>
              <a:ext uri="{FF2B5EF4-FFF2-40B4-BE49-F238E27FC236}">
                <a16:creationId xmlns:a16="http://schemas.microsoft.com/office/drawing/2014/main" id="{8CED3A17-EA3B-2AEE-99FC-DF6B30B6911D}"/>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2 – Microserver Installation - Configuration</a:t>
            </a:r>
          </a:p>
        </p:txBody>
      </p:sp>
      <p:grpSp>
        <p:nvGrpSpPr>
          <p:cNvPr id="18" name="Group 17">
            <a:extLst>
              <a:ext uri="{FF2B5EF4-FFF2-40B4-BE49-F238E27FC236}">
                <a16:creationId xmlns:a16="http://schemas.microsoft.com/office/drawing/2014/main" id="{D9E1806F-AE03-0A78-FB32-4359D6459449}"/>
              </a:ext>
            </a:extLst>
          </p:cNvPr>
          <p:cNvGrpSpPr/>
          <p:nvPr/>
        </p:nvGrpSpPr>
        <p:grpSpPr>
          <a:xfrm>
            <a:off x="6873892" y="146387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19" name="Rounded Rectangle 18">
              <a:extLst>
                <a:ext uri="{FF2B5EF4-FFF2-40B4-BE49-F238E27FC236}">
                  <a16:creationId xmlns:a16="http://schemas.microsoft.com/office/drawing/2014/main" id="{7E522EA4-EEC7-C123-D73A-A79FDB5B46BD}"/>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0" name="Rounded Rectangle 4">
              <a:extLst>
                <a:ext uri="{FF2B5EF4-FFF2-40B4-BE49-F238E27FC236}">
                  <a16:creationId xmlns:a16="http://schemas.microsoft.com/office/drawing/2014/main" id="{547D6AB7-BB92-5E7F-4E9B-93EFF4AE453F}"/>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5" name="Group 24">
            <a:extLst>
              <a:ext uri="{FF2B5EF4-FFF2-40B4-BE49-F238E27FC236}">
                <a16:creationId xmlns:a16="http://schemas.microsoft.com/office/drawing/2014/main" id="{FFDC09B1-DCE9-0240-9757-5BFCE673FECC}"/>
              </a:ext>
            </a:extLst>
          </p:cNvPr>
          <p:cNvGrpSpPr/>
          <p:nvPr/>
        </p:nvGrpSpPr>
        <p:grpSpPr>
          <a:xfrm rot="5400000">
            <a:off x="7636847" y="1773332"/>
            <a:ext cx="213569" cy="217113"/>
            <a:chOff x="2225367" y="901313"/>
            <a:chExt cx="432290" cy="505697"/>
          </a:xfrm>
        </p:grpSpPr>
        <p:sp>
          <p:nvSpPr>
            <p:cNvPr id="27" name="Right Arrow 26">
              <a:extLst>
                <a:ext uri="{FF2B5EF4-FFF2-40B4-BE49-F238E27FC236}">
                  <a16:creationId xmlns:a16="http://schemas.microsoft.com/office/drawing/2014/main" id="{705A7D9B-E81C-6C9B-731B-86B85713EDF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9" name="Right Arrow 6">
              <a:extLst>
                <a:ext uri="{FF2B5EF4-FFF2-40B4-BE49-F238E27FC236}">
                  <a16:creationId xmlns:a16="http://schemas.microsoft.com/office/drawing/2014/main" id="{BFA4B96E-FC1D-9F4E-76F9-6DED50F142D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0" name="Group 29">
            <a:extLst>
              <a:ext uri="{FF2B5EF4-FFF2-40B4-BE49-F238E27FC236}">
                <a16:creationId xmlns:a16="http://schemas.microsoft.com/office/drawing/2014/main" id="{4ADFDDBC-AD8C-68FE-36A9-F50E12D09F8A}"/>
              </a:ext>
            </a:extLst>
          </p:cNvPr>
          <p:cNvGrpSpPr/>
          <p:nvPr/>
        </p:nvGrpSpPr>
        <p:grpSpPr>
          <a:xfrm>
            <a:off x="6873892" y="2020634"/>
            <a:ext cx="1862940" cy="279265"/>
            <a:chOff x="6822" y="542430"/>
            <a:chExt cx="2039104" cy="533039"/>
          </a:xfrm>
        </p:grpSpPr>
        <p:sp>
          <p:nvSpPr>
            <p:cNvPr id="33" name="Rounded Rectangle 32">
              <a:extLst>
                <a:ext uri="{FF2B5EF4-FFF2-40B4-BE49-F238E27FC236}">
                  <a16:creationId xmlns:a16="http://schemas.microsoft.com/office/drawing/2014/main" id="{AA85DB17-EA47-9862-7391-F40382D2E13B}"/>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4" name="Rounded Rectangle 4">
              <a:extLst>
                <a:ext uri="{FF2B5EF4-FFF2-40B4-BE49-F238E27FC236}">
                  <a16:creationId xmlns:a16="http://schemas.microsoft.com/office/drawing/2014/main" id="{6AC14F96-93A5-6446-15D8-763903434CD1}"/>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5" name="Group 34">
            <a:extLst>
              <a:ext uri="{FF2B5EF4-FFF2-40B4-BE49-F238E27FC236}">
                <a16:creationId xmlns:a16="http://schemas.microsoft.com/office/drawing/2014/main" id="{C73DBDFE-9912-D66A-81D8-C5FADF95D36B}"/>
              </a:ext>
            </a:extLst>
          </p:cNvPr>
          <p:cNvGrpSpPr/>
          <p:nvPr/>
        </p:nvGrpSpPr>
        <p:grpSpPr>
          <a:xfrm rot="5400000">
            <a:off x="7635665" y="2338333"/>
            <a:ext cx="213569" cy="217113"/>
            <a:chOff x="2225367" y="901313"/>
            <a:chExt cx="432290" cy="505697"/>
          </a:xfrm>
        </p:grpSpPr>
        <p:sp>
          <p:nvSpPr>
            <p:cNvPr id="36" name="Right Arrow 35">
              <a:extLst>
                <a:ext uri="{FF2B5EF4-FFF2-40B4-BE49-F238E27FC236}">
                  <a16:creationId xmlns:a16="http://schemas.microsoft.com/office/drawing/2014/main" id="{9DD5EAF0-4677-BC16-D2EF-CE85B8719A23}"/>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7" name="Right Arrow 6">
              <a:extLst>
                <a:ext uri="{FF2B5EF4-FFF2-40B4-BE49-F238E27FC236}">
                  <a16:creationId xmlns:a16="http://schemas.microsoft.com/office/drawing/2014/main" id="{835BE634-EA58-79CB-347A-364AB500346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4027B3C8-F951-1FD0-7969-1A8AC068EDBA}"/>
              </a:ext>
            </a:extLst>
          </p:cNvPr>
          <p:cNvGrpSpPr/>
          <p:nvPr/>
        </p:nvGrpSpPr>
        <p:grpSpPr>
          <a:xfrm>
            <a:off x="6872709" y="259782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9" name="Rounded Rectangle 38">
              <a:extLst>
                <a:ext uri="{FF2B5EF4-FFF2-40B4-BE49-F238E27FC236}">
                  <a16:creationId xmlns:a16="http://schemas.microsoft.com/office/drawing/2014/main" id="{97473C95-87C1-290F-A50A-C72DED42ECD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0" name="Rounded Rectangle 4">
              <a:extLst>
                <a:ext uri="{FF2B5EF4-FFF2-40B4-BE49-F238E27FC236}">
                  <a16:creationId xmlns:a16="http://schemas.microsoft.com/office/drawing/2014/main" id="{36AD00C6-9144-60C3-2113-B5A277D45966}"/>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41" name="Group 40">
            <a:extLst>
              <a:ext uri="{FF2B5EF4-FFF2-40B4-BE49-F238E27FC236}">
                <a16:creationId xmlns:a16="http://schemas.microsoft.com/office/drawing/2014/main" id="{3AE770E6-31EB-6C38-AFF3-05014B4E8E07}"/>
              </a:ext>
            </a:extLst>
          </p:cNvPr>
          <p:cNvGrpSpPr/>
          <p:nvPr/>
        </p:nvGrpSpPr>
        <p:grpSpPr>
          <a:xfrm>
            <a:off x="6872709" y="316053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2" name="Rounded Rectangle 41">
              <a:extLst>
                <a:ext uri="{FF2B5EF4-FFF2-40B4-BE49-F238E27FC236}">
                  <a16:creationId xmlns:a16="http://schemas.microsoft.com/office/drawing/2014/main" id="{6E2EED41-F293-AFC1-648D-4FE05AC37E7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3" name="Rounded Rectangle 4">
              <a:extLst>
                <a:ext uri="{FF2B5EF4-FFF2-40B4-BE49-F238E27FC236}">
                  <a16:creationId xmlns:a16="http://schemas.microsoft.com/office/drawing/2014/main" id="{FD523A1E-FF14-E2BC-CFBE-36A0D082C19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44" name="Group 43">
            <a:extLst>
              <a:ext uri="{FF2B5EF4-FFF2-40B4-BE49-F238E27FC236}">
                <a16:creationId xmlns:a16="http://schemas.microsoft.com/office/drawing/2014/main" id="{30A9C23D-CE07-0930-BC49-EF13E0C72F95}"/>
              </a:ext>
            </a:extLst>
          </p:cNvPr>
          <p:cNvGrpSpPr/>
          <p:nvPr/>
        </p:nvGrpSpPr>
        <p:grpSpPr>
          <a:xfrm rot="5400000">
            <a:off x="7635664" y="2913228"/>
            <a:ext cx="213569" cy="217113"/>
            <a:chOff x="2225367" y="901313"/>
            <a:chExt cx="432290" cy="505697"/>
          </a:xfrm>
        </p:grpSpPr>
        <p:sp>
          <p:nvSpPr>
            <p:cNvPr id="45" name="Right Arrow 44">
              <a:extLst>
                <a:ext uri="{FF2B5EF4-FFF2-40B4-BE49-F238E27FC236}">
                  <a16:creationId xmlns:a16="http://schemas.microsoft.com/office/drawing/2014/main" id="{A14E50BB-778B-BD56-6BB1-FF3BFE6A9C3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6" name="Right Arrow 6">
              <a:extLst>
                <a:ext uri="{FF2B5EF4-FFF2-40B4-BE49-F238E27FC236}">
                  <a16:creationId xmlns:a16="http://schemas.microsoft.com/office/drawing/2014/main" id="{81AC5DE6-9982-38EF-AB29-87C31705C00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6975C336-A8F3-B4D7-5307-7AE1A7A80025}"/>
              </a:ext>
            </a:extLst>
          </p:cNvPr>
          <p:cNvGrpSpPr/>
          <p:nvPr/>
        </p:nvGrpSpPr>
        <p:grpSpPr>
          <a:xfrm rot="5400000">
            <a:off x="7635664" y="3469984"/>
            <a:ext cx="213569" cy="217113"/>
            <a:chOff x="2225367" y="901313"/>
            <a:chExt cx="432290" cy="505697"/>
          </a:xfrm>
        </p:grpSpPr>
        <p:sp>
          <p:nvSpPr>
            <p:cNvPr id="48" name="Right Arrow 47">
              <a:extLst>
                <a:ext uri="{FF2B5EF4-FFF2-40B4-BE49-F238E27FC236}">
                  <a16:creationId xmlns:a16="http://schemas.microsoft.com/office/drawing/2014/main" id="{483A955C-477F-3E79-4AF2-AE6BB6927E6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9" name="Right Arrow 6">
              <a:extLst>
                <a:ext uri="{FF2B5EF4-FFF2-40B4-BE49-F238E27FC236}">
                  <a16:creationId xmlns:a16="http://schemas.microsoft.com/office/drawing/2014/main" id="{3C505D76-BC54-069D-B028-410D9755172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0" name="Group 49">
            <a:extLst>
              <a:ext uri="{FF2B5EF4-FFF2-40B4-BE49-F238E27FC236}">
                <a16:creationId xmlns:a16="http://schemas.microsoft.com/office/drawing/2014/main" id="{4E1DE33D-22CB-AED6-E405-BCCFA71E9FA2}"/>
              </a:ext>
            </a:extLst>
          </p:cNvPr>
          <p:cNvGrpSpPr/>
          <p:nvPr/>
        </p:nvGrpSpPr>
        <p:grpSpPr>
          <a:xfrm>
            <a:off x="6872709" y="371125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1" name="Rounded Rectangle 50">
              <a:extLst>
                <a:ext uri="{FF2B5EF4-FFF2-40B4-BE49-F238E27FC236}">
                  <a16:creationId xmlns:a16="http://schemas.microsoft.com/office/drawing/2014/main" id="{0325AA80-E4AF-C219-AEAF-8AFC84ED5F57}"/>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14A93EF1-8355-BC3B-096A-2C7CE327875C}"/>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sp>
        <p:nvSpPr>
          <p:cNvPr id="53" name="Rounded Rectangle 52">
            <a:extLst>
              <a:ext uri="{FF2B5EF4-FFF2-40B4-BE49-F238E27FC236}">
                <a16:creationId xmlns:a16="http://schemas.microsoft.com/office/drawing/2014/main" id="{FBAF8E0D-45AF-5EE5-CF2F-8E008D094D0D}"/>
              </a:ext>
            </a:extLst>
          </p:cNvPr>
          <p:cNvSpPr/>
          <p:nvPr/>
        </p:nvSpPr>
        <p:spPr>
          <a:xfrm>
            <a:off x="2950439" y="3566160"/>
            <a:ext cx="330591" cy="11916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R"/>
          </a:p>
        </p:txBody>
      </p:sp>
      <p:sp>
        <p:nvSpPr>
          <p:cNvPr id="54" name="Rounded Rectangle 53">
            <a:extLst>
              <a:ext uri="{FF2B5EF4-FFF2-40B4-BE49-F238E27FC236}">
                <a16:creationId xmlns:a16="http://schemas.microsoft.com/office/drawing/2014/main" id="{9E816B7A-8CB0-D8E8-F6DC-B595D3FA0A3F}"/>
              </a:ext>
            </a:extLst>
          </p:cNvPr>
          <p:cNvSpPr/>
          <p:nvPr/>
        </p:nvSpPr>
        <p:spPr>
          <a:xfrm>
            <a:off x="2687842" y="3833358"/>
            <a:ext cx="330591" cy="11916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R"/>
          </a:p>
        </p:txBody>
      </p:sp>
    </p:spTree>
    <p:extLst>
      <p:ext uri="{BB962C8B-B14F-4D97-AF65-F5344CB8AC3E}">
        <p14:creationId xmlns:p14="http://schemas.microsoft.com/office/powerpoint/2010/main" val="3194600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673E-D6BD-9840-E80A-093A1EAB27A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A005AEE-BE2F-4B1E-1AD6-0E9B31E5279D}"/>
              </a:ext>
            </a:extLst>
          </p:cNvPr>
          <p:cNvSpPr txBox="1"/>
          <p:nvPr/>
        </p:nvSpPr>
        <p:spPr>
          <a:xfrm>
            <a:off x="599440" y="1330641"/>
            <a:ext cx="5642474" cy="307777"/>
          </a:xfrm>
          <a:prstGeom prst="rect">
            <a:avLst/>
          </a:prstGeom>
          <a:noFill/>
        </p:spPr>
        <p:txBody>
          <a:bodyPr wrap="square">
            <a:spAutoFit/>
          </a:bodyPr>
          <a:lstStyle/>
          <a:p>
            <a:r>
              <a:rPr lang="en-US" sz="1400" b="1" i="0" dirty="0">
                <a:effectLst/>
              </a:rPr>
              <a:t>Step 2 –</a:t>
            </a:r>
            <a:r>
              <a:rPr lang="en-US" sz="1400" i="0" dirty="0">
                <a:effectLst/>
              </a:rPr>
              <a:t> (Cont.) </a:t>
            </a:r>
            <a:r>
              <a:rPr lang="en-US" sz="1400" dirty="0"/>
              <a:t>Create volumes folders</a:t>
            </a:r>
          </a:p>
        </p:txBody>
      </p:sp>
      <p:pic>
        <p:nvPicPr>
          <p:cNvPr id="31" name="Picture 30">
            <a:extLst>
              <a:ext uri="{FF2B5EF4-FFF2-40B4-BE49-F238E27FC236}">
                <a16:creationId xmlns:a16="http://schemas.microsoft.com/office/drawing/2014/main" id="{95102C25-2AE2-8A08-8D49-7CE647C648B7}"/>
              </a:ext>
            </a:extLst>
          </p:cNvPr>
          <p:cNvPicPr>
            <a:picLocks noChangeAspect="1"/>
          </p:cNvPicPr>
          <p:nvPr/>
        </p:nvPicPr>
        <p:blipFill>
          <a:blip r:embed="rId3"/>
          <a:stretch>
            <a:fillRect/>
          </a:stretch>
        </p:blipFill>
        <p:spPr>
          <a:xfrm>
            <a:off x="0" y="0"/>
            <a:ext cx="9144000" cy="644018"/>
          </a:xfrm>
          <a:prstGeom prst="rect">
            <a:avLst/>
          </a:prstGeom>
        </p:spPr>
      </p:pic>
      <p:sp>
        <p:nvSpPr>
          <p:cNvPr id="32" name="Title 1">
            <a:extLst>
              <a:ext uri="{FF2B5EF4-FFF2-40B4-BE49-F238E27FC236}">
                <a16:creationId xmlns:a16="http://schemas.microsoft.com/office/drawing/2014/main" id="{CB43E22E-A010-85F1-BEDF-E39EB4E3D9E5}"/>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2 (C) – Microserver Installation - Volumes</a:t>
            </a:r>
          </a:p>
        </p:txBody>
      </p:sp>
      <p:grpSp>
        <p:nvGrpSpPr>
          <p:cNvPr id="18" name="Group 17">
            <a:extLst>
              <a:ext uri="{FF2B5EF4-FFF2-40B4-BE49-F238E27FC236}">
                <a16:creationId xmlns:a16="http://schemas.microsoft.com/office/drawing/2014/main" id="{29638F2E-081B-1275-04FA-7F94DD27C4D0}"/>
              </a:ext>
            </a:extLst>
          </p:cNvPr>
          <p:cNvGrpSpPr/>
          <p:nvPr/>
        </p:nvGrpSpPr>
        <p:grpSpPr>
          <a:xfrm>
            <a:off x="6873892" y="146387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19" name="Rounded Rectangle 18">
              <a:extLst>
                <a:ext uri="{FF2B5EF4-FFF2-40B4-BE49-F238E27FC236}">
                  <a16:creationId xmlns:a16="http://schemas.microsoft.com/office/drawing/2014/main" id="{9A4025E7-7963-8FB2-FC0A-7767DA32FCDD}"/>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0" name="Rounded Rectangle 4">
              <a:extLst>
                <a:ext uri="{FF2B5EF4-FFF2-40B4-BE49-F238E27FC236}">
                  <a16:creationId xmlns:a16="http://schemas.microsoft.com/office/drawing/2014/main" id="{385D86F3-C6A1-1189-B450-994C40AF0AEF}"/>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5" name="Group 24">
            <a:extLst>
              <a:ext uri="{FF2B5EF4-FFF2-40B4-BE49-F238E27FC236}">
                <a16:creationId xmlns:a16="http://schemas.microsoft.com/office/drawing/2014/main" id="{1FC499D4-428B-D5AE-F032-12C526DB23B3}"/>
              </a:ext>
            </a:extLst>
          </p:cNvPr>
          <p:cNvGrpSpPr/>
          <p:nvPr/>
        </p:nvGrpSpPr>
        <p:grpSpPr>
          <a:xfrm rot="5400000">
            <a:off x="7636847" y="1773332"/>
            <a:ext cx="213569" cy="217113"/>
            <a:chOff x="2225367" y="901313"/>
            <a:chExt cx="432290" cy="505697"/>
          </a:xfrm>
        </p:grpSpPr>
        <p:sp>
          <p:nvSpPr>
            <p:cNvPr id="27" name="Right Arrow 26">
              <a:extLst>
                <a:ext uri="{FF2B5EF4-FFF2-40B4-BE49-F238E27FC236}">
                  <a16:creationId xmlns:a16="http://schemas.microsoft.com/office/drawing/2014/main" id="{AD6AF9BA-1AAF-1D45-A1AC-F16458C610A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9" name="Right Arrow 6">
              <a:extLst>
                <a:ext uri="{FF2B5EF4-FFF2-40B4-BE49-F238E27FC236}">
                  <a16:creationId xmlns:a16="http://schemas.microsoft.com/office/drawing/2014/main" id="{DC9F3556-5CF6-3F27-575F-15748054239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0" name="Group 29">
            <a:extLst>
              <a:ext uri="{FF2B5EF4-FFF2-40B4-BE49-F238E27FC236}">
                <a16:creationId xmlns:a16="http://schemas.microsoft.com/office/drawing/2014/main" id="{54A7BB9D-8F39-4FEB-EFB2-67E0826F399F}"/>
              </a:ext>
            </a:extLst>
          </p:cNvPr>
          <p:cNvGrpSpPr/>
          <p:nvPr/>
        </p:nvGrpSpPr>
        <p:grpSpPr>
          <a:xfrm>
            <a:off x="6873892" y="2020634"/>
            <a:ext cx="1862940" cy="279265"/>
            <a:chOff x="6822" y="542430"/>
            <a:chExt cx="2039104" cy="533039"/>
          </a:xfrm>
        </p:grpSpPr>
        <p:sp>
          <p:nvSpPr>
            <p:cNvPr id="33" name="Rounded Rectangle 32">
              <a:extLst>
                <a:ext uri="{FF2B5EF4-FFF2-40B4-BE49-F238E27FC236}">
                  <a16:creationId xmlns:a16="http://schemas.microsoft.com/office/drawing/2014/main" id="{42E9FA5E-2A30-B1F8-AC58-EA0E9644C12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4" name="Rounded Rectangle 4">
              <a:extLst>
                <a:ext uri="{FF2B5EF4-FFF2-40B4-BE49-F238E27FC236}">
                  <a16:creationId xmlns:a16="http://schemas.microsoft.com/office/drawing/2014/main" id="{B934066A-FD46-079E-12EB-5BBB5BD2AA89}"/>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5" name="Group 34">
            <a:extLst>
              <a:ext uri="{FF2B5EF4-FFF2-40B4-BE49-F238E27FC236}">
                <a16:creationId xmlns:a16="http://schemas.microsoft.com/office/drawing/2014/main" id="{1822416A-3B55-AE9C-20C2-25BB1FD02C3C}"/>
              </a:ext>
            </a:extLst>
          </p:cNvPr>
          <p:cNvGrpSpPr/>
          <p:nvPr/>
        </p:nvGrpSpPr>
        <p:grpSpPr>
          <a:xfrm rot="5400000">
            <a:off x="7635665" y="2338333"/>
            <a:ext cx="213569" cy="217113"/>
            <a:chOff x="2225367" y="901313"/>
            <a:chExt cx="432290" cy="505697"/>
          </a:xfrm>
        </p:grpSpPr>
        <p:sp>
          <p:nvSpPr>
            <p:cNvPr id="36" name="Right Arrow 35">
              <a:extLst>
                <a:ext uri="{FF2B5EF4-FFF2-40B4-BE49-F238E27FC236}">
                  <a16:creationId xmlns:a16="http://schemas.microsoft.com/office/drawing/2014/main" id="{402D073E-358C-7EF2-FD06-3E953E67936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7" name="Right Arrow 6">
              <a:extLst>
                <a:ext uri="{FF2B5EF4-FFF2-40B4-BE49-F238E27FC236}">
                  <a16:creationId xmlns:a16="http://schemas.microsoft.com/office/drawing/2014/main" id="{0D5349C0-8D59-9F1A-2C15-2A12B71D9C3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9298D62A-4FCE-13F7-F1FE-8988E8292AFE}"/>
              </a:ext>
            </a:extLst>
          </p:cNvPr>
          <p:cNvGrpSpPr/>
          <p:nvPr/>
        </p:nvGrpSpPr>
        <p:grpSpPr>
          <a:xfrm>
            <a:off x="6872709" y="259782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9" name="Rounded Rectangle 38">
              <a:extLst>
                <a:ext uri="{FF2B5EF4-FFF2-40B4-BE49-F238E27FC236}">
                  <a16:creationId xmlns:a16="http://schemas.microsoft.com/office/drawing/2014/main" id="{0212D8E7-CEDA-928B-EB81-B1A3320EE062}"/>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0" name="Rounded Rectangle 4">
              <a:extLst>
                <a:ext uri="{FF2B5EF4-FFF2-40B4-BE49-F238E27FC236}">
                  <a16:creationId xmlns:a16="http://schemas.microsoft.com/office/drawing/2014/main" id="{278A4343-4E8E-686F-927B-8D9DAA8A7FF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41" name="Group 40">
            <a:extLst>
              <a:ext uri="{FF2B5EF4-FFF2-40B4-BE49-F238E27FC236}">
                <a16:creationId xmlns:a16="http://schemas.microsoft.com/office/drawing/2014/main" id="{5677E961-3DE5-D837-6799-FCCDFC71B0C8}"/>
              </a:ext>
            </a:extLst>
          </p:cNvPr>
          <p:cNvGrpSpPr/>
          <p:nvPr/>
        </p:nvGrpSpPr>
        <p:grpSpPr>
          <a:xfrm>
            <a:off x="6872709" y="316053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2" name="Rounded Rectangle 41">
              <a:extLst>
                <a:ext uri="{FF2B5EF4-FFF2-40B4-BE49-F238E27FC236}">
                  <a16:creationId xmlns:a16="http://schemas.microsoft.com/office/drawing/2014/main" id="{2E87EFB9-3817-BDA6-4C8B-E6F28B021EC6}"/>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3" name="Rounded Rectangle 4">
              <a:extLst>
                <a:ext uri="{FF2B5EF4-FFF2-40B4-BE49-F238E27FC236}">
                  <a16:creationId xmlns:a16="http://schemas.microsoft.com/office/drawing/2014/main" id="{26EA972C-A713-DC23-7AB3-C2179607DDFC}"/>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44" name="Group 43">
            <a:extLst>
              <a:ext uri="{FF2B5EF4-FFF2-40B4-BE49-F238E27FC236}">
                <a16:creationId xmlns:a16="http://schemas.microsoft.com/office/drawing/2014/main" id="{14715889-2F4B-1256-C1BC-38343181A6D7}"/>
              </a:ext>
            </a:extLst>
          </p:cNvPr>
          <p:cNvGrpSpPr/>
          <p:nvPr/>
        </p:nvGrpSpPr>
        <p:grpSpPr>
          <a:xfrm rot="5400000">
            <a:off x="7635664" y="2913228"/>
            <a:ext cx="213569" cy="217113"/>
            <a:chOff x="2225367" y="901313"/>
            <a:chExt cx="432290" cy="505697"/>
          </a:xfrm>
        </p:grpSpPr>
        <p:sp>
          <p:nvSpPr>
            <p:cNvPr id="45" name="Right Arrow 44">
              <a:extLst>
                <a:ext uri="{FF2B5EF4-FFF2-40B4-BE49-F238E27FC236}">
                  <a16:creationId xmlns:a16="http://schemas.microsoft.com/office/drawing/2014/main" id="{902697DD-12C6-B51B-E0F7-7FAF8884EC76}"/>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6" name="Right Arrow 6">
              <a:extLst>
                <a:ext uri="{FF2B5EF4-FFF2-40B4-BE49-F238E27FC236}">
                  <a16:creationId xmlns:a16="http://schemas.microsoft.com/office/drawing/2014/main" id="{11F05D95-6606-7C9E-DCCE-DAE973772B2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4BB53DF6-D0A7-30FA-8064-A3FB9505E1FB}"/>
              </a:ext>
            </a:extLst>
          </p:cNvPr>
          <p:cNvGrpSpPr/>
          <p:nvPr/>
        </p:nvGrpSpPr>
        <p:grpSpPr>
          <a:xfrm rot="5400000">
            <a:off x="7635664" y="3469984"/>
            <a:ext cx="213569" cy="217113"/>
            <a:chOff x="2225367" y="901313"/>
            <a:chExt cx="432290" cy="505697"/>
          </a:xfrm>
        </p:grpSpPr>
        <p:sp>
          <p:nvSpPr>
            <p:cNvPr id="48" name="Right Arrow 47">
              <a:extLst>
                <a:ext uri="{FF2B5EF4-FFF2-40B4-BE49-F238E27FC236}">
                  <a16:creationId xmlns:a16="http://schemas.microsoft.com/office/drawing/2014/main" id="{49AEC36D-0032-D655-6EB3-BE0C12CF09D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9" name="Right Arrow 6">
              <a:extLst>
                <a:ext uri="{FF2B5EF4-FFF2-40B4-BE49-F238E27FC236}">
                  <a16:creationId xmlns:a16="http://schemas.microsoft.com/office/drawing/2014/main" id="{E8078EF3-732C-7F39-0663-BD5BBC8004B1}"/>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0" name="Group 49">
            <a:extLst>
              <a:ext uri="{FF2B5EF4-FFF2-40B4-BE49-F238E27FC236}">
                <a16:creationId xmlns:a16="http://schemas.microsoft.com/office/drawing/2014/main" id="{C6B6F87E-E679-4BF8-978C-D31C2A68E43A}"/>
              </a:ext>
            </a:extLst>
          </p:cNvPr>
          <p:cNvGrpSpPr/>
          <p:nvPr/>
        </p:nvGrpSpPr>
        <p:grpSpPr>
          <a:xfrm>
            <a:off x="6872709" y="371125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1" name="Rounded Rectangle 50">
              <a:extLst>
                <a:ext uri="{FF2B5EF4-FFF2-40B4-BE49-F238E27FC236}">
                  <a16:creationId xmlns:a16="http://schemas.microsoft.com/office/drawing/2014/main" id="{1A1A2F60-FB7A-AB22-C6B1-DA92864FC9D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61ADAAE3-5F57-399C-036B-4C31F7CA520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 </a:t>
              </a:r>
              <a:r>
                <a:rPr lang="en-US" sz="1050" b="1" i="0" kern="1200" dirty="0" err="1"/>
                <a:t>Deplo</a:t>
              </a:r>
              <a:endParaRPr lang="en-US" sz="1050" kern="1200" dirty="0"/>
            </a:p>
          </p:txBody>
        </p:sp>
      </p:grpSp>
      <p:sp>
        <p:nvSpPr>
          <p:cNvPr id="2" name="TextBox 1">
            <a:extLst>
              <a:ext uri="{FF2B5EF4-FFF2-40B4-BE49-F238E27FC236}">
                <a16:creationId xmlns:a16="http://schemas.microsoft.com/office/drawing/2014/main" id="{10309D2B-4D5F-1DAA-93A4-CCF3DB7027F2}"/>
              </a:ext>
            </a:extLst>
          </p:cNvPr>
          <p:cNvSpPr txBox="1"/>
          <p:nvPr/>
        </p:nvSpPr>
        <p:spPr>
          <a:xfrm>
            <a:off x="599440" y="1972563"/>
            <a:ext cx="5337016" cy="307777"/>
          </a:xfrm>
          <a:prstGeom prst="rect">
            <a:avLst/>
          </a:prstGeom>
          <a:noFill/>
        </p:spPr>
        <p:txBody>
          <a:bodyPr wrap="square">
            <a:spAutoFit/>
          </a:bodyPr>
          <a:lstStyle/>
          <a:p>
            <a:r>
              <a:rPr lang="en-US" sz="1400" b="0" i="0" dirty="0">
                <a:effectLst/>
              </a:rPr>
              <a:t>Create the following directories:</a:t>
            </a:r>
            <a:endParaRPr lang="en-AR" sz="1400" dirty="0"/>
          </a:p>
        </p:txBody>
      </p:sp>
      <p:sp>
        <p:nvSpPr>
          <p:cNvPr id="3" name="TextBox 2">
            <a:extLst>
              <a:ext uri="{FF2B5EF4-FFF2-40B4-BE49-F238E27FC236}">
                <a16:creationId xmlns:a16="http://schemas.microsoft.com/office/drawing/2014/main" id="{0C1642F4-6891-412F-2EF7-286F4E214B43}"/>
              </a:ext>
            </a:extLst>
          </p:cNvPr>
          <p:cNvSpPr txBox="1"/>
          <p:nvPr/>
        </p:nvSpPr>
        <p:spPr>
          <a:xfrm>
            <a:off x="599440" y="4367745"/>
            <a:ext cx="5804218" cy="646331"/>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mkdir -p </a:t>
            </a:r>
            <a:r>
              <a:rPr lang="en-US" sz="1200" noProof="1">
                <a:latin typeface="Consolas" panose="020B0609020204030204" pitchFamily="49" charset="0"/>
                <a:cs typeface="Consolas" panose="020B0609020204030204" pitchFamily="49" charset="0"/>
              </a:rPr>
              <a:t>~/jde/data/logs </a:t>
            </a:r>
            <a:r>
              <a:rPr lang="en-US" sz="1200" noProof="1">
                <a:solidFill>
                  <a:srgbClr val="FF0000"/>
                </a:solidFill>
                <a:latin typeface="Consolas" panose="020B0609020204030204" pitchFamily="49" charset="0"/>
                <a:cs typeface="Consolas" panose="020B0609020204030204" pitchFamily="49" charset="0"/>
              </a:rPr>
              <a:t>\</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~/jde/data/tmp</a:t>
            </a:r>
            <a:r>
              <a:rPr lang="en-US" sz="1200" noProof="1">
                <a:solidFill>
                  <a:srgbClr val="FF0000"/>
                </a:solidFill>
                <a:latin typeface="Consolas" panose="020B0609020204030204" pitchFamily="49" charset="0"/>
                <a:cs typeface="Consolas" panose="020B0609020204030204" pitchFamily="49" charset="0"/>
              </a:rPr>
              <a:t> \</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~/jde/data/jdelog</a:t>
            </a:r>
            <a:endParaRPr lang="en-US" sz="1200" noProof="1">
              <a:solidFill>
                <a:srgbClr val="FF0000"/>
              </a:solidFill>
              <a:latin typeface="Consolas" panose="020B0609020204030204" pitchFamily="49" charset="0"/>
              <a:cs typeface="Consolas" panose="020B0609020204030204" pitchFamily="49" charset="0"/>
            </a:endParaRPr>
          </a:p>
        </p:txBody>
      </p:sp>
      <p:pic>
        <p:nvPicPr>
          <p:cNvPr id="5" name="Picture 4">
            <a:extLst>
              <a:ext uri="{FF2B5EF4-FFF2-40B4-BE49-F238E27FC236}">
                <a16:creationId xmlns:a16="http://schemas.microsoft.com/office/drawing/2014/main" id="{ECD964F4-E3B2-224B-032A-B28BC3D7BB16}"/>
              </a:ext>
            </a:extLst>
          </p:cNvPr>
          <p:cNvPicPr>
            <a:picLocks noChangeAspect="1"/>
          </p:cNvPicPr>
          <p:nvPr/>
        </p:nvPicPr>
        <p:blipFill>
          <a:blip r:embed="rId4"/>
          <a:stretch>
            <a:fillRect/>
          </a:stretch>
        </p:blipFill>
        <p:spPr>
          <a:xfrm>
            <a:off x="599440" y="2680097"/>
            <a:ext cx="5979148" cy="748903"/>
          </a:xfrm>
          <a:prstGeom prst="rect">
            <a:avLst/>
          </a:prstGeom>
        </p:spPr>
      </p:pic>
      <p:sp>
        <p:nvSpPr>
          <p:cNvPr id="6" name="Double Brace 5">
            <a:extLst>
              <a:ext uri="{FF2B5EF4-FFF2-40B4-BE49-F238E27FC236}">
                <a16:creationId xmlns:a16="http://schemas.microsoft.com/office/drawing/2014/main" id="{8AF047ED-EED5-F08C-590C-8E42B126E477}"/>
              </a:ext>
            </a:extLst>
          </p:cNvPr>
          <p:cNvSpPr/>
          <p:nvPr/>
        </p:nvSpPr>
        <p:spPr>
          <a:xfrm>
            <a:off x="659525" y="2866589"/>
            <a:ext cx="2842024" cy="375918"/>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R"/>
          </a:p>
        </p:txBody>
      </p:sp>
    </p:spTree>
    <p:extLst>
      <p:ext uri="{BB962C8B-B14F-4D97-AF65-F5344CB8AC3E}">
        <p14:creationId xmlns:p14="http://schemas.microsoft.com/office/powerpoint/2010/main" val="637888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442DB-D796-E2E3-34AF-C11E197BDBD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4A92119-9DD0-222F-1C1D-7A87BEC34033}"/>
              </a:ext>
            </a:extLst>
          </p:cNvPr>
          <p:cNvSpPr txBox="1"/>
          <p:nvPr/>
        </p:nvSpPr>
        <p:spPr>
          <a:xfrm>
            <a:off x="599440" y="1330161"/>
            <a:ext cx="7945120" cy="307777"/>
          </a:xfrm>
          <a:prstGeom prst="rect">
            <a:avLst/>
          </a:prstGeom>
          <a:noFill/>
        </p:spPr>
        <p:txBody>
          <a:bodyPr wrap="square">
            <a:spAutoFit/>
          </a:bodyPr>
          <a:lstStyle/>
          <a:p>
            <a:r>
              <a:rPr lang="en-US" sz="1400" b="1" i="0" dirty="0">
                <a:effectLst/>
              </a:rPr>
              <a:t>Step 3 -</a:t>
            </a:r>
            <a:r>
              <a:rPr lang="en-US" sz="1400" i="0" dirty="0">
                <a:effectLst/>
              </a:rPr>
              <a:t> </a:t>
            </a:r>
            <a:r>
              <a:rPr lang="en-US" sz="1400" dirty="0"/>
              <a:t>Initialize the Container</a:t>
            </a:r>
          </a:p>
        </p:txBody>
      </p:sp>
      <p:sp>
        <p:nvSpPr>
          <p:cNvPr id="5" name="TextBox 4">
            <a:extLst>
              <a:ext uri="{FF2B5EF4-FFF2-40B4-BE49-F238E27FC236}">
                <a16:creationId xmlns:a16="http://schemas.microsoft.com/office/drawing/2014/main" id="{B1EFE975-A8FA-E3A8-8979-5406CDD90B94}"/>
              </a:ext>
            </a:extLst>
          </p:cNvPr>
          <p:cNvSpPr txBox="1"/>
          <p:nvPr/>
        </p:nvSpPr>
        <p:spPr>
          <a:xfrm>
            <a:off x="599438" y="1776282"/>
            <a:ext cx="4572000" cy="307777"/>
          </a:xfrm>
          <a:prstGeom prst="rect">
            <a:avLst/>
          </a:prstGeom>
          <a:noFill/>
        </p:spPr>
        <p:txBody>
          <a:bodyPr wrap="square">
            <a:spAutoFit/>
          </a:bodyPr>
          <a:lstStyle/>
          <a:p>
            <a:r>
              <a:rPr lang="en-US" sz="1400" b="0" i="0" dirty="0">
                <a:effectLst/>
              </a:rPr>
              <a:t>Create the container without starting it:</a:t>
            </a:r>
            <a:endParaRPr lang="en-AR" sz="1400" dirty="0"/>
          </a:p>
        </p:txBody>
      </p:sp>
      <p:sp>
        <p:nvSpPr>
          <p:cNvPr id="10" name="TextBox 9">
            <a:extLst>
              <a:ext uri="{FF2B5EF4-FFF2-40B4-BE49-F238E27FC236}">
                <a16:creationId xmlns:a16="http://schemas.microsoft.com/office/drawing/2014/main" id="{4091154B-DC54-1F56-5927-9F170BDA5564}"/>
              </a:ext>
            </a:extLst>
          </p:cNvPr>
          <p:cNvSpPr txBox="1"/>
          <p:nvPr/>
        </p:nvSpPr>
        <p:spPr>
          <a:xfrm>
            <a:off x="599440" y="2281637"/>
            <a:ext cx="6015673" cy="26161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050" noProof="1">
                <a:solidFill>
                  <a:srgbClr val="FF0000"/>
                </a:solidFill>
                <a:latin typeface="Consolas" panose="020B0609020204030204" pitchFamily="49" charset="0"/>
                <a:cs typeface="Consolas" panose="020B0609020204030204" pitchFamily="49" charset="0"/>
              </a:rPr>
              <a:t>docker-compose -f </a:t>
            </a:r>
            <a:r>
              <a:rPr lang="en-US" sz="1050" noProof="1">
                <a:latin typeface="Consolas" panose="020B0609020204030204" pitchFamily="49" charset="0"/>
                <a:cs typeface="Consolas" panose="020B0609020204030204" pitchFamily="49" charset="0"/>
              </a:rPr>
              <a:t>docker-compose.yml </a:t>
            </a:r>
            <a:r>
              <a:rPr lang="en-US" sz="1050" noProof="1">
                <a:solidFill>
                  <a:srgbClr val="FF0000"/>
                </a:solidFill>
                <a:latin typeface="Consolas" panose="020B0609020204030204" pitchFamily="49" charset="0"/>
                <a:cs typeface="Consolas" panose="020B0609020204030204" pitchFamily="49" charset="0"/>
              </a:rPr>
              <a:t>up --no-start</a:t>
            </a:r>
            <a:endParaRPr lang="en-US" sz="900" b="0" i="0" noProof="1">
              <a:effectLst/>
              <a:latin typeface="Consolas" panose="020B0609020204030204" pitchFamily="49" charset="0"/>
              <a:cs typeface="Consolas" panose="020B0609020204030204" pitchFamily="49" charset="0"/>
            </a:endParaRPr>
          </a:p>
        </p:txBody>
      </p:sp>
      <p:sp>
        <p:nvSpPr>
          <p:cNvPr id="16" name="TextBox 15">
            <a:extLst>
              <a:ext uri="{FF2B5EF4-FFF2-40B4-BE49-F238E27FC236}">
                <a16:creationId xmlns:a16="http://schemas.microsoft.com/office/drawing/2014/main" id="{B393E72D-9BE9-AEE1-13B7-BB14EECCC163}"/>
              </a:ext>
            </a:extLst>
          </p:cNvPr>
          <p:cNvSpPr txBox="1"/>
          <p:nvPr/>
        </p:nvSpPr>
        <p:spPr>
          <a:xfrm>
            <a:off x="599437" y="2747114"/>
            <a:ext cx="7837683" cy="307777"/>
          </a:xfrm>
          <a:prstGeom prst="rect">
            <a:avLst/>
          </a:prstGeom>
          <a:noFill/>
        </p:spPr>
        <p:txBody>
          <a:bodyPr wrap="square">
            <a:spAutoFit/>
          </a:bodyPr>
          <a:lstStyle/>
          <a:p>
            <a:r>
              <a:rPr lang="en-US" sz="1400" b="0" i="0" dirty="0">
                <a:effectLst/>
              </a:rPr>
              <a:t>Copy the configuration and JAR files that were previously generated:</a:t>
            </a:r>
            <a:endParaRPr lang="en-AR" sz="1400" dirty="0"/>
          </a:p>
        </p:txBody>
      </p:sp>
      <p:sp>
        <p:nvSpPr>
          <p:cNvPr id="17" name="TextBox 16">
            <a:extLst>
              <a:ext uri="{FF2B5EF4-FFF2-40B4-BE49-F238E27FC236}">
                <a16:creationId xmlns:a16="http://schemas.microsoft.com/office/drawing/2014/main" id="{44425452-106E-C3A9-F352-5AC91435D570}"/>
              </a:ext>
            </a:extLst>
          </p:cNvPr>
          <p:cNvSpPr txBox="1"/>
          <p:nvPr/>
        </p:nvSpPr>
        <p:spPr>
          <a:xfrm>
            <a:off x="599437" y="3138113"/>
            <a:ext cx="6015674" cy="830997"/>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/tmp/build_jde_libs/service-constants.properties jd-atina-microserver:/var/jdeatinaserver</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/tmp/build_jde_libs/JPS920 jd-atina-microserver:/tmp/jde/config</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/tmp/build_jde_libs/JDV920 jd-atina-microserver:/tmp/jde/config</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 JDEAtinaOverrideServicesConstants-1.0.0.jar jd-atina-microserver:/tmp/jde</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/tmp/build_jde_libs/jde-lib-wrapped-1.0.0.jar jd-atina-microserver:/tmp/jde</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/tmp/build_jde_libs/StdWebService-1.0.0.jar jd-atina-microserver:/tmp/jde</a:t>
            </a:r>
          </a:p>
        </p:txBody>
      </p:sp>
      <p:sp>
        <p:nvSpPr>
          <p:cNvPr id="18" name="TextBox 17">
            <a:extLst>
              <a:ext uri="{FF2B5EF4-FFF2-40B4-BE49-F238E27FC236}">
                <a16:creationId xmlns:a16="http://schemas.microsoft.com/office/drawing/2014/main" id="{9D7C8B2B-415F-9500-7047-70615BBCEF0D}"/>
              </a:ext>
            </a:extLst>
          </p:cNvPr>
          <p:cNvSpPr txBox="1"/>
          <p:nvPr/>
        </p:nvSpPr>
        <p:spPr>
          <a:xfrm>
            <a:off x="599437" y="4170509"/>
            <a:ext cx="7837683" cy="307777"/>
          </a:xfrm>
          <a:prstGeom prst="rect">
            <a:avLst/>
          </a:prstGeom>
          <a:noFill/>
        </p:spPr>
        <p:txBody>
          <a:bodyPr wrap="square">
            <a:spAutoFit/>
          </a:bodyPr>
          <a:lstStyle/>
          <a:p>
            <a:r>
              <a:rPr lang="en-US" sz="1400" dirty="0"/>
              <a:t>Start the Container</a:t>
            </a:r>
          </a:p>
        </p:txBody>
      </p:sp>
      <p:sp>
        <p:nvSpPr>
          <p:cNvPr id="19" name="TextBox 18">
            <a:extLst>
              <a:ext uri="{FF2B5EF4-FFF2-40B4-BE49-F238E27FC236}">
                <a16:creationId xmlns:a16="http://schemas.microsoft.com/office/drawing/2014/main" id="{2454B502-29D8-6A8C-26CF-61E0EBE43CBC}"/>
              </a:ext>
            </a:extLst>
          </p:cNvPr>
          <p:cNvSpPr txBox="1"/>
          <p:nvPr/>
        </p:nvSpPr>
        <p:spPr>
          <a:xfrm>
            <a:off x="599437" y="4667710"/>
            <a:ext cx="6015673" cy="253916"/>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050" noProof="1">
                <a:solidFill>
                  <a:srgbClr val="FF0000"/>
                </a:solidFill>
                <a:latin typeface="Consolas" panose="020B0609020204030204" pitchFamily="49" charset="0"/>
                <a:cs typeface="Consolas" panose="020B0609020204030204" pitchFamily="49" charset="0"/>
              </a:rPr>
              <a:t>docker-compose</a:t>
            </a:r>
            <a:r>
              <a:rPr lang="en-US" sz="1000" noProof="1">
                <a:solidFill>
                  <a:srgbClr val="FF0000"/>
                </a:solidFill>
                <a:latin typeface="Consolas" panose="020B0609020204030204" pitchFamily="49" charset="0"/>
                <a:cs typeface="Consolas" panose="020B0609020204030204" pitchFamily="49" charset="0"/>
              </a:rPr>
              <a:t> -f </a:t>
            </a:r>
            <a:r>
              <a:rPr lang="en-US" sz="1000" noProof="1">
                <a:latin typeface="Consolas" panose="020B0609020204030204" pitchFamily="49" charset="0"/>
                <a:cs typeface="Consolas" panose="020B0609020204030204" pitchFamily="49" charset="0"/>
              </a:rPr>
              <a:t>docker-compose.yml </a:t>
            </a:r>
            <a:r>
              <a:rPr lang="en-US" sz="1000" noProof="1">
                <a:solidFill>
                  <a:srgbClr val="FF0000"/>
                </a:solidFill>
                <a:latin typeface="Consolas" panose="020B0609020204030204" pitchFamily="49" charset="0"/>
                <a:cs typeface="Consolas" panose="020B0609020204030204" pitchFamily="49" charset="0"/>
              </a:rPr>
              <a:t>start</a:t>
            </a:r>
            <a:endParaRPr lang="en-US" sz="800" b="0" i="0" noProof="1">
              <a:effectLst/>
              <a:latin typeface="Consolas" panose="020B0609020204030204" pitchFamily="49" charset="0"/>
              <a:cs typeface="Consolas" panose="020B0609020204030204" pitchFamily="49" charset="0"/>
            </a:endParaRPr>
          </a:p>
        </p:txBody>
      </p:sp>
      <p:pic>
        <p:nvPicPr>
          <p:cNvPr id="22" name="Picture 21">
            <a:extLst>
              <a:ext uri="{FF2B5EF4-FFF2-40B4-BE49-F238E27FC236}">
                <a16:creationId xmlns:a16="http://schemas.microsoft.com/office/drawing/2014/main" id="{28B47553-8814-CF1A-3A90-853485C34F65}"/>
              </a:ext>
            </a:extLst>
          </p:cNvPr>
          <p:cNvPicPr>
            <a:picLocks noChangeAspect="1"/>
          </p:cNvPicPr>
          <p:nvPr/>
        </p:nvPicPr>
        <p:blipFill>
          <a:blip r:embed="rId2"/>
          <a:stretch>
            <a:fillRect/>
          </a:stretch>
        </p:blipFill>
        <p:spPr>
          <a:xfrm>
            <a:off x="0" y="0"/>
            <a:ext cx="9144000" cy="644018"/>
          </a:xfrm>
          <a:prstGeom prst="rect">
            <a:avLst/>
          </a:prstGeom>
        </p:spPr>
      </p:pic>
      <p:sp>
        <p:nvSpPr>
          <p:cNvPr id="23" name="Title 1">
            <a:extLst>
              <a:ext uri="{FF2B5EF4-FFF2-40B4-BE49-F238E27FC236}">
                <a16:creationId xmlns:a16="http://schemas.microsoft.com/office/drawing/2014/main" id="{6162CF6D-89F7-6C3D-5510-A8B64A071E19}"/>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3 – Microserver Installation – Initalize Docker</a:t>
            </a:r>
          </a:p>
        </p:txBody>
      </p:sp>
      <p:grpSp>
        <p:nvGrpSpPr>
          <p:cNvPr id="14" name="Group 13">
            <a:extLst>
              <a:ext uri="{FF2B5EF4-FFF2-40B4-BE49-F238E27FC236}">
                <a16:creationId xmlns:a16="http://schemas.microsoft.com/office/drawing/2014/main" id="{2967ACA8-2B9E-7EE8-E70E-448726648D72}"/>
              </a:ext>
            </a:extLst>
          </p:cNvPr>
          <p:cNvGrpSpPr/>
          <p:nvPr/>
        </p:nvGrpSpPr>
        <p:grpSpPr>
          <a:xfrm>
            <a:off x="6923129" y="144246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15" name="Rounded Rectangle 14">
              <a:extLst>
                <a:ext uri="{FF2B5EF4-FFF2-40B4-BE49-F238E27FC236}">
                  <a16:creationId xmlns:a16="http://schemas.microsoft.com/office/drawing/2014/main" id="{7AA0B717-F4A9-068A-B930-EA124A1D2288}"/>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0" name="Rounded Rectangle 4">
              <a:extLst>
                <a:ext uri="{FF2B5EF4-FFF2-40B4-BE49-F238E27FC236}">
                  <a16:creationId xmlns:a16="http://schemas.microsoft.com/office/drawing/2014/main" id="{EA11D297-6F39-2047-7245-5EC100B0FF7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6" name="Group 25">
            <a:extLst>
              <a:ext uri="{FF2B5EF4-FFF2-40B4-BE49-F238E27FC236}">
                <a16:creationId xmlns:a16="http://schemas.microsoft.com/office/drawing/2014/main" id="{18B11128-E031-DD4B-C1A9-4BC877A8D67B}"/>
              </a:ext>
            </a:extLst>
          </p:cNvPr>
          <p:cNvGrpSpPr/>
          <p:nvPr/>
        </p:nvGrpSpPr>
        <p:grpSpPr>
          <a:xfrm rot="5400000">
            <a:off x="7686084" y="1751921"/>
            <a:ext cx="213569" cy="217113"/>
            <a:chOff x="2225367" y="901313"/>
            <a:chExt cx="432290" cy="505697"/>
          </a:xfrm>
        </p:grpSpPr>
        <p:sp>
          <p:nvSpPr>
            <p:cNvPr id="27" name="Right Arrow 26">
              <a:extLst>
                <a:ext uri="{FF2B5EF4-FFF2-40B4-BE49-F238E27FC236}">
                  <a16:creationId xmlns:a16="http://schemas.microsoft.com/office/drawing/2014/main" id="{FDAA6BC7-0E6D-8B0C-8A1F-FB1B4F50F85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8" name="Right Arrow 6">
              <a:extLst>
                <a:ext uri="{FF2B5EF4-FFF2-40B4-BE49-F238E27FC236}">
                  <a16:creationId xmlns:a16="http://schemas.microsoft.com/office/drawing/2014/main" id="{67198AF1-62BC-51B3-E8CA-DD10694E69A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9" name="Group 28">
            <a:extLst>
              <a:ext uri="{FF2B5EF4-FFF2-40B4-BE49-F238E27FC236}">
                <a16:creationId xmlns:a16="http://schemas.microsoft.com/office/drawing/2014/main" id="{6A211C91-4864-2179-268C-B5B9EE263F8B}"/>
              </a:ext>
            </a:extLst>
          </p:cNvPr>
          <p:cNvGrpSpPr/>
          <p:nvPr/>
        </p:nvGrpSpPr>
        <p:grpSpPr>
          <a:xfrm>
            <a:off x="6923129" y="19992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0" name="Rounded Rectangle 29">
              <a:extLst>
                <a:ext uri="{FF2B5EF4-FFF2-40B4-BE49-F238E27FC236}">
                  <a16:creationId xmlns:a16="http://schemas.microsoft.com/office/drawing/2014/main" id="{04BE3BEF-CEC9-9789-1300-4AFECE71787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1" name="Rounded Rectangle 4">
              <a:extLst>
                <a:ext uri="{FF2B5EF4-FFF2-40B4-BE49-F238E27FC236}">
                  <a16:creationId xmlns:a16="http://schemas.microsoft.com/office/drawing/2014/main" id="{9EEDC028-7AC4-7F0D-FF20-E86434C0B006}"/>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2" name="Group 31">
            <a:extLst>
              <a:ext uri="{FF2B5EF4-FFF2-40B4-BE49-F238E27FC236}">
                <a16:creationId xmlns:a16="http://schemas.microsoft.com/office/drawing/2014/main" id="{39DC4DFB-ABD8-4DE6-E61E-D8AD5E5DD2AE}"/>
              </a:ext>
            </a:extLst>
          </p:cNvPr>
          <p:cNvGrpSpPr/>
          <p:nvPr/>
        </p:nvGrpSpPr>
        <p:grpSpPr>
          <a:xfrm rot="5400000">
            <a:off x="7684902" y="2316922"/>
            <a:ext cx="213569" cy="217113"/>
            <a:chOff x="2225367" y="901313"/>
            <a:chExt cx="432290" cy="505697"/>
          </a:xfrm>
        </p:grpSpPr>
        <p:sp>
          <p:nvSpPr>
            <p:cNvPr id="33" name="Right Arrow 32">
              <a:extLst>
                <a:ext uri="{FF2B5EF4-FFF2-40B4-BE49-F238E27FC236}">
                  <a16:creationId xmlns:a16="http://schemas.microsoft.com/office/drawing/2014/main" id="{3F1A9141-7173-FC62-965A-3D9A1A6F55E6}"/>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4" name="Right Arrow 6">
              <a:extLst>
                <a:ext uri="{FF2B5EF4-FFF2-40B4-BE49-F238E27FC236}">
                  <a16:creationId xmlns:a16="http://schemas.microsoft.com/office/drawing/2014/main" id="{8EB8AAF1-0387-9B0E-2B91-E6914BC0BC0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5" name="Group 34">
            <a:extLst>
              <a:ext uri="{FF2B5EF4-FFF2-40B4-BE49-F238E27FC236}">
                <a16:creationId xmlns:a16="http://schemas.microsoft.com/office/drawing/2014/main" id="{DBE027DC-04B6-0A93-0215-D108A51AF761}"/>
              </a:ext>
            </a:extLst>
          </p:cNvPr>
          <p:cNvGrpSpPr/>
          <p:nvPr/>
        </p:nvGrpSpPr>
        <p:grpSpPr>
          <a:xfrm>
            <a:off x="6921946" y="2576417"/>
            <a:ext cx="1862940" cy="279265"/>
            <a:chOff x="6822" y="542430"/>
            <a:chExt cx="2039104" cy="533039"/>
          </a:xfrm>
        </p:grpSpPr>
        <p:sp>
          <p:nvSpPr>
            <p:cNvPr id="36" name="Rounded Rectangle 35">
              <a:extLst>
                <a:ext uri="{FF2B5EF4-FFF2-40B4-BE49-F238E27FC236}">
                  <a16:creationId xmlns:a16="http://schemas.microsoft.com/office/drawing/2014/main" id="{D7529E60-99B4-5E03-DF42-27EFC767A983}"/>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7" name="Rounded Rectangle 4">
              <a:extLst>
                <a:ext uri="{FF2B5EF4-FFF2-40B4-BE49-F238E27FC236}">
                  <a16:creationId xmlns:a16="http://schemas.microsoft.com/office/drawing/2014/main" id="{1BBDEFE6-5188-C2CC-D771-D1279CBA3244}"/>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38" name="Group 37">
            <a:extLst>
              <a:ext uri="{FF2B5EF4-FFF2-40B4-BE49-F238E27FC236}">
                <a16:creationId xmlns:a16="http://schemas.microsoft.com/office/drawing/2014/main" id="{AB2E958A-874C-72C2-61E9-2CB7556FD5DA}"/>
              </a:ext>
            </a:extLst>
          </p:cNvPr>
          <p:cNvGrpSpPr/>
          <p:nvPr/>
        </p:nvGrpSpPr>
        <p:grpSpPr>
          <a:xfrm>
            <a:off x="6921946" y="313911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9" name="Rounded Rectangle 38">
              <a:extLst>
                <a:ext uri="{FF2B5EF4-FFF2-40B4-BE49-F238E27FC236}">
                  <a16:creationId xmlns:a16="http://schemas.microsoft.com/office/drawing/2014/main" id="{38C29796-A49E-FC18-0317-1EE598CCA949}"/>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0" name="Rounded Rectangle 4">
              <a:extLst>
                <a:ext uri="{FF2B5EF4-FFF2-40B4-BE49-F238E27FC236}">
                  <a16:creationId xmlns:a16="http://schemas.microsoft.com/office/drawing/2014/main" id="{3CFE3819-448F-2DB4-893B-087E538B1AB2}"/>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41" name="Group 40">
            <a:extLst>
              <a:ext uri="{FF2B5EF4-FFF2-40B4-BE49-F238E27FC236}">
                <a16:creationId xmlns:a16="http://schemas.microsoft.com/office/drawing/2014/main" id="{75A2F6C0-DCC4-5C59-07B5-21832DBD2EAD}"/>
              </a:ext>
            </a:extLst>
          </p:cNvPr>
          <p:cNvGrpSpPr/>
          <p:nvPr/>
        </p:nvGrpSpPr>
        <p:grpSpPr>
          <a:xfrm rot="5400000">
            <a:off x="7684901" y="2891817"/>
            <a:ext cx="213569" cy="217113"/>
            <a:chOff x="2225367" y="901313"/>
            <a:chExt cx="432290" cy="505697"/>
          </a:xfrm>
        </p:grpSpPr>
        <p:sp>
          <p:nvSpPr>
            <p:cNvPr id="42" name="Right Arrow 41">
              <a:extLst>
                <a:ext uri="{FF2B5EF4-FFF2-40B4-BE49-F238E27FC236}">
                  <a16:creationId xmlns:a16="http://schemas.microsoft.com/office/drawing/2014/main" id="{96BF056A-D599-80F7-0659-C1D16BA57B5D}"/>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BD037066-E4EE-392E-A92B-5CED3C22F6F8}"/>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4" name="Group 43">
            <a:extLst>
              <a:ext uri="{FF2B5EF4-FFF2-40B4-BE49-F238E27FC236}">
                <a16:creationId xmlns:a16="http://schemas.microsoft.com/office/drawing/2014/main" id="{1211815B-C133-697D-27E2-31A59F2AD2DA}"/>
              </a:ext>
            </a:extLst>
          </p:cNvPr>
          <p:cNvGrpSpPr/>
          <p:nvPr/>
        </p:nvGrpSpPr>
        <p:grpSpPr>
          <a:xfrm rot="5400000">
            <a:off x="7684901" y="3448573"/>
            <a:ext cx="213569" cy="217113"/>
            <a:chOff x="2225367" y="901313"/>
            <a:chExt cx="432290" cy="505697"/>
          </a:xfrm>
        </p:grpSpPr>
        <p:sp>
          <p:nvSpPr>
            <p:cNvPr id="45" name="Right Arrow 44">
              <a:extLst>
                <a:ext uri="{FF2B5EF4-FFF2-40B4-BE49-F238E27FC236}">
                  <a16:creationId xmlns:a16="http://schemas.microsoft.com/office/drawing/2014/main" id="{5C1F2062-DE08-B576-179C-E49C41E3AEC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6" name="Right Arrow 6">
              <a:extLst>
                <a:ext uri="{FF2B5EF4-FFF2-40B4-BE49-F238E27FC236}">
                  <a16:creationId xmlns:a16="http://schemas.microsoft.com/office/drawing/2014/main" id="{EA1AF192-78D5-BD07-9144-F779E9B5EB1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1BB9CE58-7D4D-82B8-5A5A-C8AAA9582C71}"/>
              </a:ext>
            </a:extLst>
          </p:cNvPr>
          <p:cNvGrpSpPr/>
          <p:nvPr/>
        </p:nvGrpSpPr>
        <p:grpSpPr>
          <a:xfrm>
            <a:off x="6921946" y="3689845"/>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8" name="Rounded Rectangle 47">
              <a:extLst>
                <a:ext uri="{FF2B5EF4-FFF2-40B4-BE49-F238E27FC236}">
                  <a16:creationId xmlns:a16="http://schemas.microsoft.com/office/drawing/2014/main" id="{42D65A17-3642-1D4A-1B1B-DAEED1149522}"/>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9" name="Rounded Rectangle 4">
              <a:extLst>
                <a:ext uri="{FF2B5EF4-FFF2-40B4-BE49-F238E27FC236}">
                  <a16:creationId xmlns:a16="http://schemas.microsoft.com/office/drawing/2014/main" id="{0FCFFE03-50E3-1C17-D0F3-8DFB1322C48A}"/>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 </a:t>
              </a:r>
              <a:r>
                <a:rPr lang="en-US" sz="1050" b="1" i="0" kern="1200" dirty="0" err="1"/>
                <a:t>Deplo</a:t>
              </a:r>
              <a:endParaRPr lang="en-US" sz="1050" kern="1200" dirty="0"/>
            </a:p>
          </p:txBody>
        </p:sp>
      </p:grpSp>
    </p:spTree>
    <p:extLst>
      <p:ext uri="{BB962C8B-B14F-4D97-AF65-F5344CB8AC3E}">
        <p14:creationId xmlns:p14="http://schemas.microsoft.com/office/powerpoint/2010/main" val="3130205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9DD39-2EA8-9347-6735-DA8F523E4E1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46800AB-B6CB-3B76-A8DE-0BA53A08971A}"/>
              </a:ext>
            </a:extLst>
          </p:cNvPr>
          <p:cNvSpPr txBox="1"/>
          <p:nvPr/>
        </p:nvSpPr>
        <p:spPr>
          <a:xfrm>
            <a:off x="599440" y="1330161"/>
            <a:ext cx="7945120" cy="307777"/>
          </a:xfrm>
          <a:prstGeom prst="rect">
            <a:avLst/>
          </a:prstGeom>
          <a:noFill/>
        </p:spPr>
        <p:txBody>
          <a:bodyPr wrap="square">
            <a:spAutoFit/>
          </a:bodyPr>
          <a:lstStyle/>
          <a:p>
            <a:r>
              <a:rPr lang="en-US" sz="1400" b="1" i="0" dirty="0">
                <a:effectLst/>
              </a:rPr>
              <a:t>Step 4 -</a:t>
            </a:r>
            <a:r>
              <a:rPr lang="en-US" sz="1400" i="0" dirty="0">
                <a:effectLst/>
              </a:rPr>
              <a:t> </a:t>
            </a:r>
            <a:r>
              <a:rPr lang="en-US" sz="1400" dirty="0"/>
              <a:t>Check the microservice startup log</a:t>
            </a:r>
          </a:p>
        </p:txBody>
      </p:sp>
      <p:sp>
        <p:nvSpPr>
          <p:cNvPr id="10" name="TextBox 9">
            <a:extLst>
              <a:ext uri="{FF2B5EF4-FFF2-40B4-BE49-F238E27FC236}">
                <a16:creationId xmlns:a16="http://schemas.microsoft.com/office/drawing/2014/main" id="{3137372A-3974-9284-1AA9-176FD376C21B}"/>
              </a:ext>
            </a:extLst>
          </p:cNvPr>
          <p:cNvSpPr txBox="1"/>
          <p:nvPr/>
        </p:nvSpPr>
        <p:spPr>
          <a:xfrm>
            <a:off x="599438" y="1840956"/>
            <a:ext cx="4206026" cy="26161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050" noProof="1">
                <a:solidFill>
                  <a:srgbClr val="FF0000"/>
                </a:solidFill>
                <a:latin typeface="Consolas" panose="020B0609020204030204" pitchFamily="49" charset="0"/>
                <a:cs typeface="Consolas" panose="020B0609020204030204" pitchFamily="49" charset="0"/>
              </a:rPr>
              <a:t>docker exec -it </a:t>
            </a:r>
            <a:r>
              <a:rPr lang="en-US" sz="1050" noProof="1">
                <a:latin typeface="Consolas" panose="020B0609020204030204" pitchFamily="49" charset="0"/>
                <a:cs typeface="Consolas" panose="020B0609020204030204" pitchFamily="49" charset="0"/>
              </a:rPr>
              <a:t>jd-atina-microserver</a:t>
            </a:r>
            <a:r>
              <a:rPr lang="en-US" sz="1050" noProof="1">
                <a:solidFill>
                  <a:srgbClr val="FF0000"/>
                </a:solidFill>
                <a:latin typeface="Consolas" panose="020B0609020204030204" pitchFamily="49" charset="0"/>
                <a:cs typeface="Consolas" panose="020B0609020204030204" pitchFamily="49" charset="0"/>
              </a:rPr>
              <a:t> cat </a:t>
            </a:r>
            <a:r>
              <a:rPr lang="en-US" sz="1050" noProof="1">
                <a:latin typeface="Consolas" panose="020B0609020204030204" pitchFamily="49" charset="0"/>
                <a:cs typeface="Consolas" panose="020B0609020204030204" pitchFamily="49" charset="0"/>
              </a:rPr>
              <a:t>/tmp/start.log</a:t>
            </a:r>
            <a:endParaRPr lang="en-US" sz="900" b="0" i="0" noProof="1">
              <a:effectLst/>
              <a:latin typeface="Consolas" panose="020B0609020204030204" pitchFamily="49" charset="0"/>
              <a:cs typeface="Consolas" panose="020B0609020204030204" pitchFamily="49" charset="0"/>
            </a:endParaRPr>
          </a:p>
        </p:txBody>
      </p:sp>
      <p:pic>
        <p:nvPicPr>
          <p:cNvPr id="3" name="Picture 2">
            <a:extLst>
              <a:ext uri="{FF2B5EF4-FFF2-40B4-BE49-F238E27FC236}">
                <a16:creationId xmlns:a16="http://schemas.microsoft.com/office/drawing/2014/main" id="{6527E447-0001-6998-2C1B-2ABADDBE4136}"/>
              </a:ext>
            </a:extLst>
          </p:cNvPr>
          <p:cNvPicPr>
            <a:picLocks noChangeAspect="1"/>
          </p:cNvPicPr>
          <p:nvPr/>
        </p:nvPicPr>
        <p:blipFill>
          <a:blip r:embed="rId2"/>
          <a:stretch>
            <a:fillRect/>
          </a:stretch>
        </p:blipFill>
        <p:spPr>
          <a:xfrm>
            <a:off x="599438" y="2269305"/>
            <a:ext cx="3114734" cy="1996462"/>
          </a:xfrm>
          <a:prstGeom prst="rect">
            <a:avLst/>
          </a:prstGeom>
          <a:effectLst>
            <a:outerShdw blurRad="50800" dist="38100" dir="5400000" algn="t" rotWithShape="0">
              <a:prstClr val="black">
                <a:alpha val="40000"/>
              </a:prstClr>
            </a:outerShdw>
          </a:effectLst>
        </p:spPr>
      </p:pic>
      <p:sp>
        <p:nvSpPr>
          <p:cNvPr id="4" name="TextBox 3">
            <a:extLst>
              <a:ext uri="{FF2B5EF4-FFF2-40B4-BE49-F238E27FC236}">
                <a16:creationId xmlns:a16="http://schemas.microsoft.com/office/drawing/2014/main" id="{E6747196-9DBD-B60D-2E6D-436CE2301EED}"/>
              </a:ext>
            </a:extLst>
          </p:cNvPr>
          <p:cNvSpPr txBox="1"/>
          <p:nvPr/>
        </p:nvSpPr>
        <p:spPr>
          <a:xfrm>
            <a:off x="599438" y="4506553"/>
            <a:ext cx="2857124" cy="26161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050" noProof="1">
                <a:solidFill>
                  <a:srgbClr val="FF0000"/>
                </a:solidFill>
                <a:latin typeface="Consolas" panose="020B0609020204030204" pitchFamily="49" charset="0"/>
                <a:cs typeface="Consolas" panose="020B0609020204030204" pitchFamily="49" charset="0"/>
              </a:rPr>
              <a:t>docker logs </a:t>
            </a:r>
            <a:r>
              <a:rPr lang="en-US" sz="1050" noProof="1">
                <a:latin typeface="Consolas" panose="020B0609020204030204" pitchFamily="49" charset="0"/>
                <a:cs typeface="Consolas" panose="020B0609020204030204" pitchFamily="49" charset="0"/>
              </a:rPr>
              <a:t>jd-atina-microserver</a:t>
            </a:r>
            <a:endParaRPr lang="en-US" sz="900" b="0" i="0" noProof="1">
              <a:effectLst/>
              <a:latin typeface="Consolas" panose="020B0609020204030204" pitchFamily="49" charset="0"/>
              <a:cs typeface="Consolas" panose="020B0609020204030204" pitchFamily="49" charset="0"/>
            </a:endParaRPr>
          </a:p>
        </p:txBody>
      </p:sp>
      <p:pic>
        <p:nvPicPr>
          <p:cNvPr id="6" name="Picture 5">
            <a:extLst>
              <a:ext uri="{FF2B5EF4-FFF2-40B4-BE49-F238E27FC236}">
                <a16:creationId xmlns:a16="http://schemas.microsoft.com/office/drawing/2014/main" id="{1C4E260B-4D1C-D154-C202-5386B7E113A9}"/>
              </a:ext>
            </a:extLst>
          </p:cNvPr>
          <p:cNvPicPr>
            <a:picLocks noChangeAspect="1"/>
          </p:cNvPicPr>
          <p:nvPr/>
        </p:nvPicPr>
        <p:blipFill>
          <a:blip r:embed="rId3"/>
          <a:stretch>
            <a:fillRect/>
          </a:stretch>
        </p:blipFill>
        <p:spPr>
          <a:xfrm>
            <a:off x="599438" y="4987492"/>
            <a:ext cx="6225045" cy="1080693"/>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F5BE1115-F77C-E9D8-3329-873365A8EB5F}"/>
              </a:ext>
            </a:extLst>
          </p:cNvPr>
          <p:cNvPicPr>
            <a:picLocks noChangeAspect="1"/>
          </p:cNvPicPr>
          <p:nvPr/>
        </p:nvPicPr>
        <p:blipFill>
          <a:blip r:embed="rId4"/>
          <a:stretch>
            <a:fillRect/>
          </a:stretch>
        </p:blipFill>
        <p:spPr>
          <a:xfrm>
            <a:off x="0" y="0"/>
            <a:ext cx="9144000" cy="644018"/>
          </a:xfrm>
          <a:prstGeom prst="rect">
            <a:avLst/>
          </a:prstGeom>
        </p:spPr>
      </p:pic>
      <p:sp>
        <p:nvSpPr>
          <p:cNvPr id="12" name="Title 1">
            <a:extLst>
              <a:ext uri="{FF2B5EF4-FFF2-40B4-BE49-F238E27FC236}">
                <a16:creationId xmlns:a16="http://schemas.microsoft.com/office/drawing/2014/main" id="{E584EFA9-BAF8-0EBB-F026-EFF2B274CEBE}"/>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4 – Microserver Installation - Check</a:t>
            </a:r>
          </a:p>
        </p:txBody>
      </p:sp>
      <p:grpSp>
        <p:nvGrpSpPr>
          <p:cNvPr id="18" name="Group 17">
            <a:extLst>
              <a:ext uri="{FF2B5EF4-FFF2-40B4-BE49-F238E27FC236}">
                <a16:creationId xmlns:a16="http://schemas.microsoft.com/office/drawing/2014/main" id="{F9BE2443-467A-9AFF-7B39-6AA33B6E45A8}"/>
              </a:ext>
            </a:extLst>
          </p:cNvPr>
          <p:cNvGrpSpPr/>
          <p:nvPr/>
        </p:nvGrpSpPr>
        <p:grpSpPr>
          <a:xfrm>
            <a:off x="6909061" y="141280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19" name="Rounded Rectangle 18">
              <a:extLst>
                <a:ext uri="{FF2B5EF4-FFF2-40B4-BE49-F238E27FC236}">
                  <a16:creationId xmlns:a16="http://schemas.microsoft.com/office/drawing/2014/main" id="{2A585041-D405-CEEA-A27C-AE268DF0D34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0" name="Rounded Rectangle 4">
              <a:extLst>
                <a:ext uri="{FF2B5EF4-FFF2-40B4-BE49-F238E27FC236}">
                  <a16:creationId xmlns:a16="http://schemas.microsoft.com/office/drawing/2014/main" id="{74B49E9F-A070-6898-D6A2-AB26D621863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4" name="Group 23">
            <a:extLst>
              <a:ext uri="{FF2B5EF4-FFF2-40B4-BE49-F238E27FC236}">
                <a16:creationId xmlns:a16="http://schemas.microsoft.com/office/drawing/2014/main" id="{E494E85B-18D1-2616-C5CD-75816E0B0C7C}"/>
              </a:ext>
            </a:extLst>
          </p:cNvPr>
          <p:cNvGrpSpPr/>
          <p:nvPr/>
        </p:nvGrpSpPr>
        <p:grpSpPr>
          <a:xfrm rot="5400000">
            <a:off x="7672016" y="1722254"/>
            <a:ext cx="213569" cy="217113"/>
            <a:chOff x="2225367" y="901313"/>
            <a:chExt cx="432290" cy="505697"/>
          </a:xfrm>
        </p:grpSpPr>
        <p:sp>
          <p:nvSpPr>
            <p:cNvPr id="25" name="Right Arrow 24">
              <a:extLst>
                <a:ext uri="{FF2B5EF4-FFF2-40B4-BE49-F238E27FC236}">
                  <a16:creationId xmlns:a16="http://schemas.microsoft.com/office/drawing/2014/main" id="{7AFB5434-8604-8D52-C26E-B9EFE1214FA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6" name="Right Arrow 6">
              <a:extLst>
                <a:ext uri="{FF2B5EF4-FFF2-40B4-BE49-F238E27FC236}">
                  <a16:creationId xmlns:a16="http://schemas.microsoft.com/office/drawing/2014/main" id="{21AD3AE9-F0CE-870E-2D4B-00A74776B03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7" name="Group 26">
            <a:extLst>
              <a:ext uri="{FF2B5EF4-FFF2-40B4-BE49-F238E27FC236}">
                <a16:creationId xmlns:a16="http://schemas.microsoft.com/office/drawing/2014/main" id="{AAA82AD5-977A-75E0-C1AC-98B3439194D5}"/>
              </a:ext>
            </a:extLst>
          </p:cNvPr>
          <p:cNvGrpSpPr/>
          <p:nvPr/>
        </p:nvGrpSpPr>
        <p:grpSpPr>
          <a:xfrm>
            <a:off x="6909061" y="196955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28" name="Rounded Rectangle 27">
              <a:extLst>
                <a:ext uri="{FF2B5EF4-FFF2-40B4-BE49-F238E27FC236}">
                  <a16:creationId xmlns:a16="http://schemas.microsoft.com/office/drawing/2014/main" id="{3CABAE95-DD27-6F7F-5CAF-C32D8534214D}"/>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9" name="Rounded Rectangle 4">
              <a:extLst>
                <a:ext uri="{FF2B5EF4-FFF2-40B4-BE49-F238E27FC236}">
                  <a16:creationId xmlns:a16="http://schemas.microsoft.com/office/drawing/2014/main" id="{8716E0FD-9790-A465-4758-A648316012B8}"/>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0" name="Group 29">
            <a:extLst>
              <a:ext uri="{FF2B5EF4-FFF2-40B4-BE49-F238E27FC236}">
                <a16:creationId xmlns:a16="http://schemas.microsoft.com/office/drawing/2014/main" id="{FE13AC69-1000-5AEC-73A0-7C52C3A382A6}"/>
              </a:ext>
            </a:extLst>
          </p:cNvPr>
          <p:cNvGrpSpPr/>
          <p:nvPr/>
        </p:nvGrpSpPr>
        <p:grpSpPr>
          <a:xfrm rot="5400000">
            <a:off x="7670834" y="2287255"/>
            <a:ext cx="213569" cy="217113"/>
            <a:chOff x="2225367" y="901313"/>
            <a:chExt cx="432290" cy="505697"/>
          </a:xfrm>
        </p:grpSpPr>
        <p:sp>
          <p:nvSpPr>
            <p:cNvPr id="31" name="Right Arrow 30">
              <a:extLst>
                <a:ext uri="{FF2B5EF4-FFF2-40B4-BE49-F238E27FC236}">
                  <a16:creationId xmlns:a16="http://schemas.microsoft.com/office/drawing/2014/main" id="{02521218-E4A9-6A13-AEC8-4431CC3510D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2" name="Right Arrow 6">
              <a:extLst>
                <a:ext uri="{FF2B5EF4-FFF2-40B4-BE49-F238E27FC236}">
                  <a16:creationId xmlns:a16="http://schemas.microsoft.com/office/drawing/2014/main" id="{09B12C84-5A4B-D475-4F35-1BADE3710F2D}"/>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3" name="Group 32">
            <a:extLst>
              <a:ext uri="{FF2B5EF4-FFF2-40B4-BE49-F238E27FC236}">
                <a16:creationId xmlns:a16="http://schemas.microsoft.com/office/drawing/2014/main" id="{A48B801D-2C7E-B71D-06CE-79685E73FF5B}"/>
              </a:ext>
            </a:extLst>
          </p:cNvPr>
          <p:cNvGrpSpPr/>
          <p:nvPr/>
        </p:nvGrpSpPr>
        <p:grpSpPr>
          <a:xfrm>
            <a:off x="6907878" y="254675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4" name="Rounded Rectangle 33">
              <a:extLst>
                <a:ext uri="{FF2B5EF4-FFF2-40B4-BE49-F238E27FC236}">
                  <a16:creationId xmlns:a16="http://schemas.microsoft.com/office/drawing/2014/main" id="{8396252A-6ABA-A2EB-5D6A-1BCFD5271513}"/>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5" name="Rounded Rectangle 4">
              <a:extLst>
                <a:ext uri="{FF2B5EF4-FFF2-40B4-BE49-F238E27FC236}">
                  <a16:creationId xmlns:a16="http://schemas.microsoft.com/office/drawing/2014/main" id="{5ADAEA28-0351-C5E5-A641-E332F4230A0E}"/>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36" name="Group 35">
            <a:extLst>
              <a:ext uri="{FF2B5EF4-FFF2-40B4-BE49-F238E27FC236}">
                <a16:creationId xmlns:a16="http://schemas.microsoft.com/office/drawing/2014/main" id="{FA29E8BE-4638-1096-93F6-96272FBF0F69}"/>
              </a:ext>
            </a:extLst>
          </p:cNvPr>
          <p:cNvGrpSpPr/>
          <p:nvPr/>
        </p:nvGrpSpPr>
        <p:grpSpPr>
          <a:xfrm>
            <a:off x="6907878" y="3109452"/>
            <a:ext cx="1862940" cy="279265"/>
            <a:chOff x="6822" y="542430"/>
            <a:chExt cx="2039104" cy="533039"/>
          </a:xfrm>
        </p:grpSpPr>
        <p:sp>
          <p:nvSpPr>
            <p:cNvPr id="37" name="Rounded Rectangle 36">
              <a:extLst>
                <a:ext uri="{FF2B5EF4-FFF2-40B4-BE49-F238E27FC236}">
                  <a16:creationId xmlns:a16="http://schemas.microsoft.com/office/drawing/2014/main" id="{71C1284D-CB8D-6E52-FCA8-0EB1057CE1F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8" name="Rounded Rectangle 4">
              <a:extLst>
                <a:ext uri="{FF2B5EF4-FFF2-40B4-BE49-F238E27FC236}">
                  <a16:creationId xmlns:a16="http://schemas.microsoft.com/office/drawing/2014/main" id="{F3F82B61-FEF0-BE27-EBEC-6DF37385267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39" name="Group 38">
            <a:extLst>
              <a:ext uri="{FF2B5EF4-FFF2-40B4-BE49-F238E27FC236}">
                <a16:creationId xmlns:a16="http://schemas.microsoft.com/office/drawing/2014/main" id="{494BC787-A768-F3E1-89DF-336FFC508EE9}"/>
              </a:ext>
            </a:extLst>
          </p:cNvPr>
          <p:cNvGrpSpPr/>
          <p:nvPr/>
        </p:nvGrpSpPr>
        <p:grpSpPr>
          <a:xfrm rot="5400000">
            <a:off x="7670833" y="2862150"/>
            <a:ext cx="213569" cy="217113"/>
            <a:chOff x="2225367" y="901313"/>
            <a:chExt cx="432290" cy="505697"/>
          </a:xfrm>
        </p:grpSpPr>
        <p:sp>
          <p:nvSpPr>
            <p:cNvPr id="40" name="Right Arrow 39">
              <a:extLst>
                <a:ext uri="{FF2B5EF4-FFF2-40B4-BE49-F238E27FC236}">
                  <a16:creationId xmlns:a16="http://schemas.microsoft.com/office/drawing/2014/main" id="{4B60E193-A3B6-D3D9-5677-BABF9B68602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1" name="Right Arrow 6">
              <a:extLst>
                <a:ext uri="{FF2B5EF4-FFF2-40B4-BE49-F238E27FC236}">
                  <a16:creationId xmlns:a16="http://schemas.microsoft.com/office/drawing/2014/main" id="{B7610251-2466-5EB8-40E8-2400BDAE876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2" name="Group 41">
            <a:extLst>
              <a:ext uri="{FF2B5EF4-FFF2-40B4-BE49-F238E27FC236}">
                <a16:creationId xmlns:a16="http://schemas.microsoft.com/office/drawing/2014/main" id="{BF6586AA-781B-D7C3-43B3-E2C83926ADE2}"/>
              </a:ext>
            </a:extLst>
          </p:cNvPr>
          <p:cNvGrpSpPr/>
          <p:nvPr/>
        </p:nvGrpSpPr>
        <p:grpSpPr>
          <a:xfrm rot="5400000">
            <a:off x="7670833" y="3418906"/>
            <a:ext cx="213569" cy="217113"/>
            <a:chOff x="2225367" y="901313"/>
            <a:chExt cx="432290" cy="505697"/>
          </a:xfrm>
        </p:grpSpPr>
        <p:sp>
          <p:nvSpPr>
            <p:cNvPr id="43" name="Right Arrow 42">
              <a:extLst>
                <a:ext uri="{FF2B5EF4-FFF2-40B4-BE49-F238E27FC236}">
                  <a16:creationId xmlns:a16="http://schemas.microsoft.com/office/drawing/2014/main" id="{BFF538EA-1E58-8835-C0B6-EF0366401AAD}"/>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4" name="Right Arrow 6">
              <a:extLst>
                <a:ext uri="{FF2B5EF4-FFF2-40B4-BE49-F238E27FC236}">
                  <a16:creationId xmlns:a16="http://schemas.microsoft.com/office/drawing/2014/main" id="{A4ADADEA-A4FB-8BFA-2B17-207B1698C65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5" name="Group 44">
            <a:extLst>
              <a:ext uri="{FF2B5EF4-FFF2-40B4-BE49-F238E27FC236}">
                <a16:creationId xmlns:a16="http://schemas.microsoft.com/office/drawing/2014/main" id="{2FF98DD7-5864-D05C-A204-7FF372FE0BF5}"/>
              </a:ext>
            </a:extLst>
          </p:cNvPr>
          <p:cNvGrpSpPr/>
          <p:nvPr/>
        </p:nvGrpSpPr>
        <p:grpSpPr>
          <a:xfrm>
            <a:off x="6907878" y="366017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6" name="Rounded Rectangle 45">
              <a:extLst>
                <a:ext uri="{FF2B5EF4-FFF2-40B4-BE49-F238E27FC236}">
                  <a16:creationId xmlns:a16="http://schemas.microsoft.com/office/drawing/2014/main" id="{E72AAFA2-90A9-E411-6B23-AEDDD54A9266}"/>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7" name="Rounded Rectangle 4">
              <a:extLst>
                <a:ext uri="{FF2B5EF4-FFF2-40B4-BE49-F238E27FC236}">
                  <a16:creationId xmlns:a16="http://schemas.microsoft.com/office/drawing/2014/main" id="{555E7174-0036-5CF9-8887-1A768A31B68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 </a:t>
              </a:r>
              <a:r>
                <a:rPr lang="en-US" sz="1050" b="1" i="0" kern="1200" dirty="0" err="1"/>
                <a:t>Deplo</a:t>
              </a:r>
              <a:endParaRPr lang="en-US" sz="1050" kern="1200" dirty="0"/>
            </a:p>
          </p:txBody>
        </p:sp>
      </p:grpSp>
    </p:spTree>
    <p:extLst>
      <p:ext uri="{BB962C8B-B14F-4D97-AF65-F5344CB8AC3E}">
        <p14:creationId xmlns:p14="http://schemas.microsoft.com/office/powerpoint/2010/main" val="2816933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E0C88-80A3-C768-46DB-73FBCDB01C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20C8025-9DB7-52BA-4797-77DE568DCF34}"/>
              </a:ext>
            </a:extLst>
          </p:cNvPr>
          <p:cNvSpPr txBox="1"/>
          <p:nvPr/>
        </p:nvSpPr>
        <p:spPr>
          <a:xfrm>
            <a:off x="599440" y="1330161"/>
            <a:ext cx="7945120" cy="307777"/>
          </a:xfrm>
          <a:prstGeom prst="rect">
            <a:avLst/>
          </a:prstGeom>
          <a:noFill/>
        </p:spPr>
        <p:txBody>
          <a:bodyPr wrap="square">
            <a:spAutoFit/>
          </a:bodyPr>
          <a:lstStyle/>
          <a:p>
            <a:r>
              <a:rPr lang="en-US" sz="1400" b="1" i="0" dirty="0">
                <a:effectLst/>
              </a:rPr>
              <a:t>Step 5 -</a:t>
            </a:r>
            <a:r>
              <a:rPr lang="en-US" sz="1400" i="0" dirty="0">
                <a:effectLst/>
              </a:rPr>
              <a:t> </a:t>
            </a:r>
            <a:r>
              <a:rPr lang="en-US" sz="1400" dirty="0"/>
              <a:t>Validating the Microservice Deployment</a:t>
            </a:r>
          </a:p>
        </p:txBody>
      </p:sp>
      <p:sp>
        <p:nvSpPr>
          <p:cNvPr id="5" name="TextBox 4">
            <a:extLst>
              <a:ext uri="{FF2B5EF4-FFF2-40B4-BE49-F238E27FC236}">
                <a16:creationId xmlns:a16="http://schemas.microsoft.com/office/drawing/2014/main" id="{921B5DE6-0FC5-D6D8-087C-7FD98AA1DCBC}"/>
              </a:ext>
            </a:extLst>
          </p:cNvPr>
          <p:cNvSpPr txBox="1"/>
          <p:nvPr/>
        </p:nvSpPr>
        <p:spPr>
          <a:xfrm>
            <a:off x="599440" y="1761654"/>
            <a:ext cx="5958523" cy="461665"/>
          </a:xfrm>
          <a:prstGeom prst="rect">
            <a:avLst/>
          </a:prstGeom>
          <a:noFill/>
        </p:spPr>
        <p:txBody>
          <a:bodyPr wrap="square">
            <a:spAutoFit/>
          </a:bodyPr>
          <a:lstStyle/>
          <a:p>
            <a:r>
              <a:rPr lang="en-US" sz="1200" b="0" i="0" dirty="0">
                <a:effectLst/>
              </a:rPr>
              <a:t>Once the microservice is deployed and running, you can use the JD Atina Check Microservice Tool to validate that it can connect to JD Edwards and invoke a basic web service. </a:t>
            </a:r>
            <a:endParaRPr lang="en-US" sz="1600" b="0" i="0" dirty="0">
              <a:effectLst/>
            </a:endParaRPr>
          </a:p>
        </p:txBody>
      </p:sp>
      <p:sp>
        <p:nvSpPr>
          <p:cNvPr id="8" name="TextBox 7">
            <a:extLst>
              <a:ext uri="{FF2B5EF4-FFF2-40B4-BE49-F238E27FC236}">
                <a16:creationId xmlns:a16="http://schemas.microsoft.com/office/drawing/2014/main" id="{E30CDA30-5E5B-9897-8C2E-BBAC435B7D03}"/>
              </a:ext>
            </a:extLst>
          </p:cNvPr>
          <p:cNvSpPr txBox="1"/>
          <p:nvPr/>
        </p:nvSpPr>
        <p:spPr>
          <a:xfrm>
            <a:off x="690880" y="2693461"/>
            <a:ext cx="6079790" cy="646331"/>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curl </a:t>
            </a:r>
            <a:r>
              <a:rPr lang="en-US" sz="1200" noProof="1">
                <a:latin typeface="Consolas" panose="020B0609020204030204" pitchFamily="49" charset="0"/>
                <a:cs typeface="Consolas" panose="020B0609020204030204" pitchFamily="49" charset="0"/>
              </a:rPr>
              <a:t>https://jfrog.atina-connection.com/artifactory/libs-release-local/com/atina/jd-check-microservice/1.0.0/jd-check-microservice-1.0.0.jar</a:t>
            </a:r>
            <a:r>
              <a:rPr lang="en-US" sz="1200" noProof="1">
                <a:solidFill>
                  <a:srgbClr val="FF0000"/>
                </a:solidFill>
                <a:latin typeface="Consolas" panose="020B0609020204030204" pitchFamily="49" charset="0"/>
                <a:cs typeface="Consolas" panose="020B0609020204030204" pitchFamily="49" charset="0"/>
              </a:rPr>
              <a:t> --output </a:t>
            </a:r>
            <a:r>
              <a:rPr lang="en-US" sz="1200" noProof="1">
                <a:latin typeface="Consolas" panose="020B0609020204030204" pitchFamily="49" charset="0"/>
                <a:cs typeface="Consolas" panose="020B0609020204030204" pitchFamily="49" charset="0"/>
              </a:rPr>
              <a:t>jd-check-microservice-1.0.0.jar</a:t>
            </a:r>
            <a:endParaRPr lang="en-US" sz="1050" b="0" i="0" noProof="1">
              <a:effectLst/>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4A22EEE6-32A7-096D-C0AC-D809FB6B0617}"/>
              </a:ext>
            </a:extLst>
          </p:cNvPr>
          <p:cNvSpPr txBox="1"/>
          <p:nvPr/>
        </p:nvSpPr>
        <p:spPr>
          <a:xfrm>
            <a:off x="599440" y="2347035"/>
            <a:ext cx="4572000" cy="276999"/>
          </a:xfrm>
          <a:prstGeom prst="rect">
            <a:avLst/>
          </a:prstGeom>
          <a:noFill/>
        </p:spPr>
        <p:txBody>
          <a:bodyPr wrap="square">
            <a:spAutoFit/>
          </a:bodyPr>
          <a:lstStyle/>
          <a:p>
            <a:r>
              <a:rPr lang="en-US" sz="1200" b="1" i="0" dirty="0">
                <a:effectLst/>
                <a:cs typeface="Consolas" panose="020B0609020204030204" pitchFamily="49" charset="0"/>
              </a:rPr>
              <a:t>Download the Check Tool</a:t>
            </a:r>
            <a:endParaRPr lang="en-AR" sz="1200" b="1" dirty="0">
              <a:cs typeface="Consolas" panose="020B0609020204030204" pitchFamily="49" charset="0"/>
            </a:endParaRPr>
          </a:p>
        </p:txBody>
      </p:sp>
      <p:sp>
        <p:nvSpPr>
          <p:cNvPr id="13" name="TextBox 12">
            <a:extLst>
              <a:ext uri="{FF2B5EF4-FFF2-40B4-BE49-F238E27FC236}">
                <a16:creationId xmlns:a16="http://schemas.microsoft.com/office/drawing/2014/main" id="{EE143BE6-0E0A-82C4-CFB3-4D952F8426AD}"/>
              </a:ext>
            </a:extLst>
          </p:cNvPr>
          <p:cNvSpPr txBox="1"/>
          <p:nvPr/>
        </p:nvSpPr>
        <p:spPr>
          <a:xfrm>
            <a:off x="599440" y="3494156"/>
            <a:ext cx="4572000" cy="276999"/>
          </a:xfrm>
          <a:prstGeom prst="rect">
            <a:avLst/>
          </a:prstGeom>
          <a:noFill/>
        </p:spPr>
        <p:txBody>
          <a:bodyPr wrap="square">
            <a:spAutoFit/>
          </a:bodyPr>
          <a:lstStyle/>
          <a:p>
            <a:r>
              <a:rPr lang="en-US" sz="1200" b="1" i="0" dirty="0">
                <a:effectLst/>
                <a:cs typeface="Consolas" panose="020B0609020204030204" pitchFamily="49" charset="0"/>
              </a:rPr>
              <a:t>Run the test</a:t>
            </a:r>
            <a:endParaRPr lang="en-AR" sz="1200" b="1" dirty="0">
              <a:cs typeface="Consolas" panose="020B0609020204030204" pitchFamily="49" charset="0"/>
            </a:endParaRPr>
          </a:p>
        </p:txBody>
      </p:sp>
      <p:sp>
        <p:nvSpPr>
          <p:cNvPr id="14" name="TextBox 13">
            <a:extLst>
              <a:ext uri="{FF2B5EF4-FFF2-40B4-BE49-F238E27FC236}">
                <a16:creationId xmlns:a16="http://schemas.microsoft.com/office/drawing/2014/main" id="{595CD896-9FD8-9B7B-3D53-F1DF8D814E0D}"/>
              </a:ext>
            </a:extLst>
          </p:cNvPr>
          <p:cNvSpPr txBox="1"/>
          <p:nvPr/>
        </p:nvSpPr>
        <p:spPr>
          <a:xfrm>
            <a:off x="690880" y="3867109"/>
            <a:ext cx="6079790" cy="646331"/>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java</a:t>
            </a:r>
            <a:r>
              <a:rPr lang="en-US" sz="1200" noProof="1">
                <a:latin typeface="Consolas" panose="020B0609020204030204" pitchFamily="49" charset="0"/>
                <a:cs typeface="Consolas" panose="020B0609020204030204" pitchFamily="49" charset="0"/>
              </a:rPr>
              <a:t> </a:t>
            </a:r>
            <a:r>
              <a:rPr lang="en-US" sz="1200" noProof="1">
                <a:solidFill>
                  <a:srgbClr val="FF0000"/>
                </a:solidFill>
                <a:latin typeface="Consolas" panose="020B0609020204030204" pitchFamily="49" charset="0"/>
                <a:cs typeface="Consolas" panose="020B0609020204030204" pitchFamily="49" charset="0"/>
              </a:rPr>
              <a:t>-jar </a:t>
            </a:r>
            <a:r>
              <a:rPr lang="en-US" sz="1200" noProof="1">
                <a:latin typeface="Consolas" panose="020B0609020204030204" pitchFamily="49" charset="0"/>
                <a:cs typeface="Consolas" panose="020B0609020204030204" pitchFamily="49" charset="0"/>
              </a:rPr>
              <a:t>jd-check-microservice-1.0.0.jar </a:t>
            </a:r>
            <a:r>
              <a:rPr lang="en-US" sz="1200" noProof="1">
                <a:solidFill>
                  <a:srgbClr val="FF0000"/>
                </a:solidFill>
                <a:latin typeface="Consolas" panose="020B0609020204030204" pitchFamily="49" charset="0"/>
                <a:cs typeface="Consolas" panose="020B0609020204030204" pitchFamily="49" charset="0"/>
              </a:rPr>
              <a:t>-u</a:t>
            </a:r>
            <a:r>
              <a:rPr lang="en-US" sz="1200" noProof="1">
                <a:latin typeface="Consolas" panose="020B0609020204030204" pitchFamily="49" charset="0"/>
                <a:cs typeface="Consolas" panose="020B0609020204030204" pitchFamily="49" charset="0"/>
              </a:rPr>
              <a:t> JDE </a:t>
            </a:r>
            <a:r>
              <a:rPr lang="en-US" sz="1200" noProof="1">
                <a:solidFill>
                  <a:srgbClr val="FF0000"/>
                </a:solidFill>
                <a:latin typeface="Consolas" panose="020B0609020204030204" pitchFamily="49" charset="0"/>
                <a:cs typeface="Consolas" panose="020B0609020204030204" pitchFamily="49" charset="0"/>
              </a:rPr>
              <a:t>-w</a:t>
            </a:r>
            <a:r>
              <a:rPr lang="en-US" sz="1200" noProof="1">
                <a:latin typeface="Consolas" panose="020B0609020204030204" pitchFamily="49" charset="0"/>
                <a:cs typeface="Consolas" panose="020B0609020204030204" pitchFamily="49" charset="0"/>
              </a:rPr>
              <a:t> XXXXXX </a:t>
            </a:r>
            <a:r>
              <a:rPr lang="en-US" sz="1200" noProof="1">
                <a:solidFill>
                  <a:srgbClr val="FF0000"/>
                </a:solidFill>
                <a:latin typeface="Consolas" panose="020B0609020204030204" pitchFamily="49" charset="0"/>
                <a:cs typeface="Consolas" panose="020B0609020204030204" pitchFamily="49" charset="0"/>
              </a:rPr>
              <a:t>-e</a:t>
            </a:r>
            <a:r>
              <a:rPr lang="en-US" sz="1200" noProof="1">
                <a:latin typeface="Consolas" panose="020B0609020204030204" pitchFamily="49" charset="0"/>
                <a:cs typeface="Consolas" panose="020B0609020204030204" pitchFamily="49" charset="0"/>
              </a:rPr>
              <a:t> JDV920 </a:t>
            </a:r>
            <a:r>
              <a:rPr lang="en-US" sz="1200" noProof="1">
                <a:solidFill>
                  <a:srgbClr val="FF0000"/>
                </a:solidFill>
                <a:latin typeface="Consolas" panose="020B0609020204030204" pitchFamily="49" charset="0"/>
                <a:cs typeface="Consolas" panose="020B0609020204030204" pitchFamily="49" charset="0"/>
              </a:rPr>
              <a:t>-r</a:t>
            </a:r>
            <a:r>
              <a:rPr lang="en-US" sz="1200" noProof="1">
                <a:latin typeface="Consolas" panose="020B0609020204030204" pitchFamily="49" charset="0"/>
                <a:cs typeface="Consolas" panose="020B0609020204030204" pitchFamily="49" charset="0"/>
              </a:rPr>
              <a:t> *ALL </a:t>
            </a:r>
            <a:r>
              <a:rPr lang="en-US" sz="1200" noProof="1">
                <a:solidFill>
                  <a:srgbClr val="FF0000"/>
                </a:solidFill>
                <a:latin typeface="Consolas" panose="020B0609020204030204" pitchFamily="49" charset="0"/>
                <a:cs typeface="Consolas" panose="020B0609020204030204" pitchFamily="49" charset="0"/>
              </a:rPr>
              <a:t>-s</a:t>
            </a:r>
            <a:r>
              <a:rPr lang="en-US" sz="1200" noProof="1">
                <a:latin typeface="Consolas" panose="020B0609020204030204" pitchFamily="49" charset="0"/>
                <a:cs typeface="Consolas" panose="020B0609020204030204" pitchFamily="49" charset="0"/>
              </a:rPr>
              <a:t> localhost </a:t>
            </a:r>
            <a:r>
              <a:rPr lang="en-US" sz="1200" noProof="1">
                <a:solidFill>
                  <a:srgbClr val="FF0000"/>
                </a:solidFill>
                <a:latin typeface="Consolas" panose="020B0609020204030204" pitchFamily="49" charset="0"/>
                <a:cs typeface="Consolas" panose="020B0609020204030204" pitchFamily="49" charset="0"/>
              </a:rPr>
              <a:t>-p </a:t>
            </a:r>
            <a:r>
              <a:rPr lang="en-US" sz="1200" noProof="1">
                <a:latin typeface="Consolas" panose="020B0609020204030204" pitchFamily="49" charset="0"/>
                <a:cs typeface="Consolas" panose="020B0609020204030204" pitchFamily="49" charset="0"/>
              </a:rPr>
              <a:t>8077 </a:t>
            </a:r>
            <a:r>
              <a:rPr lang="en-US" sz="1200" noProof="1">
                <a:solidFill>
                  <a:srgbClr val="FF0000"/>
                </a:solidFill>
                <a:latin typeface="Consolas" panose="020B0609020204030204" pitchFamily="49" charset="0"/>
                <a:cs typeface="Consolas" panose="020B0609020204030204" pitchFamily="49" charset="0"/>
              </a:rPr>
              <a:t>-m</a:t>
            </a:r>
            <a:r>
              <a:rPr lang="en-US" sz="1200" noProof="1">
                <a:latin typeface="Consolas" panose="020B0609020204030204" pitchFamily="49" charset="0"/>
                <a:cs typeface="Consolas" panose="020B0609020204030204" pitchFamily="49" charset="0"/>
              </a:rPr>
              <a:t> TestLoggindAndGetAddressBookWS </a:t>
            </a:r>
            <a:r>
              <a:rPr lang="en-US" sz="1200" noProof="1">
                <a:solidFill>
                  <a:srgbClr val="FF0000"/>
                </a:solidFill>
                <a:latin typeface="Consolas" panose="020B0609020204030204" pitchFamily="49" charset="0"/>
                <a:cs typeface="Consolas" panose="020B0609020204030204" pitchFamily="49" charset="0"/>
              </a:rPr>
              <a:t>-a</a:t>
            </a:r>
            <a:r>
              <a:rPr lang="en-US" sz="1200" noProof="1">
                <a:latin typeface="Consolas" panose="020B0609020204030204" pitchFamily="49" charset="0"/>
                <a:cs typeface="Consolas" panose="020B0609020204030204" pitchFamily="49" charset="0"/>
              </a:rPr>
              <a:t> 28 -n "Prueba - Argentina - 28                 "</a:t>
            </a:r>
          </a:p>
        </p:txBody>
      </p:sp>
      <p:sp>
        <p:nvSpPr>
          <p:cNvPr id="15" name="TextBox 14">
            <a:extLst>
              <a:ext uri="{FF2B5EF4-FFF2-40B4-BE49-F238E27FC236}">
                <a16:creationId xmlns:a16="http://schemas.microsoft.com/office/drawing/2014/main" id="{83712EA4-9595-99C5-6437-A3113195DC28}"/>
              </a:ext>
            </a:extLst>
          </p:cNvPr>
          <p:cNvSpPr txBox="1"/>
          <p:nvPr/>
        </p:nvSpPr>
        <p:spPr>
          <a:xfrm>
            <a:off x="599440" y="4608904"/>
            <a:ext cx="7762240" cy="307777"/>
          </a:xfrm>
          <a:prstGeom prst="rect">
            <a:avLst/>
          </a:prstGeom>
          <a:noFill/>
        </p:spPr>
        <p:txBody>
          <a:bodyPr wrap="square">
            <a:spAutoFit/>
          </a:bodyPr>
          <a:lstStyle/>
          <a:p>
            <a:r>
              <a:rPr lang="en-US" sz="1400" b="0" i="0" dirty="0">
                <a:effectLst/>
                <a:cs typeface="Consolas" panose="020B0609020204030204" pitchFamily="49" charset="0"/>
              </a:rPr>
              <a:t>If everything is correctly configured, you will see output like the following</a:t>
            </a:r>
            <a:endParaRPr lang="en-AR" sz="1400" dirty="0">
              <a:cs typeface="Consolas" panose="020B0609020204030204" pitchFamily="49" charset="0"/>
            </a:endParaRPr>
          </a:p>
        </p:txBody>
      </p:sp>
      <p:pic>
        <p:nvPicPr>
          <p:cNvPr id="16" name="Picture 15">
            <a:extLst>
              <a:ext uri="{FF2B5EF4-FFF2-40B4-BE49-F238E27FC236}">
                <a16:creationId xmlns:a16="http://schemas.microsoft.com/office/drawing/2014/main" id="{A6F2DAE2-937D-F532-6BB7-CD2D31314E58}"/>
              </a:ext>
            </a:extLst>
          </p:cNvPr>
          <p:cNvPicPr>
            <a:picLocks noChangeAspect="1"/>
          </p:cNvPicPr>
          <p:nvPr/>
        </p:nvPicPr>
        <p:blipFill>
          <a:blip r:embed="rId3"/>
          <a:stretch>
            <a:fillRect/>
          </a:stretch>
        </p:blipFill>
        <p:spPr>
          <a:xfrm>
            <a:off x="690880" y="5040267"/>
            <a:ext cx="3587885" cy="1356886"/>
          </a:xfrm>
          <a:prstGeom prst="rect">
            <a:avLst/>
          </a:prstGeom>
        </p:spPr>
      </p:pic>
      <p:pic>
        <p:nvPicPr>
          <p:cNvPr id="19" name="Picture 18">
            <a:extLst>
              <a:ext uri="{FF2B5EF4-FFF2-40B4-BE49-F238E27FC236}">
                <a16:creationId xmlns:a16="http://schemas.microsoft.com/office/drawing/2014/main" id="{A6DA23C4-3D9D-D706-B4E8-6706E3E44287}"/>
              </a:ext>
            </a:extLst>
          </p:cNvPr>
          <p:cNvPicPr>
            <a:picLocks noChangeAspect="1"/>
          </p:cNvPicPr>
          <p:nvPr/>
        </p:nvPicPr>
        <p:blipFill>
          <a:blip r:embed="rId4"/>
          <a:stretch>
            <a:fillRect/>
          </a:stretch>
        </p:blipFill>
        <p:spPr>
          <a:xfrm>
            <a:off x="0" y="0"/>
            <a:ext cx="9144000" cy="644018"/>
          </a:xfrm>
          <a:prstGeom prst="rect">
            <a:avLst/>
          </a:prstGeom>
        </p:spPr>
      </p:pic>
      <p:sp>
        <p:nvSpPr>
          <p:cNvPr id="20" name="Title 1">
            <a:extLst>
              <a:ext uri="{FF2B5EF4-FFF2-40B4-BE49-F238E27FC236}">
                <a16:creationId xmlns:a16="http://schemas.microsoft.com/office/drawing/2014/main" id="{01A6BB40-4356-21E7-BB7E-39E1FFFC5CDA}"/>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5 – Microserver Installation - Validate</a:t>
            </a:r>
          </a:p>
        </p:txBody>
      </p:sp>
      <p:grpSp>
        <p:nvGrpSpPr>
          <p:cNvPr id="21" name="Group 20">
            <a:extLst>
              <a:ext uri="{FF2B5EF4-FFF2-40B4-BE49-F238E27FC236}">
                <a16:creationId xmlns:a16="http://schemas.microsoft.com/office/drawing/2014/main" id="{EA0AEB63-54D8-E7DC-9BB1-5E7A36B9151D}"/>
              </a:ext>
            </a:extLst>
          </p:cNvPr>
          <p:cNvGrpSpPr/>
          <p:nvPr/>
        </p:nvGrpSpPr>
        <p:grpSpPr>
          <a:xfrm>
            <a:off x="6887960" y="1454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22" name="Rounded Rectangle 21">
              <a:extLst>
                <a:ext uri="{FF2B5EF4-FFF2-40B4-BE49-F238E27FC236}">
                  <a16:creationId xmlns:a16="http://schemas.microsoft.com/office/drawing/2014/main" id="{4554E64A-DD51-57C6-39BC-3CCE2F4A67E0}"/>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3" name="Rounded Rectangle 4">
              <a:extLst>
                <a:ext uri="{FF2B5EF4-FFF2-40B4-BE49-F238E27FC236}">
                  <a16:creationId xmlns:a16="http://schemas.microsoft.com/office/drawing/2014/main" id="{83D38D2A-3F37-9557-D6C7-0D71F266871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7" name="Group 26">
            <a:extLst>
              <a:ext uri="{FF2B5EF4-FFF2-40B4-BE49-F238E27FC236}">
                <a16:creationId xmlns:a16="http://schemas.microsoft.com/office/drawing/2014/main" id="{28A9AD75-1C71-8C93-21B6-299F2B97EB46}"/>
              </a:ext>
            </a:extLst>
          </p:cNvPr>
          <p:cNvGrpSpPr/>
          <p:nvPr/>
        </p:nvGrpSpPr>
        <p:grpSpPr>
          <a:xfrm rot="5400000">
            <a:off x="7650915" y="1763591"/>
            <a:ext cx="213569" cy="217113"/>
            <a:chOff x="2225367" y="901313"/>
            <a:chExt cx="432290" cy="505697"/>
          </a:xfrm>
        </p:grpSpPr>
        <p:sp>
          <p:nvSpPr>
            <p:cNvPr id="28" name="Right Arrow 27">
              <a:extLst>
                <a:ext uri="{FF2B5EF4-FFF2-40B4-BE49-F238E27FC236}">
                  <a16:creationId xmlns:a16="http://schemas.microsoft.com/office/drawing/2014/main" id="{672D335C-DAC3-8020-8B0E-D1EEF08FBB4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9" name="Right Arrow 6">
              <a:extLst>
                <a:ext uri="{FF2B5EF4-FFF2-40B4-BE49-F238E27FC236}">
                  <a16:creationId xmlns:a16="http://schemas.microsoft.com/office/drawing/2014/main" id="{0AA665A5-FA92-EA03-0BFE-91305527F36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0" name="Group 29">
            <a:extLst>
              <a:ext uri="{FF2B5EF4-FFF2-40B4-BE49-F238E27FC236}">
                <a16:creationId xmlns:a16="http://schemas.microsoft.com/office/drawing/2014/main" id="{387AFA78-953D-5B18-01AB-E36C72AFA747}"/>
              </a:ext>
            </a:extLst>
          </p:cNvPr>
          <p:cNvGrpSpPr/>
          <p:nvPr/>
        </p:nvGrpSpPr>
        <p:grpSpPr>
          <a:xfrm>
            <a:off x="6887960" y="201089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1" name="Rounded Rectangle 30">
              <a:extLst>
                <a:ext uri="{FF2B5EF4-FFF2-40B4-BE49-F238E27FC236}">
                  <a16:creationId xmlns:a16="http://schemas.microsoft.com/office/drawing/2014/main" id="{F86795BA-B44D-0FF3-1E01-5B79C32B4A44}"/>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2" name="Rounded Rectangle 4">
              <a:extLst>
                <a:ext uri="{FF2B5EF4-FFF2-40B4-BE49-F238E27FC236}">
                  <a16:creationId xmlns:a16="http://schemas.microsoft.com/office/drawing/2014/main" id="{EA60255F-B15B-B493-F865-5E6F490E810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3" name="Group 32">
            <a:extLst>
              <a:ext uri="{FF2B5EF4-FFF2-40B4-BE49-F238E27FC236}">
                <a16:creationId xmlns:a16="http://schemas.microsoft.com/office/drawing/2014/main" id="{2ACF1F64-F5D2-F8BD-719A-7EDFAA1B18C0}"/>
              </a:ext>
            </a:extLst>
          </p:cNvPr>
          <p:cNvGrpSpPr/>
          <p:nvPr/>
        </p:nvGrpSpPr>
        <p:grpSpPr>
          <a:xfrm rot="5400000">
            <a:off x="7649733" y="2328592"/>
            <a:ext cx="213569" cy="217113"/>
            <a:chOff x="2225367" y="901313"/>
            <a:chExt cx="432290" cy="505697"/>
          </a:xfrm>
        </p:grpSpPr>
        <p:sp>
          <p:nvSpPr>
            <p:cNvPr id="34" name="Right Arrow 33">
              <a:extLst>
                <a:ext uri="{FF2B5EF4-FFF2-40B4-BE49-F238E27FC236}">
                  <a16:creationId xmlns:a16="http://schemas.microsoft.com/office/drawing/2014/main" id="{77FD9B0E-2F05-E66E-C887-867BC797109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5" name="Right Arrow 6">
              <a:extLst>
                <a:ext uri="{FF2B5EF4-FFF2-40B4-BE49-F238E27FC236}">
                  <a16:creationId xmlns:a16="http://schemas.microsoft.com/office/drawing/2014/main" id="{7A36EF58-5ABA-9B68-A08C-FD95625C092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6" name="Group 35">
            <a:extLst>
              <a:ext uri="{FF2B5EF4-FFF2-40B4-BE49-F238E27FC236}">
                <a16:creationId xmlns:a16="http://schemas.microsoft.com/office/drawing/2014/main" id="{A93E58D1-F401-C9F9-145C-DF8F471AC38B}"/>
              </a:ext>
            </a:extLst>
          </p:cNvPr>
          <p:cNvGrpSpPr/>
          <p:nvPr/>
        </p:nvGrpSpPr>
        <p:grpSpPr>
          <a:xfrm>
            <a:off x="6886777" y="258808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7" name="Rounded Rectangle 36">
              <a:extLst>
                <a:ext uri="{FF2B5EF4-FFF2-40B4-BE49-F238E27FC236}">
                  <a16:creationId xmlns:a16="http://schemas.microsoft.com/office/drawing/2014/main" id="{98EB3A41-1C91-96F9-8FE1-82854F25289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8" name="Rounded Rectangle 4">
              <a:extLst>
                <a:ext uri="{FF2B5EF4-FFF2-40B4-BE49-F238E27FC236}">
                  <a16:creationId xmlns:a16="http://schemas.microsoft.com/office/drawing/2014/main" id="{F614B375-CF8B-078A-CC79-4F309E96460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39" name="Group 38">
            <a:extLst>
              <a:ext uri="{FF2B5EF4-FFF2-40B4-BE49-F238E27FC236}">
                <a16:creationId xmlns:a16="http://schemas.microsoft.com/office/drawing/2014/main" id="{31F7EA6C-40DA-65F2-3AD3-B19DC26CBE47}"/>
              </a:ext>
            </a:extLst>
          </p:cNvPr>
          <p:cNvGrpSpPr/>
          <p:nvPr/>
        </p:nvGrpSpPr>
        <p:grpSpPr>
          <a:xfrm>
            <a:off x="6886777" y="315078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0" name="Rounded Rectangle 39">
              <a:extLst>
                <a:ext uri="{FF2B5EF4-FFF2-40B4-BE49-F238E27FC236}">
                  <a16:creationId xmlns:a16="http://schemas.microsoft.com/office/drawing/2014/main" id="{7CD90075-EFE9-581F-5321-CE5B69E164A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1" name="Rounded Rectangle 4">
              <a:extLst>
                <a:ext uri="{FF2B5EF4-FFF2-40B4-BE49-F238E27FC236}">
                  <a16:creationId xmlns:a16="http://schemas.microsoft.com/office/drawing/2014/main" id="{9D72A0EF-555A-2CF9-6997-5601B9FD35A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42" name="Group 41">
            <a:extLst>
              <a:ext uri="{FF2B5EF4-FFF2-40B4-BE49-F238E27FC236}">
                <a16:creationId xmlns:a16="http://schemas.microsoft.com/office/drawing/2014/main" id="{B7622217-CEA4-DA17-5071-BD40EE05F191}"/>
              </a:ext>
            </a:extLst>
          </p:cNvPr>
          <p:cNvGrpSpPr/>
          <p:nvPr/>
        </p:nvGrpSpPr>
        <p:grpSpPr>
          <a:xfrm rot="5400000">
            <a:off x="7649732" y="2903487"/>
            <a:ext cx="213569" cy="217113"/>
            <a:chOff x="2225367" y="901313"/>
            <a:chExt cx="432290" cy="505697"/>
          </a:xfrm>
        </p:grpSpPr>
        <p:sp>
          <p:nvSpPr>
            <p:cNvPr id="43" name="Right Arrow 42">
              <a:extLst>
                <a:ext uri="{FF2B5EF4-FFF2-40B4-BE49-F238E27FC236}">
                  <a16:creationId xmlns:a16="http://schemas.microsoft.com/office/drawing/2014/main" id="{F677198F-2EF9-3D2B-DD42-89D8C75B45B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4" name="Right Arrow 6">
              <a:extLst>
                <a:ext uri="{FF2B5EF4-FFF2-40B4-BE49-F238E27FC236}">
                  <a16:creationId xmlns:a16="http://schemas.microsoft.com/office/drawing/2014/main" id="{EDCA479E-0526-D42B-F206-4D78C5AF3D8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5" name="Group 44">
            <a:extLst>
              <a:ext uri="{FF2B5EF4-FFF2-40B4-BE49-F238E27FC236}">
                <a16:creationId xmlns:a16="http://schemas.microsoft.com/office/drawing/2014/main" id="{1DFEF108-FF8C-9AF4-10DE-C95296748389}"/>
              </a:ext>
            </a:extLst>
          </p:cNvPr>
          <p:cNvGrpSpPr/>
          <p:nvPr/>
        </p:nvGrpSpPr>
        <p:grpSpPr>
          <a:xfrm rot="5400000">
            <a:off x="7649732" y="3460243"/>
            <a:ext cx="213569" cy="217113"/>
            <a:chOff x="2225367" y="901313"/>
            <a:chExt cx="432290" cy="505697"/>
          </a:xfrm>
        </p:grpSpPr>
        <p:sp>
          <p:nvSpPr>
            <p:cNvPr id="46" name="Right Arrow 45">
              <a:extLst>
                <a:ext uri="{FF2B5EF4-FFF2-40B4-BE49-F238E27FC236}">
                  <a16:creationId xmlns:a16="http://schemas.microsoft.com/office/drawing/2014/main" id="{688F7B83-8CA8-E4C1-7411-06BF17B128D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7" name="Right Arrow 6">
              <a:extLst>
                <a:ext uri="{FF2B5EF4-FFF2-40B4-BE49-F238E27FC236}">
                  <a16:creationId xmlns:a16="http://schemas.microsoft.com/office/drawing/2014/main" id="{CFAB8F66-8F87-8C95-BFC0-8C41199A00E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8" name="Group 47">
            <a:extLst>
              <a:ext uri="{FF2B5EF4-FFF2-40B4-BE49-F238E27FC236}">
                <a16:creationId xmlns:a16="http://schemas.microsoft.com/office/drawing/2014/main" id="{6A0932DA-9775-948B-789F-6FF758696968}"/>
              </a:ext>
            </a:extLst>
          </p:cNvPr>
          <p:cNvGrpSpPr/>
          <p:nvPr/>
        </p:nvGrpSpPr>
        <p:grpSpPr>
          <a:xfrm>
            <a:off x="6886777" y="3701515"/>
            <a:ext cx="1862940" cy="279265"/>
            <a:chOff x="6822" y="542430"/>
            <a:chExt cx="2039104" cy="533039"/>
          </a:xfrm>
        </p:grpSpPr>
        <p:sp>
          <p:nvSpPr>
            <p:cNvPr id="49" name="Rounded Rectangle 48">
              <a:extLst>
                <a:ext uri="{FF2B5EF4-FFF2-40B4-BE49-F238E27FC236}">
                  <a16:creationId xmlns:a16="http://schemas.microsoft.com/office/drawing/2014/main" id="{A0073C85-9C5F-3C46-673E-95E4DAC0F2B2}"/>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0" name="Rounded Rectangle 4">
              <a:extLst>
                <a:ext uri="{FF2B5EF4-FFF2-40B4-BE49-F238E27FC236}">
                  <a16:creationId xmlns:a16="http://schemas.microsoft.com/office/drawing/2014/main" id="{574B74BA-8C27-8965-786F-D60BDE26BD93}"/>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spTree>
    <p:extLst>
      <p:ext uri="{BB962C8B-B14F-4D97-AF65-F5344CB8AC3E}">
        <p14:creationId xmlns:p14="http://schemas.microsoft.com/office/powerpoint/2010/main" val="2455642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863EE-6BBF-6892-66E3-93D25BFA2C7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8318BA-41B7-5180-C90C-4FE5B2426B11}"/>
              </a:ext>
            </a:extLst>
          </p:cNvPr>
          <p:cNvPicPr>
            <a:picLocks noChangeAspect="1"/>
          </p:cNvPicPr>
          <p:nvPr/>
        </p:nvPicPr>
        <p:blipFill>
          <a:blip r:embed="rId3"/>
          <a:stretch>
            <a:fillRect/>
          </a:stretch>
        </p:blipFill>
        <p:spPr>
          <a:xfrm>
            <a:off x="0" y="924674"/>
            <a:ext cx="9144000" cy="4864232"/>
          </a:xfrm>
          <a:prstGeom prst="rect">
            <a:avLst/>
          </a:prstGeom>
        </p:spPr>
      </p:pic>
      <p:sp>
        <p:nvSpPr>
          <p:cNvPr id="7" name="Title 1">
            <a:extLst>
              <a:ext uri="{FF2B5EF4-FFF2-40B4-BE49-F238E27FC236}">
                <a16:creationId xmlns:a16="http://schemas.microsoft.com/office/drawing/2014/main" id="{EE9B2448-6E96-D42E-7B77-CA8D71D66057}"/>
              </a:ext>
            </a:extLst>
          </p:cNvPr>
          <p:cNvSpPr txBox="1">
            <a:spLocks/>
          </p:cNvSpPr>
          <p:nvPr/>
        </p:nvSpPr>
        <p:spPr>
          <a:xfrm>
            <a:off x="490451" y="142681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Install Mule JDE Connector</a:t>
            </a:r>
            <a:endParaRPr lang="en-US" sz="3200" noProof="1">
              <a:solidFill>
                <a:schemeClr val="bg1"/>
              </a:solidFill>
            </a:endParaRPr>
          </a:p>
        </p:txBody>
      </p:sp>
      <p:graphicFrame>
        <p:nvGraphicFramePr>
          <p:cNvPr id="2" name="TextBox 5">
            <a:extLst>
              <a:ext uri="{FF2B5EF4-FFF2-40B4-BE49-F238E27FC236}">
                <a16:creationId xmlns:a16="http://schemas.microsoft.com/office/drawing/2014/main" id="{CEC0C3D7-9378-CE24-4B4E-4849931156B6}"/>
              </a:ext>
            </a:extLst>
          </p:cNvPr>
          <p:cNvGraphicFramePr/>
          <p:nvPr/>
        </p:nvGraphicFramePr>
        <p:xfrm>
          <a:off x="1067363" y="2616082"/>
          <a:ext cx="7254369" cy="16258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63533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DD5DD-99F2-A357-BC9A-77EDE609D05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A499C5C-F719-2FF6-36F6-FC4237054B1D}"/>
              </a:ext>
            </a:extLst>
          </p:cNvPr>
          <p:cNvSpPr txBox="1"/>
          <p:nvPr/>
        </p:nvSpPr>
        <p:spPr>
          <a:xfrm>
            <a:off x="558140" y="1392278"/>
            <a:ext cx="8027719" cy="369332"/>
          </a:xfrm>
          <a:prstGeom prst="rect">
            <a:avLst/>
          </a:prstGeom>
          <a:noFill/>
        </p:spPr>
        <p:txBody>
          <a:bodyPr wrap="square">
            <a:spAutoFit/>
          </a:bodyPr>
          <a:lstStyle/>
          <a:p>
            <a:r>
              <a:rPr lang="en-US" b="1" dirty="0"/>
              <a:t>1 - Configure Maven Repository</a:t>
            </a:r>
          </a:p>
        </p:txBody>
      </p:sp>
      <p:sp>
        <p:nvSpPr>
          <p:cNvPr id="8" name="TextBox 7">
            <a:extLst>
              <a:ext uri="{FF2B5EF4-FFF2-40B4-BE49-F238E27FC236}">
                <a16:creationId xmlns:a16="http://schemas.microsoft.com/office/drawing/2014/main" id="{A4F1A496-4FE8-D3B1-C087-CF387826C25A}"/>
              </a:ext>
            </a:extLst>
          </p:cNvPr>
          <p:cNvSpPr txBox="1"/>
          <p:nvPr/>
        </p:nvSpPr>
        <p:spPr>
          <a:xfrm>
            <a:off x="558139" y="1916711"/>
            <a:ext cx="6953002" cy="523220"/>
          </a:xfrm>
          <a:prstGeom prst="rect">
            <a:avLst/>
          </a:prstGeom>
          <a:noFill/>
        </p:spPr>
        <p:txBody>
          <a:bodyPr wrap="square">
            <a:spAutoFit/>
          </a:bodyPr>
          <a:lstStyle/>
          <a:p>
            <a:r>
              <a:rPr lang="en-US" sz="1400" noProof="1"/>
              <a:t>After create your Mulesoft project, add the Atina repository to your pom.xml (within &lt;repositories&gt;):</a:t>
            </a:r>
          </a:p>
        </p:txBody>
      </p:sp>
      <p:sp>
        <p:nvSpPr>
          <p:cNvPr id="9" name="TextBox 8">
            <a:extLst>
              <a:ext uri="{FF2B5EF4-FFF2-40B4-BE49-F238E27FC236}">
                <a16:creationId xmlns:a16="http://schemas.microsoft.com/office/drawing/2014/main" id="{D5F58CBF-9B0C-642B-0896-44316DD7442F}"/>
              </a:ext>
            </a:extLst>
          </p:cNvPr>
          <p:cNvSpPr txBox="1"/>
          <p:nvPr/>
        </p:nvSpPr>
        <p:spPr>
          <a:xfrm>
            <a:off x="629259" y="2527704"/>
            <a:ext cx="4816501" cy="101566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sz="1200" noProof="1"/>
              <a:t>&lt;repository&gt;</a:t>
            </a:r>
          </a:p>
          <a:p>
            <a:r>
              <a:rPr lang="en-US" sz="1200" noProof="1"/>
              <a:t>     &lt;id&gt;atina-central&lt;/id&gt;</a:t>
            </a:r>
          </a:p>
          <a:p>
            <a:r>
              <a:rPr lang="en-US" sz="1200" noProof="1"/>
              <a:t>    &lt;name&gt;libs-release&lt;/name&gt;</a:t>
            </a:r>
          </a:p>
          <a:p>
            <a:r>
              <a:rPr lang="en-US" sz="1200" noProof="1"/>
              <a:t>    &lt;url&gt;https://jfrog.atina-connection.com/artifactory/libs-release&lt;/url&gt;</a:t>
            </a:r>
          </a:p>
          <a:p>
            <a:r>
              <a:rPr lang="en-US" sz="1200" noProof="1"/>
              <a:t>&lt;/repository&gt; </a:t>
            </a:r>
          </a:p>
        </p:txBody>
      </p:sp>
      <p:pic>
        <p:nvPicPr>
          <p:cNvPr id="11" name="Picture 10" descr="A screenshot of a computer&#10;&#10;AI-generated content may be incorrect.">
            <a:extLst>
              <a:ext uri="{FF2B5EF4-FFF2-40B4-BE49-F238E27FC236}">
                <a16:creationId xmlns:a16="http://schemas.microsoft.com/office/drawing/2014/main" id="{EB9C7BF1-8E83-55C3-19A3-1C5C4DF09CC3}"/>
              </a:ext>
            </a:extLst>
          </p:cNvPr>
          <p:cNvPicPr>
            <a:picLocks noChangeAspect="1"/>
          </p:cNvPicPr>
          <p:nvPr/>
        </p:nvPicPr>
        <p:blipFill>
          <a:blip r:embed="rId2"/>
          <a:stretch>
            <a:fillRect/>
          </a:stretch>
        </p:blipFill>
        <p:spPr>
          <a:xfrm>
            <a:off x="629259" y="3861978"/>
            <a:ext cx="5156859" cy="2563217"/>
          </a:xfrm>
          <a:prstGeom prst="rect">
            <a:avLst/>
          </a:prstGeom>
        </p:spPr>
        <p:style>
          <a:lnRef idx="2">
            <a:schemeClr val="accent1">
              <a:shade val="15000"/>
            </a:schemeClr>
          </a:lnRef>
          <a:fillRef idx="1">
            <a:schemeClr val="accent1"/>
          </a:fillRef>
          <a:effectRef idx="0">
            <a:schemeClr val="accent1"/>
          </a:effectRef>
          <a:fontRef idx="minor">
            <a:schemeClr val="lt1"/>
          </a:fontRef>
        </p:style>
      </p:pic>
      <p:pic>
        <p:nvPicPr>
          <p:cNvPr id="3" name="Picture 2">
            <a:extLst>
              <a:ext uri="{FF2B5EF4-FFF2-40B4-BE49-F238E27FC236}">
                <a16:creationId xmlns:a16="http://schemas.microsoft.com/office/drawing/2014/main" id="{1186CA2F-095E-624F-D85A-555C645FF852}"/>
              </a:ext>
            </a:extLst>
          </p:cNvPr>
          <p:cNvPicPr>
            <a:picLocks noChangeAspect="1"/>
          </p:cNvPicPr>
          <p:nvPr/>
        </p:nvPicPr>
        <p:blipFill>
          <a:blip r:embed="rId3"/>
          <a:stretch>
            <a:fillRect/>
          </a:stretch>
        </p:blipFill>
        <p:spPr>
          <a:xfrm>
            <a:off x="0" y="0"/>
            <a:ext cx="9144000" cy="644018"/>
          </a:xfrm>
          <a:prstGeom prst="rect">
            <a:avLst/>
          </a:prstGeom>
        </p:spPr>
      </p:pic>
      <p:sp>
        <p:nvSpPr>
          <p:cNvPr id="4" name="Title 1">
            <a:extLst>
              <a:ext uri="{FF2B5EF4-FFF2-40B4-BE49-F238E27FC236}">
                <a16:creationId xmlns:a16="http://schemas.microsoft.com/office/drawing/2014/main" id="{AFD08557-4373-2B8E-025A-9385336475DD}"/>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i="1" noProof="1">
                <a:solidFill>
                  <a:schemeClr val="bg1"/>
                </a:solidFill>
              </a:rPr>
              <a:t>STEP 1 – Install Mulesoft JDE Connector – Define Repository</a:t>
            </a:r>
          </a:p>
        </p:txBody>
      </p:sp>
    </p:spTree>
    <p:extLst>
      <p:ext uri="{BB962C8B-B14F-4D97-AF65-F5344CB8AC3E}">
        <p14:creationId xmlns:p14="http://schemas.microsoft.com/office/powerpoint/2010/main" val="375138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7D6DF-AAE2-E9C5-0FEF-1EA6030CBDE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DFD1E64-2D7F-519F-4B34-A96A34F5C5DF}"/>
              </a:ext>
            </a:extLst>
          </p:cNvPr>
          <p:cNvSpPr txBox="1"/>
          <p:nvPr/>
        </p:nvSpPr>
        <p:spPr>
          <a:xfrm>
            <a:off x="558140" y="1417638"/>
            <a:ext cx="5433059" cy="369332"/>
          </a:xfrm>
          <a:prstGeom prst="rect">
            <a:avLst/>
          </a:prstGeom>
          <a:noFill/>
        </p:spPr>
        <p:txBody>
          <a:bodyPr wrap="square">
            <a:spAutoFit/>
          </a:bodyPr>
          <a:lstStyle/>
          <a:p>
            <a:r>
              <a:rPr lang="en-US" b="1" dirty="0"/>
              <a:t>2. Declare the Connector Dependency</a:t>
            </a:r>
          </a:p>
        </p:txBody>
      </p:sp>
      <p:sp>
        <p:nvSpPr>
          <p:cNvPr id="8" name="TextBox 7">
            <a:extLst>
              <a:ext uri="{FF2B5EF4-FFF2-40B4-BE49-F238E27FC236}">
                <a16:creationId xmlns:a16="http://schemas.microsoft.com/office/drawing/2014/main" id="{41247E05-E86C-6D85-A894-6909AF4CE897}"/>
              </a:ext>
            </a:extLst>
          </p:cNvPr>
          <p:cNvSpPr txBox="1"/>
          <p:nvPr/>
        </p:nvSpPr>
        <p:spPr>
          <a:xfrm>
            <a:off x="558139" y="1824638"/>
            <a:ext cx="6953002" cy="307777"/>
          </a:xfrm>
          <a:prstGeom prst="rect">
            <a:avLst/>
          </a:prstGeom>
          <a:noFill/>
        </p:spPr>
        <p:txBody>
          <a:bodyPr wrap="square">
            <a:spAutoFit/>
          </a:bodyPr>
          <a:lstStyle/>
          <a:p>
            <a:r>
              <a:rPr lang="en-US" sz="1400" dirty="0"/>
              <a:t>Inside the &lt;dependencies&gt; section of your </a:t>
            </a:r>
            <a:r>
              <a:rPr lang="en-US" sz="1400" dirty="0" err="1"/>
              <a:t>pom.xml</a:t>
            </a:r>
            <a:r>
              <a:rPr lang="en-US" sz="1400" dirty="0"/>
              <a:t>, add:</a:t>
            </a:r>
          </a:p>
        </p:txBody>
      </p:sp>
      <p:sp>
        <p:nvSpPr>
          <p:cNvPr id="9" name="TextBox 8">
            <a:extLst>
              <a:ext uri="{FF2B5EF4-FFF2-40B4-BE49-F238E27FC236}">
                <a16:creationId xmlns:a16="http://schemas.microsoft.com/office/drawing/2014/main" id="{12899280-2028-3A50-87E8-A2F4B9A1D262}"/>
              </a:ext>
            </a:extLst>
          </p:cNvPr>
          <p:cNvSpPr txBox="1"/>
          <p:nvPr/>
        </p:nvSpPr>
        <p:spPr>
          <a:xfrm>
            <a:off x="558139" y="2237472"/>
            <a:ext cx="4105301" cy="1200329"/>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buNone/>
            </a:pPr>
            <a:r>
              <a:rPr lang="en-US" sz="1200" noProof="1"/>
              <a:t>&lt;dependency&gt;</a:t>
            </a:r>
          </a:p>
          <a:p>
            <a:pPr>
              <a:buNone/>
            </a:pPr>
            <a:r>
              <a:rPr lang="en-US" sz="1200" noProof="1"/>
              <a:t>      &lt;groupId&gt;com.atina-connection&lt;/groupId&gt;</a:t>
            </a:r>
          </a:p>
          <a:p>
            <a:pPr>
              <a:buNone/>
            </a:pPr>
            <a:r>
              <a:rPr lang="en-US" sz="1200" noProof="1"/>
              <a:t>      &lt;artifactId&gt;mule-jde-atina-connector&lt;/artifactId&gt;</a:t>
            </a:r>
          </a:p>
          <a:p>
            <a:pPr>
              <a:buNone/>
            </a:pPr>
            <a:r>
              <a:rPr lang="en-US" sz="1200" noProof="1"/>
              <a:t>      &lt;version&gt;3.0.0&lt;/version&gt;</a:t>
            </a:r>
          </a:p>
          <a:p>
            <a:pPr>
              <a:buNone/>
            </a:pPr>
            <a:r>
              <a:rPr lang="en-US" sz="1200" noProof="1"/>
              <a:t>      &lt;classifier&gt;mule-plugin&lt;/classifier&gt;</a:t>
            </a:r>
          </a:p>
          <a:p>
            <a:pPr>
              <a:buNone/>
            </a:pPr>
            <a:r>
              <a:rPr lang="en-US" sz="1200" noProof="1"/>
              <a:t>&lt;/dependency&gt;</a:t>
            </a:r>
          </a:p>
        </p:txBody>
      </p:sp>
      <p:pic>
        <p:nvPicPr>
          <p:cNvPr id="7" name="Picture 6" descr="A screenshot of a computer&#10;&#10;AI-generated content may be incorrect.">
            <a:extLst>
              <a:ext uri="{FF2B5EF4-FFF2-40B4-BE49-F238E27FC236}">
                <a16:creationId xmlns:a16="http://schemas.microsoft.com/office/drawing/2014/main" id="{4FDEABE1-5E09-88D2-2908-B345A14924B2}"/>
              </a:ext>
            </a:extLst>
          </p:cNvPr>
          <p:cNvPicPr>
            <a:picLocks noChangeAspect="1"/>
          </p:cNvPicPr>
          <p:nvPr/>
        </p:nvPicPr>
        <p:blipFill>
          <a:blip r:embed="rId2"/>
          <a:stretch>
            <a:fillRect/>
          </a:stretch>
        </p:blipFill>
        <p:spPr>
          <a:xfrm>
            <a:off x="558139" y="3592865"/>
            <a:ext cx="5433060" cy="2770323"/>
          </a:xfrm>
          <a:prstGeom prst="rect">
            <a:avLst/>
          </a:prstGeom>
          <a:ln/>
        </p:spPr>
        <p:style>
          <a:lnRef idx="2">
            <a:schemeClr val="accent1">
              <a:shade val="15000"/>
            </a:schemeClr>
          </a:lnRef>
          <a:fillRef idx="1">
            <a:schemeClr val="accent1"/>
          </a:fillRef>
          <a:effectRef idx="0">
            <a:schemeClr val="accent1"/>
          </a:effectRef>
          <a:fontRef idx="minor">
            <a:schemeClr val="lt1"/>
          </a:fontRef>
        </p:style>
      </p:pic>
      <p:pic>
        <p:nvPicPr>
          <p:cNvPr id="5" name="Picture 4">
            <a:extLst>
              <a:ext uri="{FF2B5EF4-FFF2-40B4-BE49-F238E27FC236}">
                <a16:creationId xmlns:a16="http://schemas.microsoft.com/office/drawing/2014/main" id="{ECB642E7-9281-2244-F260-FD75A5B041B3}"/>
              </a:ext>
            </a:extLst>
          </p:cNvPr>
          <p:cNvPicPr>
            <a:picLocks noChangeAspect="1"/>
          </p:cNvPicPr>
          <p:nvPr/>
        </p:nvPicPr>
        <p:blipFill>
          <a:blip r:embed="rId3"/>
          <a:stretch>
            <a:fillRect/>
          </a:stretch>
        </p:blipFill>
        <p:spPr>
          <a:xfrm>
            <a:off x="0" y="0"/>
            <a:ext cx="9144000" cy="644018"/>
          </a:xfrm>
          <a:prstGeom prst="rect">
            <a:avLst/>
          </a:prstGeom>
        </p:spPr>
      </p:pic>
      <p:sp>
        <p:nvSpPr>
          <p:cNvPr id="10" name="Title 1">
            <a:extLst>
              <a:ext uri="{FF2B5EF4-FFF2-40B4-BE49-F238E27FC236}">
                <a16:creationId xmlns:a16="http://schemas.microsoft.com/office/drawing/2014/main" id="{FCF63A15-5B30-14F3-A4E5-A19891CF60B1}"/>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000" i="1" noProof="1">
                <a:solidFill>
                  <a:schemeClr val="bg1"/>
                </a:solidFill>
              </a:rPr>
              <a:t>STEP 2 – Install Mulesoft JDE Connector – Define Dependency</a:t>
            </a:r>
          </a:p>
        </p:txBody>
      </p:sp>
    </p:spTree>
    <p:extLst>
      <p:ext uri="{BB962C8B-B14F-4D97-AF65-F5344CB8AC3E}">
        <p14:creationId xmlns:p14="http://schemas.microsoft.com/office/powerpoint/2010/main" val="258893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6FE9D-CDD7-E94B-807B-7AD8A350969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294ED64-BA02-D777-C617-CA0B6D31E6FD}"/>
              </a:ext>
            </a:extLst>
          </p:cNvPr>
          <p:cNvSpPr txBox="1"/>
          <p:nvPr/>
        </p:nvSpPr>
        <p:spPr>
          <a:xfrm>
            <a:off x="558140" y="1417638"/>
            <a:ext cx="8027719" cy="369332"/>
          </a:xfrm>
          <a:prstGeom prst="rect">
            <a:avLst/>
          </a:prstGeom>
          <a:noFill/>
        </p:spPr>
        <p:txBody>
          <a:bodyPr wrap="square">
            <a:spAutoFit/>
          </a:bodyPr>
          <a:lstStyle/>
          <a:p>
            <a:r>
              <a:rPr lang="en-US" b="1" dirty="0"/>
              <a:t>3. Define the Global Connector Configuration</a:t>
            </a:r>
          </a:p>
        </p:txBody>
      </p:sp>
      <p:sp>
        <p:nvSpPr>
          <p:cNvPr id="8" name="TextBox 7">
            <a:extLst>
              <a:ext uri="{FF2B5EF4-FFF2-40B4-BE49-F238E27FC236}">
                <a16:creationId xmlns:a16="http://schemas.microsoft.com/office/drawing/2014/main" id="{A87B85F0-F2BF-BB50-EF1E-BD517B7A6272}"/>
              </a:ext>
            </a:extLst>
          </p:cNvPr>
          <p:cNvSpPr txBox="1"/>
          <p:nvPr/>
        </p:nvSpPr>
        <p:spPr>
          <a:xfrm>
            <a:off x="558140" y="1949200"/>
            <a:ext cx="7742712" cy="276999"/>
          </a:xfrm>
          <a:prstGeom prst="rect">
            <a:avLst/>
          </a:prstGeom>
          <a:noFill/>
        </p:spPr>
        <p:txBody>
          <a:bodyPr wrap="square">
            <a:spAutoFit/>
          </a:bodyPr>
          <a:lstStyle/>
          <a:p>
            <a:r>
              <a:rPr lang="en-US" sz="1200" noProof="1"/>
              <a:t>In your Mule project, create or open a flow file (e.g. jde-demo.xml), then:</a:t>
            </a:r>
          </a:p>
        </p:txBody>
      </p:sp>
      <p:pic>
        <p:nvPicPr>
          <p:cNvPr id="11" name="Picture 10" descr="A screenshot of a computer&#10;&#10;AI-generated content may be incorrect.">
            <a:extLst>
              <a:ext uri="{FF2B5EF4-FFF2-40B4-BE49-F238E27FC236}">
                <a16:creationId xmlns:a16="http://schemas.microsoft.com/office/drawing/2014/main" id="{5CAFB3D8-D172-8A83-37FC-88034F4CDCAE}"/>
              </a:ext>
            </a:extLst>
          </p:cNvPr>
          <p:cNvPicPr>
            <a:picLocks noChangeAspect="1"/>
          </p:cNvPicPr>
          <p:nvPr/>
        </p:nvPicPr>
        <p:blipFill>
          <a:blip r:embed="rId2"/>
          <a:stretch>
            <a:fillRect/>
          </a:stretch>
        </p:blipFill>
        <p:spPr>
          <a:xfrm>
            <a:off x="690378" y="2560589"/>
            <a:ext cx="3780340" cy="2718642"/>
          </a:xfrm>
          <a:prstGeom prst="rect">
            <a:avLst/>
          </a:prstGeom>
          <a:no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pic>
      <p:pic>
        <p:nvPicPr>
          <p:cNvPr id="5" name="Picture 4">
            <a:extLst>
              <a:ext uri="{FF2B5EF4-FFF2-40B4-BE49-F238E27FC236}">
                <a16:creationId xmlns:a16="http://schemas.microsoft.com/office/drawing/2014/main" id="{DD5D5602-0B82-BC2F-1A45-824853DF3E77}"/>
              </a:ext>
            </a:extLst>
          </p:cNvPr>
          <p:cNvPicPr>
            <a:picLocks noChangeAspect="1"/>
          </p:cNvPicPr>
          <p:nvPr/>
        </p:nvPicPr>
        <p:blipFill>
          <a:blip r:embed="rId3"/>
          <a:stretch>
            <a:fillRect/>
          </a:stretch>
        </p:blipFill>
        <p:spPr>
          <a:xfrm>
            <a:off x="0" y="0"/>
            <a:ext cx="9144000" cy="644018"/>
          </a:xfrm>
          <a:prstGeom prst="rect">
            <a:avLst/>
          </a:prstGeom>
        </p:spPr>
      </p:pic>
      <p:sp>
        <p:nvSpPr>
          <p:cNvPr id="7" name="Title 1">
            <a:extLst>
              <a:ext uri="{FF2B5EF4-FFF2-40B4-BE49-F238E27FC236}">
                <a16:creationId xmlns:a16="http://schemas.microsoft.com/office/drawing/2014/main" id="{CCB82E09-263D-A017-9085-D9DADCDC6F1B}"/>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i="1" noProof="1">
                <a:solidFill>
                  <a:schemeClr val="bg1"/>
                </a:solidFill>
              </a:rPr>
              <a:t>STEP 3 – Install Mulesoft JDE Connector – Define Global Configuration</a:t>
            </a:r>
          </a:p>
        </p:txBody>
      </p:sp>
      <p:pic>
        <p:nvPicPr>
          <p:cNvPr id="9" name="Picture 8">
            <a:extLst>
              <a:ext uri="{FF2B5EF4-FFF2-40B4-BE49-F238E27FC236}">
                <a16:creationId xmlns:a16="http://schemas.microsoft.com/office/drawing/2014/main" id="{AC2DEF0F-ADFB-8AD9-337C-67C9A22AF64F}"/>
              </a:ext>
            </a:extLst>
          </p:cNvPr>
          <p:cNvPicPr>
            <a:picLocks noChangeAspect="1"/>
          </p:cNvPicPr>
          <p:nvPr/>
        </p:nvPicPr>
        <p:blipFill>
          <a:blip r:embed="rId4"/>
          <a:stretch>
            <a:fillRect/>
          </a:stretch>
        </p:blipFill>
        <p:spPr>
          <a:xfrm>
            <a:off x="5203668" y="2560589"/>
            <a:ext cx="2697134" cy="2718642"/>
          </a:xfrm>
          <a:prstGeom prst="rect">
            <a:avLst/>
          </a:prstGeom>
          <a:effectLst>
            <a:outerShdw blurRad="50800" dist="38100" dir="5400000" algn="t" rotWithShape="0">
              <a:prstClr val="black">
                <a:alpha val="40000"/>
              </a:prstClr>
            </a:outerShdw>
          </a:effectLst>
        </p:spPr>
      </p:pic>
      <p:grpSp>
        <p:nvGrpSpPr>
          <p:cNvPr id="2" name="Group 1">
            <a:extLst>
              <a:ext uri="{FF2B5EF4-FFF2-40B4-BE49-F238E27FC236}">
                <a16:creationId xmlns:a16="http://schemas.microsoft.com/office/drawing/2014/main" id="{BD39B83A-F6C8-D3D6-BA63-1B8B2FACD908}"/>
              </a:ext>
            </a:extLst>
          </p:cNvPr>
          <p:cNvGrpSpPr/>
          <p:nvPr/>
        </p:nvGrpSpPr>
        <p:grpSpPr>
          <a:xfrm>
            <a:off x="4621048" y="3667061"/>
            <a:ext cx="432290" cy="505697"/>
            <a:chOff x="2225367" y="901313"/>
            <a:chExt cx="432290" cy="505697"/>
          </a:xfrm>
        </p:grpSpPr>
        <p:sp>
          <p:nvSpPr>
            <p:cNvPr id="3" name="Right Arrow 2">
              <a:extLst>
                <a:ext uri="{FF2B5EF4-FFF2-40B4-BE49-F238E27FC236}">
                  <a16:creationId xmlns:a16="http://schemas.microsoft.com/office/drawing/2014/main" id="{D3E8277B-94CB-C52D-DAFA-32DA68626CE6}"/>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 name="Right Arrow 4">
              <a:extLst>
                <a:ext uri="{FF2B5EF4-FFF2-40B4-BE49-F238E27FC236}">
                  <a16:creationId xmlns:a16="http://schemas.microsoft.com/office/drawing/2014/main" id="{9FD1D8D2-5CE8-C9C1-3382-4399DBE24DF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sp>
        <p:nvSpPr>
          <p:cNvPr id="10" name="Rectangle 9">
            <a:extLst>
              <a:ext uri="{FF2B5EF4-FFF2-40B4-BE49-F238E27FC236}">
                <a16:creationId xmlns:a16="http://schemas.microsoft.com/office/drawing/2014/main" id="{FABCD2A5-A39D-30D3-0F21-A377481BDB2E}"/>
              </a:ext>
            </a:extLst>
          </p:cNvPr>
          <p:cNvSpPr/>
          <p:nvPr/>
        </p:nvSpPr>
        <p:spPr>
          <a:xfrm>
            <a:off x="6379698" y="4480560"/>
            <a:ext cx="119575" cy="6016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R"/>
          </a:p>
        </p:txBody>
      </p:sp>
    </p:spTree>
    <p:extLst>
      <p:ext uri="{BB962C8B-B14F-4D97-AF65-F5344CB8AC3E}">
        <p14:creationId xmlns:p14="http://schemas.microsoft.com/office/powerpoint/2010/main" val="3310486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8229</TotalTime>
  <Words>2659</Words>
  <Application>Microsoft Macintosh PowerPoint</Application>
  <PresentationFormat>On-screen Show (4:3)</PresentationFormat>
  <Paragraphs>372</Paragraphs>
  <Slides>30</Slides>
  <Notes>13</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Arial</vt:lpstr>
      <vt:lpstr>Calibri</vt:lpstr>
      <vt:lpstr>Consolas</vt:lpstr>
      <vt:lpstr>Office Theme</vt:lpstr>
      <vt:lpstr>Quick Start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Quick Start – Understanding the Setup</vt:lpstr>
      <vt:lpstr>Quick Start – Understanding the Setup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Francisco Javier Godino</cp:lastModifiedBy>
  <cp:revision>43</cp:revision>
  <dcterms:created xsi:type="dcterms:W3CDTF">2013-01-27T09:14:16Z</dcterms:created>
  <dcterms:modified xsi:type="dcterms:W3CDTF">2025-08-20T15:02:09Z</dcterms:modified>
  <cp:category/>
</cp:coreProperties>
</file>